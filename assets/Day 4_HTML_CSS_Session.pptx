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7" r:id="rId28"/>
    <p:sldId id="282" r:id="rId29"/>
    <p:sldId id="283" r:id="rId30"/>
    <p:sldId id="284" r:id="rId31"/>
    <p:sldId id="285" r:id="rId32"/>
    <p:sldId id="286"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66"/>
    <p:restoredTop sz="94610"/>
  </p:normalViewPr>
  <p:slideViewPr>
    <p:cSldViewPr snapToGrid="0" snapToObjects="1">
      <p:cViewPr varScale="1">
        <p:scale>
          <a:sx n="188" d="100"/>
          <a:sy n="188" d="100"/>
        </p:scale>
        <p:origin x="304"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7008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Set expectations in one breath: by the end of today, nobody in this room will look at a web page the same way — you'll be able to open any site and read its structure, and you'll have built and styled your own page from scratch with a partner. This is Day 1 of two. Today is the foundation: the language of the web, done by hand. Tomorrow (Day 2) we keep all of it and learn to build faster by directing Claude — but that only works if you can read what comes back, which is what today gives you. No prior coding needed. The room is set up in pairs on purpose: you'll learn twice as fast explaining things to the person next to you.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shape of the day so people can pace themselves. The key promise: this is not eight hours of slides. Each concept block is short and immediately followed by hands-on time with their neighbor. Point out the HANDS-ON tags — those are the blocks where laptops are open and you're building. Mention logistics: mid-morning break ~10:30, lunch ~12, mid-afternoon break ~2:45, done by 5. Full timing is in the facilitator guide; don't read clock times off the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day in their actual work before any code appears. Every card is a real newsroom friction: the data desk that waits on one interactives person, the big story that runs in the same template as a weather brief, the reporter who scrapes but can't read the page they're scraping, and the constant miscommunication with the web team. Learning to read and write a little HTML/CSS fixes all four. The bar is not 'developer' — it's 'dangerous enough to ship the small thing and speak the language.'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real minute here — the method matters as much as the material. Have everyone physically pair up now so it's settled before the first exercise. Sell 'predict then run': the prediction is where the learning happens, whether they're right or wrong. Sell 'break things on purpose': beginners are terrified of breaking the computer; give them explicit permission, because productive breaking is the single best way to learn what a piece of code is holding up. And 'ask your partner first' keeps the room moving and turns every learner into a teacher.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word 'code' immediately — for a room of journalists, the reframe that lands is language. They are professional communicators; they already know that precise wording changes meaning. Code is just an extremely literal language with an audience of one: the machine. Keep it warm and low-stakes. Nobody needs math; they need to give clear instructions, which is literally their job.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that prevents 90% of beginner frustration. The computer is not being difficult and it is not clever — it does exactly what you wrote, not what you wanted. Use the coloring gag (it's in the source deck): you asked to be colored 'nicely' and got purple polka dots, because 'nicely' means nothing to a machine. The takeaway for the whole day: when something looks wrong, don't assume the computer misunderstood — assume you told it something you didn't mean, and go read what you actually wrote.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house-and-body metaphor: HTML is the frame and skeleton, CSS is the paint and clothes, JavaScript is the muscles that move. A reporter can accomplish an enormous amount with just the first two — a styled story page, a quote card, a simple data table — none of which needs JavaScript. Set expectations clearly: we go deep on HTML and CSS today; JavaScript we'll only touch. If you ask 'what languages have you heard of?' this is the moment — most will name Python, JavaScript, maybe HTML; use their answers to place the three web languages.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hook that makes the whole day click: the web is not sealed — every page is readable HTML, and the browser ships a tool to read it. Keep it to 10 minutes and keep it playful. The 'retype the headline' trick is pure delight for beginners (reassure them it only changes their own screen, not the real site, and refreshes away). By the end they've already seen real tags in the wild — h1, p, a, img — before you've formally taught a single one. Walk the room; the common snag is people right-clicking empty space instead of directly on the text.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concrete and analog. The source deck draws it as a request going out ('I'd like to go to ProPublica') and an answer coming back (an address, then the files). You don't need DNS jargon — the story is: you ask by name, the web figures out where that name lives, a server hundreds of miles away hands back the files, and your own browser draws them. The punchline that matters for the rest of the day is step 4: your browser is what turns code into a page. That's why 'view source' works and why a page is just files.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keystone of the morning. Once a reporter internalizes 'a website is just files, and the browser draws them,' three things stop being mysterious: why you can inspect any page (the code is on your computer), why building one is approachable (you're just writing files), and why hosting is simple (you're just putting files where a browser can find them — which is exactly how Day 2 ends). Say it plainly and repeat it: the browser is the artist; HTML and CSS are the instructions you hand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the core job of HTML: meaning, not looks. A browser needs to be told what each chunk of content is — this is a top-level headline, this is body text, this is an image. That labeling is what HTML does. Show the raw, unstyled version and note that it looks plain on purpose; styling is CSS's job, which is this afternoon. The mental image to leave them with is 'skeleton' — structural, essential, and not yet dressed.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anatomy slowly — this is the atom of HTML and everything else is repetition of it. Opening tag, content, closing tag. The two things beginners trip on: (1) the tag name is swappable and meaningful — &lt;h1&gt; vs &lt;p&gt; vs &lt;li&gt; — and (2) the closing tag needs the slash and is easy to forget. Preview the productive-breaking moment: in Workshop 1 they'll delete a &lt;/h1&gt; and see the page below it go haywire, which teaches why closing tags exist better than any explanation.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them on scope: HTML has dozens of tags, but a working page needs only a handful, and here they are. Don't drill definitions — they'll learn these by using them in Workshop 1 in about five minutes. Note the two special cases coming: &lt;a&gt; and &lt;img&gt; both need attributes (the link needs a destination, the image needs a file), which is the very next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Attributes are just extra info bolted onto a tag. Two carry almost all the weight for reporters: src (which image) and href (where a link goes). Point out the mechanics — attribute, equals sign, value in quotes — and the one surprise: &lt;img&gt; has no closing tag. Beginners assume every tag comes in a pair; correct that gently here so it doesn't bite them in the workshop. Don't over-teach; they'll cement this by typing an image and a link in a few minutes.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and slowly, and don't move on until every screen shows the two-window setup — editor on the left, browser on the right. This is the single biggest source of lost time for beginners, so get it solid before Workshop 1. Emphasize the save-then-refresh loop: nothing changes in the browser until you save the file and refresh the tab. Circulate with the co-facilitator; fix the stragglers now, not during the exercise.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big build — protect the full 45 minutes. Partners share one screen and swap 'driver' halfway (set a timer and call the swap). The learning targets: they type real tags, they hit the save-refresh loop repeatedly, and they do the productive-breaking step (deleting a &lt;/p&gt;) so they feel why closing tags matter. Roles for facilitators: one keeps the room paced and calls the driver-swap and time checks; the other floats and unblocks. Most common issues: file saved with a .txt extension, image src typo, forgetting to save before refresh. Have a finished example page ready to show at the end so every pair sees a 'done' target.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don't tell: the two panels have identical HTML — same headline, same paragraph — and only CSS differs. That drives home the separation of concerns: HTML is content and meaning, CSS is presentation. The reporter payoff: you can restyle a whole page's look without touching a single word of the story. This is also the target for Workshop 2 — they'll take their plain page from Workshop 1 and give it the 'with CSS' treatment.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insight that makes CSS click, and it's straight from the source deck ('they're all HTML tags!'). Beginners think CSS is a separate alien vocabulary; it isn't. The selector — the thing you're styling — is just the HTML tag name with the brackets stripped off. body, h1, p, img. Say it out loud: if you learned your tags this morning, you already know your selectors. Everything after the selector is just 'and here's how I want it to look,' which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CSS rule you will ever write has this shape: pick a selector, open a brace, then list property: value; pairs. Read the example aloud as an English sentence — 'for every paragraph, set text alignment to center and color to white.' Once they hear it as a sentence, the punctuation (colons, semicolons, braces) is just grammar. Reassure them that the semicolon-at-the-end and matching braces are the two things they'll forget at first, and that's fine — the browser is forgiving and they'll build the habit in the workshop.</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move as the HTML vocabulary slide: CSS has hundreds of properties, but a good-looking page needs only a handful, and here they are. Don't drill; they'll learn these by using them. Flag the two things beginners ask about immediately: colors can be plain English names or hex codes (mention #RRGGBB briefly and that Google 'hex color picker' is their friend), and margin vs padding (space outside the box vs inside it) — the box metaphor is enough for today.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fiddly bit of the afternoon is connecting the two files, so do it live and slowly. Two files now: practice.html and style.css, in the same folder. The link line goes in the HTML and points at the stylesheet by filename. The classic failure is the filename not matching exactly (style.css vs styles.css) or the link line being outside where it belongs — walk the room and check. Once the background color changes on refresh, they know the wiring works and the rest is just adding rules.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event of the afternoon — protect the full ~55 minutes and keep partners swapping the driver. The rhythm to enforce is predict-then-refresh: before each save, the pair says aloud what they expect to change. This is where CSS stops being magic. Targets: they write real selector { property: value; } rules, they connect the two files successfully, and they use color, text-align, font-size, margin, and border at least once each. Facilitators split the same way — one paces and calls swaps/time, one floats. Top snags: filename mismatch on the link line, missing semicolons/braces (show them the browser just ignores a broken rule rather than crashing), and hex codes typed without the #. Have the finished quote-card example on screen as the aspirational target.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day back to the job. These three are deliberately at the foundations level — each is achievable with only today's HTML and CSS, no JavaScript, no hosting yet. They also foreshadow Day 2's bigger versions (searchable data explainers, full investigation microsites, secure-contact pages). One caution worth planting for the 'reach me' page: today it's a presentation exercise — real source contact must run through channels your security team controls, never a raw form. Keep that light here; Day 2 goes deeper.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and the assessment rolled into one — the full ~55 minutes, mostly hands-off for you. Let pairs choose their page so they're invested. The final steps (swap with another pair, give one plus and one delta) are the most valuable part: presenting and critiquing cements the learning and gets the room talking. Save the last ~10 minutes for two or three volunteer pairs to show their build to everyone — public wins build confidence and give you a natural high note to end on. If a pair finishes early, push the stretch goal or have them start a second page.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progress: this morning many of them had never written a tag, and now they can read, structure, and style a page. Name it as a real skill. Then bridge to Day 2 honestly: tomorrow we go faster by directing Claude to draft pages — but the whole reason that's safe and useful is that today made them able to read what comes back. Today is the foundation that makes tomorrow trustworthy rather than a black box.</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earned confidence. The three-part mantra — structure with HTML, style with CSS, ship the file — is the whole day in one line and sets up Day 2's 'ship it' theme. Thank their partners specifically; the pairing carried the day. Tell them to keep practice.html and bring it tomorrow. Then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5.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4.png"/><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1097280"/>
            <a:ext cx="8229600" cy="320040"/>
          </a:xfrm>
          <a:prstGeom prst="rect">
            <a:avLst/>
          </a:prstGeom>
          <a:noFill/>
          <a:ln/>
        </p:spPr>
        <p:txBody>
          <a:bodyPr wrap="square" lIns="0" tIns="0" rIns="0" bIns="0" rtlCol="0" anchor="ctr"/>
          <a:lstStyle/>
          <a:p>
            <a:pPr marL="0" indent="0">
              <a:buNone/>
            </a:pPr>
            <a:r>
              <a:rPr lang="en-US" sz="1400" b="1" kern="0" spc="400" dirty="0">
                <a:solidFill>
                  <a:srgbClr val="E0A020"/>
                </a:solidFill>
                <a:latin typeface="Calibri" pitchFamily="34" charset="0"/>
                <a:ea typeface="Calibri" pitchFamily="34" charset="-122"/>
                <a:cs typeface="Calibri" pitchFamily="34" charset="-120"/>
              </a:rPr>
              <a:t>DAY 4  ·  FOUNDATIONS  ·  FULL-DAY WORKSHOP</a:t>
            </a:r>
            <a:endParaRPr lang="en-US" sz="1400" dirty="0"/>
          </a:p>
        </p:txBody>
      </p:sp>
      <p:sp>
        <p:nvSpPr>
          <p:cNvPr id="3" name="Text 1"/>
          <p:cNvSpPr/>
          <p:nvPr/>
        </p:nvSpPr>
        <p:spPr>
          <a:xfrm>
            <a:off x="502920" y="1499616"/>
            <a:ext cx="8046720" cy="1737360"/>
          </a:xfrm>
          <a:prstGeom prst="rect">
            <a:avLst/>
          </a:prstGeom>
          <a:noFill/>
          <a:ln/>
        </p:spPr>
        <p:txBody>
          <a:bodyPr wrap="square" lIns="0" tIns="0" rIns="0" bIns="0" rtlCol="0" anchor="ctr"/>
          <a:lstStyle/>
          <a:p>
            <a:pPr marL="0" indent="0">
              <a:lnSpc>
                <a:spcPct val="100000"/>
              </a:lnSpc>
              <a:buNone/>
            </a:pPr>
            <a:r>
              <a:rPr lang="en-US" sz="4400" b="1" dirty="0">
                <a:solidFill>
                  <a:srgbClr val="FFFFFF"/>
                </a:solidFill>
                <a:latin typeface="Bookman Old Style" pitchFamily="34" charset="0"/>
                <a:ea typeface="Bookman Old Style" pitchFamily="34" charset="-122"/>
                <a:cs typeface="Bookman Old Style" pitchFamily="34" charset="-120"/>
              </a:rPr>
              <a:t>The Web, HTML &amp; CSS</a:t>
            </a:r>
            <a:endParaRPr lang="en-US" sz="4400" dirty="0"/>
          </a:p>
          <a:p>
            <a:pPr marL="0" indent="0">
              <a:lnSpc>
                <a:spcPct val="100000"/>
              </a:lnSpc>
              <a:buNone/>
            </a:pPr>
            <a:r>
              <a:rPr lang="en-US" sz="4400" b="1" dirty="0">
                <a:solidFill>
                  <a:srgbClr val="FFFFFF"/>
                </a:solidFill>
                <a:latin typeface="Bookman Old Style" pitchFamily="34" charset="0"/>
                <a:ea typeface="Bookman Old Style" pitchFamily="34" charset="-122"/>
                <a:cs typeface="Bookman Old Style" pitchFamily="34" charset="-120"/>
              </a:rPr>
              <a:t>for the Newsroom</a:t>
            </a:r>
            <a:endParaRPr lang="en-US" sz="4400" dirty="0"/>
          </a:p>
        </p:txBody>
      </p:sp>
      <p:sp>
        <p:nvSpPr>
          <p:cNvPr id="4" name="Text 2"/>
          <p:cNvSpPr/>
          <p:nvPr/>
        </p:nvSpPr>
        <p:spPr>
          <a:xfrm>
            <a:off x="502920" y="3291840"/>
            <a:ext cx="7955280" cy="457200"/>
          </a:xfrm>
          <a:prstGeom prst="rect">
            <a:avLst/>
          </a:prstGeom>
          <a:noFill/>
          <a:ln/>
        </p:spPr>
        <p:txBody>
          <a:bodyPr wrap="square" lIns="0" tIns="0" rIns="0" bIns="0" rtlCol="0" anchor="ctr"/>
          <a:lstStyle/>
          <a:p>
            <a:pPr marL="0" indent="0">
              <a:buNone/>
            </a:pPr>
            <a:r>
              <a:rPr lang="en-US" sz="1650" i="1" dirty="0">
                <a:solidFill>
                  <a:srgbClr val="AAB0BB"/>
                </a:solidFill>
                <a:latin typeface="Calibri" pitchFamily="34" charset="0"/>
                <a:ea typeface="Calibri" pitchFamily="34" charset="-122"/>
                <a:cs typeface="Calibri" pitchFamily="34" charset="-120"/>
              </a:rPr>
              <a:t>Read any page, structure it with HTML, style it with CSS — and put it to work on a story.</a:t>
            </a:r>
            <a:endParaRPr lang="en-US" sz="1650" dirty="0"/>
          </a:p>
        </p:txBody>
      </p:sp>
      <p:sp>
        <p:nvSpPr>
          <p:cNvPr id="5" name="Shape 3"/>
          <p:cNvSpPr/>
          <p:nvPr/>
        </p:nvSpPr>
        <p:spPr>
          <a:xfrm>
            <a:off x="502920" y="4114800"/>
            <a:ext cx="457200" cy="45720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621792" y="4233672"/>
            <a:ext cx="219456" cy="219456"/>
          </a:xfrm>
          <a:prstGeom prst="rect">
            <a:avLst/>
          </a:prstGeom>
        </p:spPr>
      </p:pic>
      <p:sp>
        <p:nvSpPr>
          <p:cNvPr id="7" name="Text 4"/>
          <p:cNvSpPr/>
          <p:nvPr/>
        </p:nvSpPr>
        <p:spPr>
          <a:xfrm>
            <a:off x="1106424" y="4142232"/>
            <a:ext cx="758952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 hands-on coding day for journalists — half lecture, half building with a partner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HOW TODAY WORKS</a:t>
            </a:r>
            <a:endParaRPr lang="en-US" sz="1250" dirty="0"/>
          </a:p>
        </p:txBody>
      </p:sp>
      <p:sp>
        <p:nvSpPr>
          <p:cNvPr id="3" name="Text 1"/>
          <p:cNvSpPr/>
          <p:nvPr/>
        </p:nvSpPr>
        <p:spPr>
          <a:xfrm>
            <a:off x="502920" y="617220"/>
            <a:ext cx="8138160" cy="909828"/>
          </a:xfrm>
          <a:prstGeom prst="rect">
            <a:avLst/>
          </a:prstGeom>
          <a:noFill/>
          <a:ln/>
        </p:spPr>
        <p:txBody>
          <a:bodyPr wrap="square" lIns="0" tIns="0" rIns="0" bIns="0" rtlCol="0" anchor="ctr"/>
          <a:lstStyle/>
          <a:p>
            <a:r>
              <a:rPr lang="en-US" sz="3600" b="1" dirty="0">
                <a:solidFill>
                  <a:schemeClr val="tx1">
                    <a:lumMod val="85000"/>
                    <a:lumOff val="15000"/>
                  </a:schemeClr>
                </a:solidFill>
                <a:latin typeface="Bookman Old Style" pitchFamily="34" charset="0"/>
                <a:ea typeface="Bookman Old Style" pitchFamily="34" charset="-122"/>
                <a:cs typeface="Bookman Old Style" pitchFamily="34" charset="-120"/>
              </a:rPr>
              <a:t>The Web, HTML &amp; CSS</a:t>
            </a:r>
            <a:endParaRPr lang="en-US" sz="3600" dirty="0">
              <a:solidFill>
                <a:schemeClr val="tx1">
                  <a:lumMod val="85000"/>
                  <a:lumOff val="15000"/>
                </a:schemeClr>
              </a:solidFill>
            </a:endParaRPr>
          </a:p>
          <a:p>
            <a:r>
              <a:rPr lang="en-US" sz="3600" b="1" dirty="0">
                <a:solidFill>
                  <a:schemeClr val="tx1">
                    <a:lumMod val="85000"/>
                    <a:lumOff val="15000"/>
                  </a:schemeClr>
                </a:solidFill>
                <a:latin typeface="Bookman Old Style" pitchFamily="34" charset="0"/>
                <a:ea typeface="Bookman Old Style" pitchFamily="34" charset="-122"/>
                <a:cs typeface="Bookman Old Style" pitchFamily="34" charset="-120"/>
              </a:rPr>
              <a:t>for the Newsroom</a:t>
            </a:r>
            <a:endParaRPr lang="en-US" sz="3600" dirty="0">
              <a:solidFill>
                <a:schemeClr val="tx1">
                  <a:lumMod val="85000"/>
                  <a:lumOff val="15000"/>
                </a:schemeClr>
              </a:solidFill>
            </a:endParaRPr>
          </a:p>
        </p:txBody>
      </p:sp>
      <p:sp>
        <p:nvSpPr>
          <p:cNvPr id="4" name="Shape 2"/>
          <p:cNvSpPr/>
          <p:nvPr/>
        </p:nvSpPr>
        <p:spPr>
          <a:xfrm>
            <a:off x="502920" y="1645920"/>
            <a:ext cx="8138160" cy="658368"/>
          </a:xfrm>
          <a:prstGeom prst="roundRect">
            <a:avLst>
              <a:gd name="adj" fmla="val 9722"/>
            </a:avLst>
          </a:prstGeom>
          <a:solidFill>
            <a:srgbClr val="F4F4F2"/>
          </a:solidFill>
          <a:ln/>
        </p:spPr>
        <p:txBody>
          <a:bodyPr/>
          <a:lstStyle/>
          <a:p>
            <a:endParaRPr lang="en-US"/>
          </a:p>
        </p:txBody>
      </p:sp>
      <p:sp>
        <p:nvSpPr>
          <p:cNvPr id="5" name="Shape 3"/>
          <p:cNvSpPr/>
          <p:nvPr/>
        </p:nvSpPr>
        <p:spPr>
          <a:xfrm>
            <a:off x="685800" y="1755648"/>
            <a:ext cx="457200" cy="45720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04672" y="1874520"/>
            <a:ext cx="219456" cy="219456"/>
          </a:xfrm>
          <a:prstGeom prst="rect">
            <a:avLst/>
          </a:prstGeom>
        </p:spPr>
      </p:pic>
      <p:sp>
        <p:nvSpPr>
          <p:cNvPr id="7" name="Text 4"/>
          <p:cNvSpPr/>
          <p:nvPr/>
        </p:nvSpPr>
        <p:spPr>
          <a:xfrm>
            <a:off x="1289304" y="1719072"/>
            <a:ext cx="3657600" cy="292608"/>
          </a:xfrm>
          <a:prstGeom prst="rect">
            <a:avLst/>
          </a:prstGeom>
          <a:noFill/>
          <a:ln/>
        </p:spPr>
        <p:txBody>
          <a:bodyPr wrap="square" lIns="0" tIns="0" rIns="0" bIns="0" rtlCol="0" anchor="ctr"/>
          <a:lstStyle/>
          <a:p>
            <a:pPr marL="0" indent="0">
              <a:buNone/>
            </a:pPr>
            <a:r>
              <a:rPr lang="en-US" sz="1500" b="1" dirty="0">
                <a:solidFill>
                  <a:srgbClr val="16181D"/>
                </a:solidFill>
                <a:latin typeface="Bookman Old Style" pitchFamily="34" charset="0"/>
                <a:ea typeface="Bookman Old Style" pitchFamily="34" charset="-122"/>
                <a:cs typeface="Bookman Old Style" pitchFamily="34" charset="-120"/>
              </a:rPr>
              <a:t>Morning · Foundations</a:t>
            </a:r>
            <a:endParaRPr lang="en-US" sz="1500" dirty="0"/>
          </a:p>
        </p:txBody>
      </p:sp>
      <p:sp>
        <p:nvSpPr>
          <p:cNvPr id="8" name="Text 5"/>
          <p:cNvSpPr/>
          <p:nvPr/>
        </p:nvSpPr>
        <p:spPr>
          <a:xfrm>
            <a:off x="1289304" y="1993392"/>
            <a:ext cx="585216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What is code, how the web actually works, and how to read any page.</a:t>
            </a:r>
            <a:endParaRPr lang="en-US" sz="1150" dirty="0"/>
          </a:p>
        </p:txBody>
      </p:sp>
      <p:sp>
        <p:nvSpPr>
          <p:cNvPr id="9" name="Shape 6"/>
          <p:cNvSpPr/>
          <p:nvPr/>
        </p:nvSpPr>
        <p:spPr>
          <a:xfrm>
            <a:off x="7635240" y="1828800"/>
            <a:ext cx="932688" cy="310896"/>
          </a:xfrm>
          <a:prstGeom prst="roundRect">
            <a:avLst>
              <a:gd name="adj" fmla="val 50000"/>
            </a:avLst>
          </a:prstGeom>
          <a:solidFill>
            <a:srgbClr val="16181D"/>
          </a:solidFill>
          <a:ln/>
        </p:spPr>
        <p:txBody>
          <a:bodyPr/>
          <a:lstStyle/>
          <a:p>
            <a:endParaRPr lang="en-US"/>
          </a:p>
        </p:txBody>
      </p:sp>
      <p:sp>
        <p:nvSpPr>
          <p:cNvPr id="10" name="Text 7"/>
          <p:cNvSpPr/>
          <p:nvPr/>
        </p:nvSpPr>
        <p:spPr>
          <a:xfrm>
            <a:off x="7635240" y="1828800"/>
            <a:ext cx="932688" cy="310896"/>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LECTURE</a:t>
            </a:r>
            <a:endParaRPr lang="en-US" sz="900" dirty="0"/>
          </a:p>
        </p:txBody>
      </p:sp>
      <p:sp>
        <p:nvSpPr>
          <p:cNvPr id="11" name="Shape 8"/>
          <p:cNvSpPr/>
          <p:nvPr/>
        </p:nvSpPr>
        <p:spPr>
          <a:xfrm>
            <a:off x="502920" y="2432304"/>
            <a:ext cx="8138160" cy="658368"/>
          </a:xfrm>
          <a:prstGeom prst="roundRect">
            <a:avLst>
              <a:gd name="adj" fmla="val 9722"/>
            </a:avLst>
          </a:prstGeom>
          <a:solidFill>
            <a:srgbClr val="F4F4F2"/>
          </a:solidFill>
          <a:ln/>
        </p:spPr>
        <p:txBody>
          <a:bodyPr/>
          <a:lstStyle/>
          <a:p>
            <a:endParaRPr lang="en-US"/>
          </a:p>
        </p:txBody>
      </p:sp>
      <p:sp>
        <p:nvSpPr>
          <p:cNvPr id="12" name="Shape 9"/>
          <p:cNvSpPr/>
          <p:nvPr/>
        </p:nvSpPr>
        <p:spPr>
          <a:xfrm>
            <a:off x="685800" y="2542032"/>
            <a:ext cx="457200" cy="45720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804672" y="2660904"/>
            <a:ext cx="219456" cy="219456"/>
          </a:xfrm>
          <a:prstGeom prst="rect">
            <a:avLst/>
          </a:prstGeom>
        </p:spPr>
      </p:pic>
      <p:sp>
        <p:nvSpPr>
          <p:cNvPr id="14" name="Text 10"/>
          <p:cNvSpPr/>
          <p:nvPr/>
        </p:nvSpPr>
        <p:spPr>
          <a:xfrm>
            <a:off x="1289304" y="2505456"/>
            <a:ext cx="3657600" cy="292608"/>
          </a:xfrm>
          <a:prstGeom prst="rect">
            <a:avLst/>
          </a:prstGeom>
          <a:noFill/>
          <a:ln/>
        </p:spPr>
        <p:txBody>
          <a:bodyPr wrap="square" lIns="0" tIns="0" rIns="0" bIns="0" rtlCol="0" anchor="ctr"/>
          <a:lstStyle/>
          <a:p>
            <a:pPr marL="0" indent="0">
              <a:buNone/>
            </a:pPr>
            <a:r>
              <a:rPr lang="en-US" sz="1500" b="1" dirty="0">
                <a:solidFill>
                  <a:srgbClr val="16181D"/>
                </a:solidFill>
                <a:latin typeface="Bookman Old Style" pitchFamily="34" charset="0"/>
                <a:ea typeface="Bookman Old Style" pitchFamily="34" charset="-122"/>
                <a:cs typeface="Bookman Old Style" pitchFamily="34" charset="-120"/>
              </a:rPr>
              <a:t>Midday · HTML by hand</a:t>
            </a:r>
            <a:endParaRPr lang="en-US" sz="1500" dirty="0"/>
          </a:p>
        </p:txBody>
      </p:sp>
      <p:sp>
        <p:nvSpPr>
          <p:cNvPr id="15" name="Text 11"/>
          <p:cNvSpPr/>
          <p:nvPr/>
        </p:nvSpPr>
        <p:spPr>
          <a:xfrm>
            <a:off x="1289304" y="2779776"/>
            <a:ext cx="585216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Structure a page with tags — then build your first one with a partner.</a:t>
            </a:r>
            <a:endParaRPr lang="en-US" sz="1150" dirty="0"/>
          </a:p>
        </p:txBody>
      </p:sp>
      <p:sp>
        <p:nvSpPr>
          <p:cNvPr id="16" name="Shape 12"/>
          <p:cNvSpPr/>
          <p:nvPr/>
        </p:nvSpPr>
        <p:spPr>
          <a:xfrm>
            <a:off x="7635240" y="2615184"/>
            <a:ext cx="932688" cy="310896"/>
          </a:xfrm>
          <a:prstGeom prst="roundRect">
            <a:avLst>
              <a:gd name="adj" fmla="val 50000"/>
            </a:avLst>
          </a:prstGeom>
          <a:solidFill>
            <a:srgbClr val="E0A020"/>
          </a:solidFill>
          <a:ln/>
        </p:spPr>
        <p:txBody>
          <a:bodyPr/>
          <a:lstStyle/>
          <a:p>
            <a:endParaRPr lang="en-US"/>
          </a:p>
        </p:txBody>
      </p:sp>
      <p:sp>
        <p:nvSpPr>
          <p:cNvPr id="17" name="Text 13"/>
          <p:cNvSpPr/>
          <p:nvPr/>
        </p:nvSpPr>
        <p:spPr>
          <a:xfrm>
            <a:off x="7635240" y="2615184"/>
            <a:ext cx="932688" cy="310896"/>
          </a:xfrm>
          <a:prstGeom prst="rect">
            <a:avLst/>
          </a:prstGeom>
          <a:noFill/>
          <a:ln/>
        </p:spPr>
        <p:txBody>
          <a:bodyPr wrap="square" lIns="0" tIns="0" rIns="0" bIns="0" rtlCol="0" anchor="ctr"/>
          <a:lstStyle/>
          <a:p>
            <a:pPr marL="0" indent="0" algn="ctr">
              <a:buNone/>
            </a:pPr>
            <a:r>
              <a:rPr lang="en-US" sz="900" b="1" kern="0" spc="100" dirty="0">
                <a:solidFill>
                  <a:srgbClr val="16181D"/>
                </a:solidFill>
                <a:latin typeface="Calibri" pitchFamily="34" charset="0"/>
                <a:ea typeface="Calibri" pitchFamily="34" charset="-122"/>
                <a:cs typeface="Calibri" pitchFamily="34" charset="-120"/>
              </a:rPr>
              <a:t>HANDS-ON</a:t>
            </a:r>
            <a:endParaRPr lang="en-US" sz="900" dirty="0"/>
          </a:p>
        </p:txBody>
      </p:sp>
      <p:sp>
        <p:nvSpPr>
          <p:cNvPr id="18" name="Shape 14"/>
          <p:cNvSpPr/>
          <p:nvPr/>
        </p:nvSpPr>
        <p:spPr>
          <a:xfrm>
            <a:off x="502920" y="3218688"/>
            <a:ext cx="8138160" cy="658368"/>
          </a:xfrm>
          <a:prstGeom prst="roundRect">
            <a:avLst>
              <a:gd name="adj" fmla="val 9722"/>
            </a:avLst>
          </a:prstGeom>
          <a:solidFill>
            <a:srgbClr val="F4F4F2"/>
          </a:solidFill>
          <a:ln/>
        </p:spPr>
        <p:txBody>
          <a:bodyPr/>
          <a:lstStyle/>
          <a:p>
            <a:endParaRPr lang="en-US"/>
          </a:p>
        </p:txBody>
      </p:sp>
      <p:sp>
        <p:nvSpPr>
          <p:cNvPr id="19" name="Shape 15"/>
          <p:cNvSpPr/>
          <p:nvPr/>
        </p:nvSpPr>
        <p:spPr>
          <a:xfrm>
            <a:off x="685800" y="3328416"/>
            <a:ext cx="457200" cy="45720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20" name="Image 2" descr="preencoded.png"/>
          <p:cNvPicPr>
            <a:picLocks noChangeAspect="1"/>
          </p:cNvPicPr>
          <p:nvPr/>
        </p:nvPicPr>
        <p:blipFill>
          <a:blip r:embed="rId5"/>
          <a:stretch>
            <a:fillRect/>
          </a:stretch>
        </p:blipFill>
        <p:spPr>
          <a:xfrm>
            <a:off x="804672" y="3447288"/>
            <a:ext cx="219456" cy="219456"/>
          </a:xfrm>
          <a:prstGeom prst="rect">
            <a:avLst/>
          </a:prstGeom>
        </p:spPr>
      </p:pic>
      <p:sp>
        <p:nvSpPr>
          <p:cNvPr id="21" name="Text 16"/>
          <p:cNvSpPr/>
          <p:nvPr/>
        </p:nvSpPr>
        <p:spPr>
          <a:xfrm>
            <a:off x="1289304" y="3291840"/>
            <a:ext cx="3657600" cy="292608"/>
          </a:xfrm>
          <a:prstGeom prst="rect">
            <a:avLst/>
          </a:prstGeom>
          <a:noFill/>
          <a:ln/>
        </p:spPr>
        <p:txBody>
          <a:bodyPr wrap="square" lIns="0" tIns="0" rIns="0" bIns="0" rtlCol="0" anchor="ctr"/>
          <a:lstStyle/>
          <a:p>
            <a:pPr marL="0" indent="0">
              <a:buNone/>
            </a:pPr>
            <a:r>
              <a:rPr lang="en-US" sz="1500" b="1" dirty="0">
                <a:solidFill>
                  <a:srgbClr val="16181D"/>
                </a:solidFill>
                <a:latin typeface="Bookman Old Style" pitchFamily="34" charset="0"/>
                <a:ea typeface="Bookman Old Style" pitchFamily="34" charset="-122"/>
                <a:cs typeface="Bookman Old Style" pitchFamily="34" charset="-120"/>
              </a:rPr>
              <a:t>Afternoon · CSS by hand</a:t>
            </a:r>
            <a:endParaRPr lang="en-US" sz="1500" dirty="0"/>
          </a:p>
        </p:txBody>
      </p:sp>
      <p:sp>
        <p:nvSpPr>
          <p:cNvPr id="22" name="Text 17"/>
          <p:cNvSpPr/>
          <p:nvPr/>
        </p:nvSpPr>
        <p:spPr>
          <a:xfrm>
            <a:off x="1289304" y="3566160"/>
            <a:ext cx="585216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Make it look like a newsroom — then style your page with a partner.</a:t>
            </a:r>
            <a:endParaRPr lang="en-US" sz="1150" dirty="0"/>
          </a:p>
        </p:txBody>
      </p:sp>
      <p:sp>
        <p:nvSpPr>
          <p:cNvPr id="23" name="Shape 18"/>
          <p:cNvSpPr/>
          <p:nvPr/>
        </p:nvSpPr>
        <p:spPr>
          <a:xfrm>
            <a:off x="7635240" y="3401568"/>
            <a:ext cx="932688" cy="310896"/>
          </a:xfrm>
          <a:prstGeom prst="roundRect">
            <a:avLst>
              <a:gd name="adj" fmla="val 50000"/>
            </a:avLst>
          </a:prstGeom>
          <a:solidFill>
            <a:srgbClr val="E0A020"/>
          </a:solidFill>
          <a:ln/>
        </p:spPr>
        <p:txBody>
          <a:bodyPr/>
          <a:lstStyle/>
          <a:p>
            <a:endParaRPr lang="en-US"/>
          </a:p>
        </p:txBody>
      </p:sp>
      <p:sp>
        <p:nvSpPr>
          <p:cNvPr id="24" name="Text 19"/>
          <p:cNvSpPr/>
          <p:nvPr/>
        </p:nvSpPr>
        <p:spPr>
          <a:xfrm>
            <a:off x="7635240" y="3401568"/>
            <a:ext cx="932688" cy="310896"/>
          </a:xfrm>
          <a:prstGeom prst="rect">
            <a:avLst/>
          </a:prstGeom>
          <a:noFill/>
          <a:ln/>
        </p:spPr>
        <p:txBody>
          <a:bodyPr wrap="square" lIns="0" tIns="0" rIns="0" bIns="0" rtlCol="0" anchor="ctr"/>
          <a:lstStyle/>
          <a:p>
            <a:pPr marL="0" indent="0" algn="ctr">
              <a:buNone/>
            </a:pPr>
            <a:r>
              <a:rPr lang="en-US" sz="900" b="1" kern="0" spc="100" dirty="0">
                <a:solidFill>
                  <a:srgbClr val="16181D"/>
                </a:solidFill>
                <a:latin typeface="Calibri" pitchFamily="34" charset="0"/>
                <a:ea typeface="Calibri" pitchFamily="34" charset="-122"/>
                <a:cs typeface="Calibri" pitchFamily="34" charset="-120"/>
              </a:rPr>
              <a:t>HANDS-ON</a:t>
            </a:r>
            <a:endParaRPr lang="en-US" sz="900" dirty="0"/>
          </a:p>
        </p:txBody>
      </p:sp>
      <p:sp>
        <p:nvSpPr>
          <p:cNvPr id="25" name="Shape 20"/>
          <p:cNvSpPr/>
          <p:nvPr/>
        </p:nvSpPr>
        <p:spPr>
          <a:xfrm>
            <a:off x="502920" y="4005072"/>
            <a:ext cx="8138160" cy="658368"/>
          </a:xfrm>
          <a:prstGeom prst="roundRect">
            <a:avLst>
              <a:gd name="adj" fmla="val 9722"/>
            </a:avLst>
          </a:prstGeom>
          <a:solidFill>
            <a:srgbClr val="F4F4F2"/>
          </a:solidFill>
          <a:ln/>
        </p:spPr>
        <p:txBody>
          <a:bodyPr/>
          <a:lstStyle/>
          <a:p>
            <a:endParaRPr lang="en-US"/>
          </a:p>
        </p:txBody>
      </p:sp>
      <p:sp>
        <p:nvSpPr>
          <p:cNvPr id="26" name="Shape 21"/>
          <p:cNvSpPr/>
          <p:nvPr/>
        </p:nvSpPr>
        <p:spPr>
          <a:xfrm>
            <a:off x="685800" y="4114800"/>
            <a:ext cx="457200" cy="45720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27" name="Image 3" descr="preencoded.png"/>
          <p:cNvPicPr>
            <a:picLocks noChangeAspect="1"/>
          </p:cNvPicPr>
          <p:nvPr/>
        </p:nvPicPr>
        <p:blipFill>
          <a:blip r:embed="rId6"/>
          <a:stretch>
            <a:fillRect/>
          </a:stretch>
        </p:blipFill>
        <p:spPr>
          <a:xfrm>
            <a:off x="804672" y="4233672"/>
            <a:ext cx="219456" cy="219456"/>
          </a:xfrm>
          <a:prstGeom prst="rect">
            <a:avLst/>
          </a:prstGeom>
        </p:spPr>
      </p:pic>
      <p:sp>
        <p:nvSpPr>
          <p:cNvPr id="28" name="Text 22"/>
          <p:cNvSpPr/>
          <p:nvPr/>
        </p:nvSpPr>
        <p:spPr>
          <a:xfrm>
            <a:off x="1289304" y="4078224"/>
            <a:ext cx="3657600" cy="292608"/>
          </a:xfrm>
          <a:prstGeom prst="rect">
            <a:avLst/>
          </a:prstGeom>
          <a:noFill/>
          <a:ln/>
        </p:spPr>
        <p:txBody>
          <a:bodyPr wrap="square" lIns="0" tIns="0" rIns="0" bIns="0" rtlCol="0" anchor="ctr"/>
          <a:lstStyle/>
          <a:p>
            <a:pPr marL="0" indent="0">
              <a:buNone/>
            </a:pPr>
            <a:r>
              <a:rPr lang="en-US" sz="1500" b="1" dirty="0">
                <a:solidFill>
                  <a:srgbClr val="16181D"/>
                </a:solidFill>
                <a:latin typeface="Bookman Old Style" pitchFamily="34" charset="0"/>
                <a:ea typeface="Bookman Old Style" pitchFamily="34" charset="-122"/>
                <a:cs typeface="Bookman Old Style" pitchFamily="34" charset="-120"/>
              </a:rPr>
              <a:t>Late day · Make it count</a:t>
            </a:r>
            <a:endParaRPr lang="en-US" sz="1500" dirty="0"/>
          </a:p>
        </p:txBody>
      </p:sp>
      <p:sp>
        <p:nvSpPr>
          <p:cNvPr id="29" name="Text 23"/>
          <p:cNvSpPr/>
          <p:nvPr/>
        </p:nvSpPr>
        <p:spPr>
          <a:xfrm>
            <a:off x="1289304" y="4352544"/>
            <a:ext cx="585216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Three ways this pays off on a story, then a mini-build you present.</a:t>
            </a:r>
            <a:endParaRPr lang="en-US" sz="1150" dirty="0"/>
          </a:p>
        </p:txBody>
      </p:sp>
      <p:sp>
        <p:nvSpPr>
          <p:cNvPr id="30" name="Shape 24"/>
          <p:cNvSpPr/>
          <p:nvPr/>
        </p:nvSpPr>
        <p:spPr>
          <a:xfrm>
            <a:off x="7635240" y="4187952"/>
            <a:ext cx="932688" cy="310896"/>
          </a:xfrm>
          <a:prstGeom prst="roundRect">
            <a:avLst>
              <a:gd name="adj" fmla="val 50000"/>
            </a:avLst>
          </a:prstGeom>
          <a:solidFill>
            <a:srgbClr val="E0A020"/>
          </a:solidFill>
          <a:ln/>
        </p:spPr>
        <p:txBody>
          <a:bodyPr/>
          <a:lstStyle/>
          <a:p>
            <a:endParaRPr lang="en-US"/>
          </a:p>
        </p:txBody>
      </p:sp>
      <p:sp>
        <p:nvSpPr>
          <p:cNvPr id="31" name="Text 25"/>
          <p:cNvSpPr/>
          <p:nvPr/>
        </p:nvSpPr>
        <p:spPr>
          <a:xfrm>
            <a:off x="7635240" y="4187952"/>
            <a:ext cx="932688" cy="310896"/>
          </a:xfrm>
          <a:prstGeom prst="rect">
            <a:avLst/>
          </a:prstGeom>
          <a:noFill/>
          <a:ln/>
        </p:spPr>
        <p:txBody>
          <a:bodyPr wrap="square" lIns="0" tIns="0" rIns="0" bIns="0" rtlCol="0" anchor="ctr"/>
          <a:lstStyle/>
          <a:p>
            <a:pPr marL="0" indent="0" algn="ctr">
              <a:buNone/>
            </a:pPr>
            <a:r>
              <a:rPr lang="en-US" sz="900" b="1" kern="0" spc="100" dirty="0">
                <a:solidFill>
                  <a:srgbClr val="16181D"/>
                </a:solidFill>
                <a:latin typeface="Calibri" pitchFamily="34" charset="0"/>
                <a:ea typeface="Calibri" pitchFamily="34" charset="-122"/>
                <a:cs typeface="Calibri" pitchFamily="34" charset="-120"/>
              </a:rPr>
              <a:t>HANDS-ON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WHY A REPORTER LEARNS THIS</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What HTML &amp; CSS unlock on the desk</a:t>
            </a:r>
            <a:endParaRPr lang="en-US" sz="3300" dirty="0"/>
          </a:p>
        </p:txBody>
      </p:sp>
      <p:sp>
        <p:nvSpPr>
          <p:cNvPr id="4" name="Shape 2"/>
          <p:cNvSpPr/>
          <p:nvPr/>
        </p:nvSpPr>
        <p:spPr>
          <a:xfrm>
            <a:off x="502920" y="1691640"/>
            <a:ext cx="1947672" cy="2743200"/>
          </a:xfrm>
          <a:prstGeom prst="roundRect">
            <a:avLst>
              <a:gd name="adj" fmla="val 4225"/>
            </a:avLst>
          </a:prstGeom>
          <a:solidFill>
            <a:srgbClr val="F4F4F2"/>
          </a:solidFill>
          <a:ln/>
        </p:spPr>
        <p:txBody>
          <a:bodyPr/>
          <a:lstStyle/>
          <a:p>
            <a:endParaRPr lang="en-US"/>
          </a:p>
        </p:txBody>
      </p:sp>
      <p:sp>
        <p:nvSpPr>
          <p:cNvPr id="5" name="Shape 3"/>
          <p:cNvSpPr/>
          <p:nvPr/>
        </p:nvSpPr>
        <p:spPr>
          <a:xfrm>
            <a:off x="777240" y="1984248"/>
            <a:ext cx="603504" cy="60350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934151" y="2141159"/>
            <a:ext cx="289682" cy="289682"/>
          </a:xfrm>
          <a:prstGeom prst="rect">
            <a:avLst/>
          </a:prstGeom>
        </p:spPr>
      </p:pic>
      <p:sp>
        <p:nvSpPr>
          <p:cNvPr id="7" name="Text 4"/>
          <p:cNvSpPr/>
          <p:nvPr/>
        </p:nvSpPr>
        <p:spPr>
          <a:xfrm>
            <a:off x="722376" y="2752344"/>
            <a:ext cx="1508760" cy="548640"/>
          </a:xfrm>
          <a:prstGeom prst="rect">
            <a:avLst/>
          </a:prstGeom>
          <a:noFill/>
          <a:ln/>
        </p:spPr>
        <p:txBody>
          <a:bodyPr wrap="square" lIns="0" tIns="0" rIns="0" bIns="0" rtlCol="0" anchor="ctr"/>
          <a:lstStyle/>
          <a:p>
            <a:pPr marL="0" indent="0">
              <a:lnSpc>
                <a:spcPct val="98000"/>
              </a:lnSpc>
              <a:buNone/>
            </a:pPr>
            <a:r>
              <a:rPr lang="en-US" sz="1500" b="1" dirty="0">
                <a:solidFill>
                  <a:srgbClr val="16181D"/>
                </a:solidFill>
                <a:latin typeface="Bookman Old Style" pitchFamily="34" charset="0"/>
                <a:ea typeface="Bookman Old Style" pitchFamily="34" charset="-122"/>
                <a:cs typeface="Bookman Old Style" pitchFamily="34" charset="-120"/>
              </a:rPr>
              <a:t>Present data yourself</a:t>
            </a:r>
            <a:endParaRPr lang="en-US" sz="1500" dirty="0"/>
          </a:p>
        </p:txBody>
      </p:sp>
      <p:sp>
        <p:nvSpPr>
          <p:cNvPr id="8" name="Text 5"/>
          <p:cNvSpPr/>
          <p:nvPr/>
        </p:nvSpPr>
        <p:spPr>
          <a:xfrm>
            <a:off x="722376" y="3355848"/>
            <a:ext cx="1527048" cy="1005840"/>
          </a:xfrm>
          <a:prstGeom prst="rect">
            <a:avLst/>
          </a:prstGeom>
          <a:noFill/>
          <a:ln/>
        </p:spPr>
        <p:txBody>
          <a:bodyPr wrap="square" lIns="0" tIns="0" rIns="0" bIns="0" rtlCol="0" anchor="ctr"/>
          <a:lstStyle/>
          <a:p>
            <a:pPr marL="0" indent="0">
              <a:lnSpc>
                <a:spcPct val="102000"/>
              </a:lnSpc>
              <a:buNone/>
            </a:pPr>
            <a:r>
              <a:rPr lang="en-US" sz="1150" dirty="0">
                <a:solidFill>
                  <a:srgbClr val="353A45"/>
                </a:solidFill>
                <a:latin typeface="Calibri" pitchFamily="34" charset="0"/>
                <a:ea typeface="Calibri" pitchFamily="34" charset="-122"/>
                <a:cs typeface="Calibri" pitchFamily="34" charset="-120"/>
              </a:rPr>
              <a:t>Create a spreadsheet or scrape data into a page that readers can actually use.</a:t>
            </a:r>
            <a:endParaRPr lang="en-US" sz="1150" dirty="0"/>
          </a:p>
        </p:txBody>
      </p:sp>
      <p:sp>
        <p:nvSpPr>
          <p:cNvPr id="9" name="Shape 6"/>
          <p:cNvSpPr/>
          <p:nvPr/>
        </p:nvSpPr>
        <p:spPr>
          <a:xfrm>
            <a:off x="2578608" y="1691640"/>
            <a:ext cx="1947672" cy="2743200"/>
          </a:xfrm>
          <a:prstGeom prst="roundRect">
            <a:avLst>
              <a:gd name="adj" fmla="val 4225"/>
            </a:avLst>
          </a:prstGeom>
          <a:solidFill>
            <a:srgbClr val="F4F4F2"/>
          </a:solidFill>
          <a:ln/>
        </p:spPr>
        <p:txBody>
          <a:bodyPr/>
          <a:lstStyle/>
          <a:p>
            <a:endParaRPr lang="en-US"/>
          </a:p>
        </p:txBody>
      </p:sp>
      <p:sp>
        <p:nvSpPr>
          <p:cNvPr id="10" name="Shape 7"/>
          <p:cNvSpPr/>
          <p:nvPr/>
        </p:nvSpPr>
        <p:spPr>
          <a:xfrm>
            <a:off x="2852928" y="1984248"/>
            <a:ext cx="603504" cy="60350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3009839" y="2141159"/>
            <a:ext cx="289682" cy="289682"/>
          </a:xfrm>
          <a:prstGeom prst="rect">
            <a:avLst/>
          </a:prstGeom>
        </p:spPr>
      </p:pic>
      <p:sp>
        <p:nvSpPr>
          <p:cNvPr id="12" name="Text 8"/>
          <p:cNvSpPr/>
          <p:nvPr/>
        </p:nvSpPr>
        <p:spPr>
          <a:xfrm>
            <a:off x="2798064" y="2752344"/>
            <a:ext cx="1508760" cy="548640"/>
          </a:xfrm>
          <a:prstGeom prst="rect">
            <a:avLst/>
          </a:prstGeom>
          <a:noFill/>
          <a:ln/>
        </p:spPr>
        <p:txBody>
          <a:bodyPr wrap="square" lIns="0" tIns="0" rIns="0" bIns="0" rtlCol="0" anchor="ctr"/>
          <a:lstStyle/>
          <a:p>
            <a:pPr marL="0" indent="0">
              <a:lnSpc>
                <a:spcPct val="98000"/>
              </a:lnSpc>
              <a:buNone/>
            </a:pPr>
            <a:r>
              <a:rPr lang="en-US" sz="1500" b="1" dirty="0">
                <a:solidFill>
                  <a:srgbClr val="16181D"/>
                </a:solidFill>
                <a:latin typeface="Bookman Old Style" pitchFamily="34" charset="0"/>
                <a:ea typeface="Bookman Old Style" pitchFamily="34" charset="-122"/>
                <a:cs typeface="Bookman Old Style" pitchFamily="34" charset="-120"/>
              </a:rPr>
              <a:t>Give a story a home</a:t>
            </a:r>
            <a:endParaRPr lang="en-US" sz="1500" dirty="0"/>
          </a:p>
        </p:txBody>
      </p:sp>
      <p:sp>
        <p:nvSpPr>
          <p:cNvPr id="13" name="Text 9"/>
          <p:cNvSpPr/>
          <p:nvPr/>
        </p:nvSpPr>
        <p:spPr>
          <a:xfrm>
            <a:off x="2798064" y="3355848"/>
            <a:ext cx="1527048" cy="1005840"/>
          </a:xfrm>
          <a:prstGeom prst="rect">
            <a:avLst/>
          </a:prstGeom>
          <a:noFill/>
          <a:ln/>
        </p:spPr>
        <p:txBody>
          <a:bodyPr wrap="square" lIns="0" tIns="0" rIns="0" bIns="0" rtlCol="0" anchor="ctr"/>
          <a:lstStyle/>
          <a:p>
            <a:pPr marL="0" indent="0">
              <a:lnSpc>
                <a:spcPct val="102000"/>
              </a:lnSpc>
              <a:buNone/>
            </a:pPr>
            <a:r>
              <a:rPr lang="en-US" sz="1150" dirty="0">
                <a:solidFill>
                  <a:srgbClr val="353A45"/>
                </a:solidFill>
                <a:latin typeface="Calibri" pitchFamily="34" charset="0"/>
                <a:ea typeface="Calibri" pitchFamily="34" charset="-122"/>
                <a:cs typeface="Calibri" pitchFamily="34" charset="-120"/>
              </a:rPr>
              <a:t>Build a clean, custom page for the investigation that can be easily shared and presented.</a:t>
            </a:r>
            <a:endParaRPr lang="en-US" sz="1150" dirty="0"/>
          </a:p>
        </p:txBody>
      </p:sp>
      <p:sp>
        <p:nvSpPr>
          <p:cNvPr id="14" name="Shape 10"/>
          <p:cNvSpPr/>
          <p:nvPr/>
        </p:nvSpPr>
        <p:spPr>
          <a:xfrm>
            <a:off x="4654296" y="1691640"/>
            <a:ext cx="1947672" cy="2743200"/>
          </a:xfrm>
          <a:prstGeom prst="roundRect">
            <a:avLst>
              <a:gd name="adj" fmla="val 4225"/>
            </a:avLst>
          </a:prstGeom>
          <a:solidFill>
            <a:srgbClr val="F4F4F2"/>
          </a:solidFill>
          <a:ln/>
        </p:spPr>
        <p:txBody>
          <a:bodyPr/>
          <a:lstStyle/>
          <a:p>
            <a:endParaRPr lang="en-US"/>
          </a:p>
        </p:txBody>
      </p:sp>
      <p:sp>
        <p:nvSpPr>
          <p:cNvPr id="15" name="Shape 11"/>
          <p:cNvSpPr/>
          <p:nvPr/>
        </p:nvSpPr>
        <p:spPr>
          <a:xfrm>
            <a:off x="4928616" y="1984248"/>
            <a:ext cx="603504" cy="60350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5085527" y="2141159"/>
            <a:ext cx="289682" cy="289682"/>
          </a:xfrm>
          <a:prstGeom prst="rect">
            <a:avLst/>
          </a:prstGeom>
        </p:spPr>
      </p:pic>
      <p:sp>
        <p:nvSpPr>
          <p:cNvPr id="17" name="Text 12"/>
          <p:cNvSpPr/>
          <p:nvPr/>
        </p:nvSpPr>
        <p:spPr>
          <a:xfrm>
            <a:off x="4873752" y="2752344"/>
            <a:ext cx="1508760" cy="548640"/>
          </a:xfrm>
          <a:prstGeom prst="rect">
            <a:avLst/>
          </a:prstGeom>
          <a:noFill/>
          <a:ln/>
        </p:spPr>
        <p:txBody>
          <a:bodyPr wrap="square" lIns="0" tIns="0" rIns="0" bIns="0" rtlCol="0" anchor="ctr"/>
          <a:lstStyle/>
          <a:p>
            <a:pPr marL="0" indent="0">
              <a:lnSpc>
                <a:spcPct val="98000"/>
              </a:lnSpc>
              <a:buNone/>
            </a:pPr>
            <a:r>
              <a:rPr lang="en-US" sz="1500" b="1" dirty="0">
                <a:solidFill>
                  <a:srgbClr val="16181D"/>
                </a:solidFill>
                <a:latin typeface="Bookman Old Style" pitchFamily="34" charset="0"/>
                <a:ea typeface="Bookman Old Style" pitchFamily="34" charset="-122"/>
                <a:cs typeface="Bookman Old Style" pitchFamily="34" charset="-120"/>
              </a:rPr>
              <a:t>Read the web like a source</a:t>
            </a:r>
            <a:endParaRPr lang="en-US" sz="1500" dirty="0"/>
          </a:p>
        </p:txBody>
      </p:sp>
      <p:sp>
        <p:nvSpPr>
          <p:cNvPr id="18" name="Text 13"/>
          <p:cNvSpPr/>
          <p:nvPr/>
        </p:nvSpPr>
        <p:spPr>
          <a:xfrm>
            <a:off x="4873752" y="3355848"/>
            <a:ext cx="1527048" cy="1005840"/>
          </a:xfrm>
          <a:prstGeom prst="rect">
            <a:avLst/>
          </a:prstGeom>
          <a:noFill/>
          <a:ln/>
        </p:spPr>
        <p:txBody>
          <a:bodyPr wrap="square" lIns="0" tIns="0" rIns="0" bIns="0" rtlCol="0" anchor="ctr"/>
          <a:lstStyle/>
          <a:p>
            <a:pPr marL="0" indent="0">
              <a:lnSpc>
                <a:spcPct val="102000"/>
              </a:lnSpc>
              <a:buNone/>
            </a:pPr>
            <a:r>
              <a:rPr lang="en-US" sz="1150" dirty="0">
                <a:solidFill>
                  <a:srgbClr val="353A45"/>
                </a:solidFill>
                <a:latin typeface="Calibri" pitchFamily="34" charset="0"/>
                <a:ea typeface="Calibri" pitchFamily="34" charset="-122"/>
                <a:cs typeface="Calibri" pitchFamily="34" charset="-120"/>
              </a:rPr>
              <a:t>See any site's structure — useful for scraping, verifying, and reporting.</a:t>
            </a:r>
            <a:endParaRPr lang="en-US" sz="1150" dirty="0"/>
          </a:p>
        </p:txBody>
      </p:sp>
      <p:sp>
        <p:nvSpPr>
          <p:cNvPr id="19" name="Shape 14"/>
          <p:cNvSpPr/>
          <p:nvPr/>
        </p:nvSpPr>
        <p:spPr>
          <a:xfrm>
            <a:off x="6729984" y="1691640"/>
            <a:ext cx="1947672" cy="2743200"/>
          </a:xfrm>
          <a:prstGeom prst="roundRect">
            <a:avLst>
              <a:gd name="adj" fmla="val 4225"/>
            </a:avLst>
          </a:prstGeom>
          <a:solidFill>
            <a:srgbClr val="F4F4F2"/>
          </a:solidFill>
          <a:ln/>
        </p:spPr>
        <p:txBody>
          <a:bodyPr/>
          <a:lstStyle/>
          <a:p>
            <a:endParaRPr lang="en-US"/>
          </a:p>
        </p:txBody>
      </p:sp>
      <p:sp>
        <p:nvSpPr>
          <p:cNvPr id="20" name="Shape 15"/>
          <p:cNvSpPr/>
          <p:nvPr/>
        </p:nvSpPr>
        <p:spPr>
          <a:xfrm>
            <a:off x="7004304" y="1984248"/>
            <a:ext cx="603504" cy="60350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21" name="Image 3" descr="preencoded.png"/>
          <p:cNvPicPr>
            <a:picLocks noChangeAspect="1"/>
          </p:cNvPicPr>
          <p:nvPr/>
        </p:nvPicPr>
        <p:blipFill>
          <a:blip r:embed="rId6"/>
          <a:stretch>
            <a:fillRect/>
          </a:stretch>
        </p:blipFill>
        <p:spPr>
          <a:xfrm>
            <a:off x="7161215" y="2141159"/>
            <a:ext cx="289682" cy="289682"/>
          </a:xfrm>
          <a:prstGeom prst="rect">
            <a:avLst/>
          </a:prstGeom>
        </p:spPr>
      </p:pic>
      <p:sp>
        <p:nvSpPr>
          <p:cNvPr id="22" name="Text 16"/>
          <p:cNvSpPr/>
          <p:nvPr/>
        </p:nvSpPr>
        <p:spPr>
          <a:xfrm>
            <a:off x="6949440" y="2752344"/>
            <a:ext cx="1508760" cy="548640"/>
          </a:xfrm>
          <a:prstGeom prst="rect">
            <a:avLst/>
          </a:prstGeom>
          <a:noFill/>
          <a:ln/>
        </p:spPr>
        <p:txBody>
          <a:bodyPr wrap="square" lIns="0" tIns="0" rIns="0" bIns="0" rtlCol="0" anchor="ctr"/>
          <a:lstStyle/>
          <a:p>
            <a:pPr marL="0" indent="0">
              <a:lnSpc>
                <a:spcPct val="98000"/>
              </a:lnSpc>
              <a:buNone/>
            </a:pPr>
            <a:r>
              <a:rPr lang="en-US" sz="1500" b="1" dirty="0">
                <a:solidFill>
                  <a:srgbClr val="16181D"/>
                </a:solidFill>
                <a:latin typeface="Bookman Old Style" pitchFamily="34" charset="0"/>
                <a:ea typeface="Bookman Old Style" pitchFamily="34" charset="-122"/>
                <a:cs typeface="Bookman Old Style" pitchFamily="34" charset="-120"/>
              </a:rPr>
              <a:t>Speak the devs' language</a:t>
            </a:r>
            <a:endParaRPr lang="en-US" sz="1500" dirty="0"/>
          </a:p>
        </p:txBody>
      </p:sp>
      <p:sp>
        <p:nvSpPr>
          <p:cNvPr id="23" name="Text 17"/>
          <p:cNvSpPr/>
          <p:nvPr/>
        </p:nvSpPr>
        <p:spPr>
          <a:xfrm>
            <a:off x="6949440" y="3355848"/>
            <a:ext cx="1527048" cy="1005840"/>
          </a:xfrm>
          <a:prstGeom prst="rect">
            <a:avLst/>
          </a:prstGeom>
          <a:noFill/>
          <a:ln/>
        </p:spPr>
        <p:txBody>
          <a:bodyPr wrap="square" lIns="0" tIns="0" rIns="0" bIns="0" rtlCol="0" anchor="ctr"/>
          <a:lstStyle/>
          <a:p>
            <a:pPr marL="0" indent="0">
              <a:lnSpc>
                <a:spcPct val="102000"/>
              </a:lnSpc>
              <a:buNone/>
            </a:pPr>
            <a:r>
              <a:rPr lang="en-US" sz="1150" dirty="0">
                <a:solidFill>
                  <a:srgbClr val="353A45"/>
                </a:solidFill>
                <a:latin typeface="Calibri" pitchFamily="34" charset="0"/>
                <a:ea typeface="Calibri" pitchFamily="34" charset="-122"/>
                <a:cs typeface="Calibri" pitchFamily="34" charset="-120"/>
              </a:rPr>
              <a:t>Brief the web team precisely; know what's a five-minute ask vs. a project.</a:t>
            </a:r>
            <a:endParaRPr lang="en-US" sz="1150" dirty="0"/>
          </a:p>
        </p:txBody>
      </p:sp>
      <p:sp>
        <p:nvSpPr>
          <p:cNvPr id="24" name="Text 18"/>
          <p:cNvSpPr/>
          <p:nvPr/>
        </p:nvSpPr>
        <p:spPr>
          <a:xfrm>
            <a:off x="502920" y="4645152"/>
            <a:ext cx="8138160" cy="365760"/>
          </a:xfrm>
          <a:prstGeom prst="rect">
            <a:avLst/>
          </a:prstGeom>
          <a:noFill/>
          <a:ln/>
        </p:spPr>
        <p:txBody>
          <a:bodyPr wrap="square" lIns="0" tIns="0" rIns="0" bIns="0"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You don't need to become a developer. You need to have the knowledge to build the small things yourself.</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THE HOUSE RULES</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How we'll learn — together</a:t>
            </a:r>
            <a:endParaRPr lang="en-US" sz="3300" dirty="0"/>
          </a:p>
        </p:txBody>
      </p:sp>
      <p:sp>
        <p:nvSpPr>
          <p:cNvPr id="4" name="Shape 2"/>
          <p:cNvSpPr/>
          <p:nvPr/>
        </p:nvSpPr>
        <p:spPr>
          <a:xfrm>
            <a:off x="502920" y="1691640"/>
            <a:ext cx="8138160" cy="713232"/>
          </a:xfrm>
          <a:prstGeom prst="roundRect">
            <a:avLst>
              <a:gd name="adj" fmla="val 8974"/>
            </a:avLst>
          </a:prstGeom>
          <a:solidFill>
            <a:srgbClr val="F4F4F2"/>
          </a:solidFill>
          <a:ln/>
        </p:spPr>
        <p:txBody>
          <a:bodyPr/>
          <a:lstStyle/>
          <a:p>
            <a:endParaRPr lang="en-US"/>
          </a:p>
        </p:txBody>
      </p:sp>
      <p:sp>
        <p:nvSpPr>
          <p:cNvPr id="5" name="Shape 3"/>
          <p:cNvSpPr/>
          <p:nvPr/>
        </p:nvSpPr>
        <p:spPr>
          <a:xfrm>
            <a:off x="704088" y="1837944"/>
            <a:ext cx="438912" cy="438912"/>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18205" y="1952061"/>
            <a:ext cx="210678" cy="210678"/>
          </a:xfrm>
          <a:prstGeom prst="rect">
            <a:avLst/>
          </a:prstGeom>
        </p:spPr>
      </p:pic>
      <p:sp>
        <p:nvSpPr>
          <p:cNvPr id="7" name="Text 4"/>
          <p:cNvSpPr/>
          <p:nvPr/>
        </p:nvSpPr>
        <p:spPr>
          <a:xfrm>
            <a:off x="1289304" y="1764792"/>
            <a:ext cx="2377440" cy="548640"/>
          </a:xfrm>
          <a:prstGeom prst="rect">
            <a:avLst/>
          </a:prstGeom>
          <a:noFill/>
          <a:ln/>
        </p:spPr>
        <p:txBody>
          <a:bodyPr wrap="square" lIns="0" tIns="0" rIns="0" bIns="0" rtlCol="0" anchor="ctr"/>
          <a:lstStyle/>
          <a:p>
            <a:pPr marL="0" indent="0">
              <a:buNone/>
            </a:pPr>
            <a:r>
              <a:rPr lang="en-US" sz="1500" b="1" dirty="0">
                <a:solidFill>
                  <a:srgbClr val="16181D"/>
                </a:solidFill>
                <a:latin typeface="Bookman Old Style" pitchFamily="34" charset="0"/>
                <a:ea typeface="Bookman Old Style" pitchFamily="34" charset="-122"/>
                <a:cs typeface="Bookman Old Style" pitchFamily="34" charset="-120"/>
              </a:rPr>
              <a:t>Work in pairs</a:t>
            </a:r>
            <a:endParaRPr lang="en-US" sz="1500" dirty="0"/>
          </a:p>
        </p:txBody>
      </p:sp>
      <p:sp>
        <p:nvSpPr>
          <p:cNvPr id="8" name="Text 5"/>
          <p:cNvSpPr/>
          <p:nvPr/>
        </p:nvSpPr>
        <p:spPr>
          <a:xfrm>
            <a:off x="3703320" y="1764792"/>
            <a:ext cx="4754880" cy="566928"/>
          </a:xfrm>
          <a:prstGeom prst="rect">
            <a:avLst/>
          </a:prstGeom>
          <a:noFill/>
          <a:ln/>
        </p:spPr>
        <p:txBody>
          <a:bodyPr wrap="square" lIns="0" tIns="0" rIns="0" bIns="0" rtlCol="0" anchor="ctr"/>
          <a:lstStyle/>
          <a:p>
            <a:pPr marL="0" indent="0">
              <a:lnSpc>
                <a:spcPct val="100000"/>
              </a:lnSpc>
              <a:buNone/>
            </a:pPr>
            <a:r>
              <a:rPr lang="en-US" sz="1200" dirty="0">
                <a:solidFill>
                  <a:srgbClr val="353A45"/>
                </a:solidFill>
                <a:latin typeface="Calibri" pitchFamily="34" charset="0"/>
                <a:ea typeface="Calibri" pitchFamily="34" charset="-122"/>
                <a:cs typeface="Calibri" pitchFamily="34" charset="-120"/>
              </a:rPr>
              <a:t>Turn to the person beside you now — that's your partner all day. One screen, two brains.</a:t>
            </a:r>
            <a:endParaRPr lang="en-US" sz="1200" dirty="0"/>
          </a:p>
        </p:txBody>
      </p:sp>
      <p:sp>
        <p:nvSpPr>
          <p:cNvPr id="9" name="Shape 6"/>
          <p:cNvSpPr/>
          <p:nvPr/>
        </p:nvSpPr>
        <p:spPr>
          <a:xfrm>
            <a:off x="502920" y="2514600"/>
            <a:ext cx="8138160" cy="713232"/>
          </a:xfrm>
          <a:prstGeom prst="roundRect">
            <a:avLst>
              <a:gd name="adj" fmla="val 8974"/>
            </a:avLst>
          </a:prstGeom>
          <a:solidFill>
            <a:srgbClr val="F4F4F2"/>
          </a:solidFill>
          <a:ln/>
        </p:spPr>
        <p:txBody>
          <a:bodyPr/>
          <a:lstStyle/>
          <a:p>
            <a:endParaRPr lang="en-US"/>
          </a:p>
        </p:txBody>
      </p:sp>
      <p:sp>
        <p:nvSpPr>
          <p:cNvPr id="10" name="Shape 7"/>
          <p:cNvSpPr/>
          <p:nvPr/>
        </p:nvSpPr>
        <p:spPr>
          <a:xfrm>
            <a:off x="704088" y="2660904"/>
            <a:ext cx="438912" cy="438912"/>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818205" y="2775021"/>
            <a:ext cx="210678" cy="210678"/>
          </a:xfrm>
          <a:prstGeom prst="rect">
            <a:avLst/>
          </a:prstGeom>
        </p:spPr>
      </p:pic>
      <p:sp>
        <p:nvSpPr>
          <p:cNvPr id="12" name="Text 8"/>
          <p:cNvSpPr/>
          <p:nvPr/>
        </p:nvSpPr>
        <p:spPr>
          <a:xfrm>
            <a:off x="1289304" y="2587752"/>
            <a:ext cx="2377440" cy="548640"/>
          </a:xfrm>
          <a:prstGeom prst="rect">
            <a:avLst/>
          </a:prstGeom>
          <a:noFill/>
          <a:ln/>
        </p:spPr>
        <p:txBody>
          <a:bodyPr wrap="square" lIns="0" tIns="0" rIns="0" bIns="0" rtlCol="0" anchor="ctr"/>
          <a:lstStyle/>
          <a:p>
            <a:pPr marL="0" indent="0">
              <a:buNone/>
            </a:pPr>
            <a:r>
              <a:rPr lang="en-US" sz="1500" b="1" dirty="0">
                <a:solidFill>
                  <a:srgbClr val="16181D"/>
                </a:solidFill>
                <a:latin typeface="Bookman Old Style" pitchFamily="34" charset="0"/>
                <a:ea typeface="Bookman Old Style" pitchFamily="34" charset="-122"/>
                <a:cs typeface="Bookman Old Style" pitchFamily="34" charset="-120"/>
              </a:rPr>
              <a:t>Predict, then run</a:t>
            </a:r>
            <a:endParaRPr lang="en-US" sz="1500" dirty="0"/>
          </a:p>
        </p:txBody>
      </p:sp>
      <p:sp>
        <p:nvSpPr>
          <p:cNvPr id="13" name="Text 9"/>
          <p:cNvSpPr/>
          <p:nvPr/>
        </p:nvSpPr>
        <p:spPr>
          <a:xfrm>
            <a:off x="3703320" y="2587752"/>
            <a:ext cx="4754880" cy="566928"/>
          </a:xfrm>
          <a:prstGeom prst="rect">
            <a:avLst/>
          </a:prstGeom>
          <a:noFill/>
          <a:ln/>
        </p:spPr>
        <p:txBody>
          <a:bodyPr wrap="square" lIns="0" tIns="0" rIns="0" bIns="0" rtlCol="0" anchor="ctr"/>
          <a:lstStyle/>
          <a:p>
            <a:pPr marL="0" indent="0">
              <a:lnSpc>
                <a:spcPct val="100000"/>
              </a:lnSpc>
              <a:buNone/>
            </a:pPr>
            <a:r>
              <a:rPr lang="en-US" sz="1200" dirty="0">
                <a:solidFill>
                  <a:srgbClr val="353A45"/>
                </a:solidFill>
                <a:latin typeface="Calibri" pitchFamily="34" charset="0"/>
                <a:ea typeface="Calibri" pitchFamily="34" charset="-122"/>
                <a:cs typeface="Calibri" pitchFamily="34" charset="-120"/>
              </a:rPr>
              <a:t>Before you hit refresh, say out loud what you think will happen. Trial and error is the best way to learn.</a:t>
            </a:r>
            <a:endParaRPr lang="en-US" sz="1200" dirty="0"/>
          </a:p>
        </p:txBody>
      </p:sp>
      <p:sp>
        <p:nvSpPr>
          <p:cNvPr id="14" name="Shape 10"/>
          <p:cNvSpPr/>
          <p:nvPr/>
        </p:nvSpPr>
        <p:spPr>
          <a:xfrm>
            <a:off x="502920" y="3337560"/>
            <a:ext cx="8138160" cy="713232"/>
          </a:xfrm>
          <a:prstGeom prst="roundRect">
            <a:avLst>
              <a:gd name="adj" fmla="val 8974"/>
            </a:avLst>
          </a:prstGeom>
          <a:solidFill>
            <a:srgbClr val="F4F4F2"/>
          </a:solidFill>
          <a:ln/>
        </p:spPr>
        <p:txBody>
          <a:bodyPr/>
          <a:lstStyle/>
          <a:p>
            <a:endParaRPr lang="en-US"/>
          </a:p>
        </p:txBody>
      </p:sp>
      <p:sp>
        <p:nvSpPr>
          <p:cNvPr id="15" name="Shape 11"/>
          <p:cNvSpPr/>
          <p:nvPr/>
        </p:nvSpPr>
        <p:spPr>
          <a:xfrm>
            <a:off x="704088" y="3483864"/>
            <a:ext cx="438912" cy="438912"/>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818205" y="3597981"/>
            <a:ext cx="210678" cy="210678"/>
          </a:xfrm>
          <a:prstGeom prst="rect">
            <a:avLst/>
          </a:prstGeom>
        </p:spPr>
      </p:pic>
      <p:sp>
        <p:nvSpPr>
          <p:cNvPr id="17" name="Text 12"/>
          <p:cNvSpPr/>
          <p:nvPr/>
        </p:nvSpPr>
        <p:spPr>
          <a:xfrm>
            <a:off x="1289304" y="3410712"/>
            <a:ext cx="2377440" cy="548640"/>
          </a:xfrm>
          <a:prstGeom prst="rect">
            <a:avLst/>
          </a:prstGeom>
          <a:noFill/>
          <a:ln/>
        </p:spPr>
        <p:txBody>
          <a:bodyPr wrap="square" lIns="0" tIns="0" rIns="0" bIns="0" rtlCol="0" anchor="ctr"/>
          <a:lstStyle/>
          <a:p>
            <a:pPr marL="0" indent="0">
              <a:buNone/>
            </a:pPr>
            <a:r>
              <a:rPr lang="en-US" sz="1500" b="1" dirty="0">
                <a:solidFill>
                  <a:srgbClr val="16181D"/>
                </a:solidFill>
                <a:latin typeface="Bookman Old Style" pitchFamily="34" charset="0"/>
                <a:ea typeface="Bookman Old Style" pitchFamily="34" charset="-122"/>
                <a:cs typeface="Bookman Old Style" pitchFamily="34" charset="-120"/>
              </a:rPr>
              <a:t>Break things on purpose</a:t>
            </a:r>
            <a:endParaRPr lang="en-US" sz="1500" dirty="0"/>
          </a:p>
        </p:txBody>
      </p:sp>
      <p:sp>
        <p:nvSpPr>
          <p:cNvPr id="18" name="Text 13"/>
          <p:cNvSpPr/>
          <p:nvPr/>
        </p:nvSpPr>
        <p:spPr>
          <a:xfrm>
            <a:off x="3703320" y="3410712"/>
            <a:ext cx="4754880" cy="566928"/>
          </a:xfrm>
          <a:prstGeom prst="rect">
            <a:avLst/>
          </a:prstGeom>
          <a:noFill/>
          <a:ln/>
        </p:spPr>
        <p:txBody>
          <a:bodyPr wrap="square" lIns="0" tIns="0" rIns="0" bIns="0" rtlCol="0" anchor="ctr"/>
          <a:lstStyle/>
          <a:p>
            <a:pPr marL="0" indent="0">
              <a:lnSpc>
                <a:spcPct val="100000"/>
              </a:lnSpc>
              <a:buNone/>
            </a:pPr>
            <a:r>
              <a:rPr lang="en-US" sz="1200" dirty="0">
                <a:solidFill>
                  <a:srgbClr val="353A45"/>
                </a:solidFill>
                <a:latin typeface="Calibri" pitchFamily="34" charset="0"/>
                <a:ea typeface="Calibri" pitchFamily="34" charset="-122"/>
                <a:cs typeface="Calibri" pitchFamily="34" charset="-120"/>
              </a:rPr>
              <a:t>Delete a tag. Change a number. Watch it fall over, then put it back. That's not damage — that's understanding.</a:t>
            </a:r>
            <a:endParaRPr lang="en-US" sz="1200" dirty="0"/>
          </a:p>
        </p:txBody>
      </p:sp>
      <p:sp>
        <p:nvSpPr>
          <p:cNvPr id="19" name="Shape 14"/>
          <p:cNvSpPr/>
          <p:nvPr/>
        </p:nvSpPr>
        <p:spPr>
          <a:xfrm>
            <a:off x="502920" y="4160520"/>
            <a:ext cx="8138160" cy="713232"/>
          </a:xfrm>
          <a:prstGeom prst="roundRect">
            <a:avLst>
              <a:gd name="adj" fmla="val 8974"/>
            </a:avLst>
          </a:prstGeom>
          <a:solidFill>
            <a:srgbClr val="F4F4F2"/>
          </a:solidFill>
          <a:ln/>
        </p:spPr>
        <p:txBody>
          <a:bodyPr/>
          <a:lstStyle/>
          <a:p>
            <a:endParaRPr lang="en-US"/>
          </a:p>
        </p:txBody>
      </p:sp>
      <p:sp>
        <p:nvSpPr>
          <p:cNvPr id="20" name="Shape 15"/>
          <p:cNvSpPr/>
          <p:nvPr/>
        </p:nvSpPr>
        <p:spPr>
          <a:xfrm>
            <a:off x="704088" y="4306824"/>
            <a:ext cx="438912" cy="438912"/>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21" name="Image 3" descr="preencoded.png"/>
          <p:cNvPicPr>
            <a:picLocks noChangeAspect="1"/>
          </p:cNvPicPr>
          <p:nvPr/>
        </p:nvPicPr>
        <p:blipFill>
          <a:blip r:embed="rId6"/>
          <a:stretch>
            <a:fillRect/>
          </a:stretch>
        </p:blipFill>
        <p:spPr>
          <a:xfrm>
            <a:off x="818205" y="4420941"/>
            <a:ext cx="210678" cy="210678"/>
          </a:xfrm>
          <a:prstGeom prst="rect">
            <a:avLst/>
          </a:prstGeom>
        </p:spPr>
      </p:pic>
      <p:sp>
        <p:nvSpPr>
          <p:cNvPr id="22" name="Text 16"/>
          <p:cNvSpPr/>
          <p:nvPr/>
        </p:nvSpPr>
        <p:spPr>
          <a:xfrm>
            <a:off x="1289304" y="4233672"/>
            <a:ext cx="2377440" cy="548640"/>
          </a:xfrm>
          <a:prstGeom prst="rect">
            <a:avLst/>
          </a:prstGeom>
          <a:noFill/>
          <a:ln/>
        </p:spPr>
        <p:txBody>
          <a:bodyPr wrap="square" lIns="0" tIns="0" rIns="0" bIns="0" rtlCol="0" anchor="ctr"/>
          <a:lstStyle/>
          <a:p>
            <a:pPr marL="0" indent="0">
              <a:buNone/>
            </a:pPr>
            <a:r>
              <a:rPr lang="en-US" sz="1500" b="1" dirty="0">
                <a:solidFill>
                  <a:srgbClr val="16181D"/>
                </a:solidFill>
                <a:latin typeface="Bookman Old Style" pitchFamily="34" charset="0"/>
                <a:ea typeface="Bookman Old Style" pitchFamily="34" charset="-122"/>
                <a:cs typeface="Bookman Old Style" pitchFamily="34" charset="-120"/>
              </a:rPr>
              <a:t>Ask your partner first</a:t>
            </a:r>
            <a:endParaRPr lang="en-US" sz="1500" dirty="0"/>
          </a:p>
        </p:txBody>
      </p:sp>
      <p:sp>
        <p:nvSpPr>
          <p:cNvPr id="23" name="Text 17"/>
          <p:cNvSpPr/>
          <p:nvPr/>
        </p:nvSpPr>
        <p:spPr>
          <a:xfrm>
            <a:off x="3703320" y="4233672"/>
            <a:ext cx="4754880" cy="566928"/>
          </a:xfrm>
          <a:prstGeom prst="rect">
            <a:avLst/>
          </a:prstGeom>
          <a:noFill/>
          <a:ln/>
        </p:spPr>
        <p:txBody>
          <a:bodyPr wrap="square" lIns="0" tIns="0" rIns="0" bIns="0" rtlCol="0" anchor="ctr"/>
          <a:lstStyle/>
          <a:p>
            <a:pPr marL="0" indent="0">
              <a:lnSpc>
                <a:spcPct val="100000"/>
              </a:lnSpc>
              <a:buNone/>
            </a:pPr>
            <a:r>
              <a:rPr lang="en-US" sz="1200" dirty="0">
                <a:solidFill>
                  <a:srgbClr val="353A45"/>
                </a:solidFill>
                <a:latin typeface="Calibri" pitchFamily="34" charset="0"/>
                <a:ea typeface="Calibri" pitchFamily="34" charset="-122"/>
                <a:cs typeface="Calibri" pitchFamily="34" charset="-120"/>
              </a:rPr>
              <a:t>Stuck? Explain it to your neighbor before you raise a hand. Teaching is how it sticks.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1874520"/>
            <a:ext cx="4572000" cy="320040"/>
          </a:xfrm>
          <a:prstGeom prst="rect">
            <a:avLst/>
          </a:prstGeom>
          <a:noFill/>
          <a:ln/>
        </p:spPr>
        <p:txBody>
          <a:bodyPr wrap="square" lIns="0" tIns="0" rIns="0" bIns="0" rtlCol="0" anchor="ctr"/>
          <a:lstStyle/>
          <a:p>
            <a:pPr marL="0" indent="0">
              <a:buNone/>
            </a:pPr>
            <a:r>
              <a:rPr lang="en-US" sz="1400" b="1" kern="0" spc="500" dirty="0">
                <a:solidFill>
                  <a:srgbClr val="E0A020"/>
                </a:solidFill>
                <a:latin typeface="Calibri" pitchFamily="34" charset="0"/>
                <a:ea typeface="Calibri" pitchFamily="34" charset="-122"/>
                <a:cs typeface="Calibri" pitchFamily="34" charset="-120"/>
              </a:rPr>
              <a:t>PART 1</a:t>
            </a:r>
            <a:endParaRPr lang="en-US" sz="1400" dirty="0"/>
          </a:p>
        </p:txBody>
      </p:sp>
      <p:sp>
        <p:nvSpPr>
          <p:cNvPr id="3" name="Text 1"/>
          <p:cNvSpPr/>
          <p:nvPr/>
        </p:nvSpPr>
        <p:spPr>
          <a:xfrm>
            <a:off x="502920" y="2240280"/>
            <a:ext cx="6949440" cy="1188720"/>
          </a:xfrm>
          <a:prstGeom prst="rect">
            <a:avLst/>
          </a:prstGeom>
          <a:noFill/>
          <a:ln/>
        </p:spPr>
        <p:txBody>
          <a:bodyPr wrap="square" lIns="0" tIns="0" rIns="0" bIns="0" rtlCol="0" anchor="ctr"/>
          <a:lstStyle/>
          <a:p>
            <a:pPr marL="0" indent="0">
              <a:lnSpc>
                <a:spcPct val="100000"/>
              </a:lnSpc>
              <a:buNone/>
            </a:pPr>
            <a:r>
              <a:rPr lang="en-US" sz="3800" b="1" dirty="0">
                <a:solidFill>
                  <a:srgbClr val="FFFFFF"/>
                </a:solidFill>
                <a:latin typeface="Bookman Old Style" pitchFamily="34" charset="0"/>
                <a:ea typeface="Bookman Old Style" pitchFamily="34" charset="-122"/>
                <a:cs typeface="Bookman Old Style" pitchFamily="34" charset="-120"/>
              </a:rPr>
              <a:t>What is code?</a:t>
            </a:r>
            <a:endParaRPr lang="en-US" sz="3800" dirty="0"/>
          </a:p>
        </p:txBody>
      </p:sp>
      <p:sp>
        <p:nvSpPr>
          <p:cNvPr id="4" name="Text 2"/>
          <p:cNvSpPr/>
          <p:nvPr/>
        </p:nvSpPr>
        <p:spPr>
          <a:xfrm>
            <a:off x="502920" y="3456432"/>
            <a:ext cx="6766560" cy="457200"/>
          </a:xfrm>
          <a:prstGeom prst="rect">
            <a:avLst/>
          </a:prstGeom>
          <a:noFill/>
          <a:ln/>
        </p:spPr>
        <p:txBody>
          <a:bodyPr wrap="square" lIns="0" tIns="0" rIns="0" bIns="0" rtlCol="0" anchor="ctr"/>
          <a:lstStyle/>
          <a:p>
            <a:pPr marL="0" indent="0">
              <a:buNone/>
            </a:pPr>
            <a:r>
              <a:rPr lang="en-US" sz="1500" i="1" dirty="0">
                <a:solidFill>
                  <a:srgbClr val="AAB0BB"/>
                </a:solidFill>
                <a:latin typeface="Calibri" pitchFamily="34" charset="0"/>
                <a:ea typeface="Calibri" pitchFamily="34" charset="-122"/>
                <a:cs typeface="Calibri" pitchFamily="34" charset="-120"/>
              </a:rPr>
              <a:t>Before we write any, let's agree on what it even is.</a:t>
            </a:r>
            <a:endParaRPr lang="en-US" sz="1500" dirty="0"/>
          </a:p>
        </p:txBody>
      </p:sp>
      <p:sp>
        <p:nvSpPr>
          <p:cNvPr id="5" name="Shape 3"/>
          <p:cNvSpPr/>
          <p:nvPr/>
        </p:nvSpPr>
        <p:spPr>
          <a:xfrm>
            <a:off x="7360920" y="1965960"/>
            <a:ext cx="1234440" cy="123444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726680" y="2331720"/>
            <a:ext cx="502920" cy="502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THE WHOLE IDEA IN ONE LINE</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Code is just a way to talk to computers</a:t>
            </a:r>
            <a:endParaRPr lang="en-US" sz="3300" dirty="0"/>
          </a:p>
        </p:txBody>
      </p:sp>
      <p:sp>
        <p:nvSpPr>
          <p:cNvPr id="4" name="Shape 2"/>
          <p:cNvSpPr/>
          <p:nvPr/>
        </p:nvSpPr>
        <p:spPr>
          <a:xfrm>
            <a:off x="502920" y="1737360"/>
            <a:ext cx="8138160" cy="1234440"/>
          </a:xfrm>
          <a:prstGeom prst="roundRect">
            <a:avLst>
              <a:gd name="adj" fmla="val 8889"/>
            </a:avLst>
          </a:prstGeom>
          <a:solidFill>
            <a:srgbClr val="FBF2DC"/>
          </a:solidFill>
          <a:ln/>
          <a:effectLst>
            <a:outerShdw blurRad="88900" dist="38100" dir="5400000" algn="bl" rotWithShape="0">
              <a:srgbClr val="000000">
                <a:alpha val="10000"/>
              </a:srgbClr>
            </a:outerShdw>
          </a:effectLst>
        </p:spPr>
        <p:txBody>
          <a:bodyPr/>
          <a:lstStyle/>
          <a:p>
            <a:endParaRPr lang="en-US"/>
          </a:p>
        </p:txBody>
      </p:sp>
      <p:sp>
        <p:nvSpPr>
          <p:cNvPr id="5" name="Shape 3"/>
          <p:cNvSpPr/>
          <p:nvPr/>
        </p:nvSpPr>
        <p:spPr>
          <a:xfrm>
            <a:off x="868680" y="2048256"/>
            <a:ext cx="658368" cy="65836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1039856" y="2219432"/>
            <a:ext cx="316017" cy="316017"/>
          </a:xfrm>
          <a:prstGeom prst="rect">
            <a:avLst/>
          </a:prstGeom>
        </p:spPr>
      </p:pic>
      <p:sp>
        <p:nvSpPr>
          <p:cNvPr id="7" name="Text 4"/>
          <p:cNvSpPr/>
          <p:nvPr/>
        </p:nvSpPr>
        <p:spPr>
          <a:xfrm>
            <a:off x="1828800" y="1993392"/>
            <a:ext cx="6492240" cy="822960"/>
          </a:xfrm>
          <a:prstGeom prst="rect">
            <a:avLst/>
          </a:prstGeom>
          <a:noFill/>
          <a:ln/>
        </p:spPr>
        <p:txBody>
          <a:bodyPr wrap="square" lIns="0" tIns="0" rIns="0" bIns="0" rtlCol="0" anchor="ctr"/>
          <a:lstStyle/>
          <a:p>
            <a:pPr marL="0" indent="0">
              <a:lnSpc>
                <a:spcPct val="100000"/>
              </a:lnSpc>
              <a:buNone/>
            </a:pPr>
            <a:r>
              <a:rPr lang="en-US" sz="1900" b="1" dirty="0">
                <a:solidFill>
                  <a:srgbClr val="16181D"/>
                </a:solidFill>
                <a:latin typeface="Bookman Old Style" pitchFamily="34" charset="0"/>
                <a:ea typeface="Bookman Old Style" pitchFamily="34" charset="-122"/>
                <a:cs typeface="Bookman Old Style" pitchFamily="34" charset="-120"/>
              </a:rPr>
              <a:t>You already speak languages. </a:t>
            </a:r>
            <a:r>
              <a:rPr lang="en-US" sz="1900" dirty="0">
                <a:solidFill>
                  <a:srgbClr val="353A45"/>
                </a:solidFill>
                <a:latin typeface="Bookman Old Style" pitchFamily="34" charset="0"/>
                <a:ea typeface="Bookman Old Style" pitchFamily="34" charset="-122"/>
                <a:cs typeface="Bookman Old Style" pitchFamily="34" charset="-120"/>
              </a:rPr>
              <a:t>Code is one more — a very literal one, spoken to a machine.</a:t>
            </a:r>
            <a:endParaRPr lang="en-US" sz="1900" dirty="0"/>
          </a:p>
        </p:txBody>
      </p:sp>
      <p:sp>
        <p:nvSpPr>
          <p:cNvPr id="8" name="Shape 5"/>
          <p:cNvSpPr/>
          <p:nvPr/>
        </p:nvSpPr>
        <p:spPr>
          <a:xfrm>
            <a:off x="594360" y="3291840"/>
            <a:ext cx="365760" cy="36576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689458" y="3386938"/>
            <a:ext cx="175565" cy="175565"/>
          </a:xfrm>
          <a:prstGeom prst="rect">
            <a:avLst/>
          </a:prstGeom>
        </p:spPr>
      </p:pic>
      <p:sp>
        <p:nvSpPr>
          <p:cNvPr id="10" name="Text 6"/>
          <p:cNvSpPr/>
          <p:nvPr/>
        </p:nvSpPr>
        <p:spPr>
          <a:xfrm>
            <a:off x="1097280" y="3264408"/>
            <a:ext cx="7498080" cy="384048"/>
          </a:xfrm>
          <a:prstGeom prst="rect">
            <a:avLst/>
          </a:prstGeom>
          <a:noFill/>
          <a:ln/>
        </p:spPr>
        <p:txBody>
          <a:bodyPr wrap="square" lIns="0" tIns="0" rIns="0" bIns="0" rtlCol="0" anchor="ctr"/>
          <a:lstStyle/>
          <a:p>
            <a:pPr marL="0" indent="0">
              <a:buNone/>
            </a:pPr>
            <a:r>
              <a:rPr lang="en-US" sz="1350" b="1" dirty="0">
                <a:solidFill>
                  <a:srgbClr val="16181D"/>
                </a:solidFill>
                <a:latin typeface="Calibri" pitchFamily="34" charset="0"/>
                <a:ea typeface="Calibri" pitchFamily="34" charset="-122"/>
                <a:cs typeface="Calibri" pitchFamily="34" charset="-120"/>
              </a:rPr>
              <a:t>It's a set of instructions  </a:t>
            </a:r>
            <a:r>
              <a:rPr lang="en-US" sz="1350" dirty="0">
                <a:solidFill>
                  <a:srgbClr val="353A45"/>
                </a:solidFill>
                <a:latin typeface="Calibri" pitchFamily="34" charset="0"/>
                <a:ea typeface="Calibri" pitchFamily="34" charset="-122"/>
                <a:cs typeface="Calibri" pitchFamily="34" charset="-120"/>
              </a:rPr>
              <a:t>You tell the computer exactly what to do, step by step.</a:t>
            </a:r>
            <a:endParaRPr lang="en-US" sz="1350" dirty="0"/>
          </a:p>
        </p:txBody>
      </p:sp>
      <p:sp>
        <p:nvSpPr>
          <p:cNvPr id="11" name="Shape 7"/>
          <p:cNvSpPr/>
          <p:nvPr/>
        </p:nvSpPr>
        <p:spPr>
          <a:xfrm>
            <a:off x="594360" y="3767328"/>
            <a:ext cx="365760" cy="36576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2" name="Image 2" descr="preencoded.png"/>
          <p:cNvPicPr>
            <a:picLocks noChangeAspect="1"/>
          </p:cNvPicPr>
          <p:nvPr/>
        </p:nvPicPr>
        <p:blipFill>
          <a:blip r:embed="rId4"/>
          <a:stretch>
            <a:fillRect/>
          </a:stretch>
        </p:blipFill>
        <p:spPr>
          <a:xfrm>
            <a:off x="689458" y="3862426"/>
            <a:ext cx="175565" cy="175565"/>
          </a:xfrm>
          <a:prstGeom prst="rect">
            <a:avLst/>
          </a:prstGeom>
        </p:spPr>
      </p:pic>
      <p:sp>
        <p:nvSpPr>
          <p:cNvPr id="13" name="Text 8"/>
          <p:cNvSpPr/>
          <p:nvPr/>
        </p:nvSpPr>
        <p:spPr>
          <a:xfrm>
            <a:off x="1097280" y="3739896"/>
            <a:ext cx="7498080" cy="384048"/>
          </a:xfrm>
          <a:prstGeom prst="rect">
            <a:avLst/>
          </a:prstGeom>
          <a:noFill/>
          <a:ln/>
        </p:spPr>
        <p:txBody>
          <a:bodyPr wrap="square" lIns="0" tIns="0" rIns="0" bIns="0" rtlCol="0" anchor="ctr"/>
          <a:lstStyle/>
          <a:p>
            <a:pPr marL="0" indent="0">
              <a:buNone/>
            </a:pPr>
            <a:r>
              <a:rPr lang="en-US" sz="1350" b="1" dirty="0">
                <a:solidFill>
                  <a:srgbClr val="16181D"/>
                </a:solidFill>
                <a:latin typeface="Calibri" pitchFamily="34" charset="0"/>
                <a:ea typeface="Calibri" pitchFamily="34" charset="-122"/>
                <a:cs typeface="Calibri" pitchFamily="34" charset="-120"/>
              </a:rPr>
              <a:t>It's written, not spoken  </a:t>
            </a:r>
            <a:r>
              <a:rPr lang="en-US" sz="1350" dirty="0">
                <a:solidFill>
                  <a:srgbClr val="353A45"/>
                </a:solidFill>
                <a:latin typeface="Calibri" pitchFamily="34" charset="0"/>
                <a:ea typeface="Calibri" pitchFamily="34" charset="-122"/>
                <a:cs typeface="Calibri" pitchFamily="34" charset="-120"/>
              </a:rPr>
              <a:t>You type it in a file; the computer reads it top to bottom.</a:t>
            </a:r>
            <a:endParaRPr lang="en-US" sz="1350" dirty="0"/>
          </a:p>
        </p:txBody>
      </p:sp>
      <p:sp>
        <p:nvSpPr>
          <p:cNvPr id="14" name="Shape 9"/>
          <p:cNvSpPr/>
          <p:nvPr/>
        </p:nvSpPr>
        <p:spPr>
          <a:xfrm>
            <a:off x="594360" y="4242816"/>
            <a:ext cx="365760" cy="36576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5" name="Image 3" descr="preencoded.png"/>
          <p:cNvPicPr>
            <a:picLocks noChangeAspect="1"/>
          </p:cNvPicPr>
          <p:nvPr/>
        </p:nvPicPr>
        <p:blipFill>
          <a:blip r:embed="rId4"/>
          <a:stretch>
            <a:fillRect/>
          </a:stretch>
        </p:blipFill>
        <p:spPr>
          <a:xfrm>
            <a:off x="689458" y="4337914"/>
            <a:ext cx="175565" cy="175565"/>
          </a:xfrm>
          <a:prstGeom prst="rect">
            <a:avLst/>
          </a:prstGeom>
        </p:spPr>
      </p:pic>
      <p:sp>
        <p:nvSpPr>
          <p:cNvPr id="16" name="Text 10"/>
          <p:cNvSpPr/>
          <p:nvPr/>
        </p:nvSpPr>
        <p:spPr>
          <a:xfrm>
            <a:off x="1097280" y="4215384"/>
            <a:ext cx="7498080" cy="384048"/>
          </a:xfrm>
          <a:prstGeom prst="rect">
            <a:avLst/>
          </a:prstGeom>
          <a:noFill/>
          <a:ln/>
        </p:spPr>
        <p:txBody>
          <a:bodyPr wrap="square" lIns="0" tIns="0" rIns="0" bIns="0" rtlCol="0" anchor="ctr"/>
          <a:lstStyle/>
          <a:p>
            <a:pPr marL="0" indent="0">
              <a:buNone/>
            </a:pPr>
            <a:r>
              <a:rPr lang="en-US" sz="1350" b="1" dirty="0">
                <a:solidFill>
                  <a:srgbClr val="16181D"/>
                </a:solidFill>
                <a:latin typeface="Calibri" pitchFamily="34" charset="0"/>
                <a:ea typeface="Calibri" pitchFamily="34" charset="-122"/>
                <a:cs typeface="Calibri" pitchFamily="34" charset="-120"/>
              </a:rPr>
              <a:t>Different jobs, different languages  </a:t>
            </a:r>
            <a:r>
              <a:rPr lang="en-US" sz="1350" dirty="0">
                <a:solidFill>
                  <a:srgbClr val="353A45"/>
                </a:solidFill>
                <a:latin typeface="Calibri" pitchFamily="34" charset="0"/>
                <a:ea typeface="Calibri" pitchFamily="34" charset="-122"/>
                <a:cs typeface="Calibri" pitchFamily="34" charset="-120"/>
              </a:rPr>
              <a:t>Like human languages, each one is good at certain things.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THE ONE HABIT THAT SAVES YOU</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Computers follow instructions — not your intentions</a:t>
            </a:r>
            <a:endParaRPr lang="en-US" sz="3300" dirty="0"/>
          </a:p>
        </p:txBody>
      </p:sp>
      <p:sp>
        <p:nvSpPr>
          <p:cNvPr id="4" name="Shape 2"/>
          <p:cNvSpPr/>
          <p:nvPr/>
        </p:nvSpPr>
        <p:spPr>
          <a:xfrm>
            <a:off x="502920" y="1737360"/>
            <a:ext cx="3931920" cy="2011680"/>
          </a:xfrm>
          <a:prstGeom prst="roundRect">
            <a:avLst>
              <a:gd name="adj" fmla="val 4545"/>
            </a:avLst>
          </a:prstGeom>
          <a:solidFill>
            <a:srgbClr val="F4F4F2"/>
          </a:solidFill>
          <a:ln/>
        </p:spPr>
        <p:txBody>
          <a:bodyPr/>
          <a:lstStyle/>
          <a:p>
            <a:endParaRPr lang="en-US"/>
          </a:p>
        </p:txBody>
      </p:sp>
      <p:sp>
        <p:nvSpPr>
          <p:cNvPr id="5" name="Shape 3"/>
          <p:cNvSpPr/>
          <p:nvPr/>
        </p:nvSpPr>
        <p:spPr>
          <a:xfrm>
            <a:off x="777240" y="1993392"/>
            <a:ext cx="512064" cy="51206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910377" y="2126529"/>
            <a:ext cx="245791" cy="245791"/>
          </a:xfrm>
          <a:prstGeom prst="rect">
            <a:avLst/>
          </a:prstGeom>
        </p:spPr>
      </p:pic>
      <p:sp>
        <p:nvSpPr>
          <p:cNvPr id="7" name="Text 4"/>
          <p:cNvSpPr/>
          <p:nvPr/>
        </p:nvSpPr>
        <p:spPr>
          <a:xfrm>
            <a:off x="1399032" y="2011680"/>
            <a:ext cx="2926080" cy="274320"/>
          </a:xfrm>
          <a:prstGeom prst="rect">
            <a:avLst/>
          </a:prstGeom>
          <a:noFill/>
          <a:ln/>
        </p:spPr>
        <p:txBody>
          <a:bodyPr wrap="square" lIns="0" tIns="0" rIns="0" bIns="0" rtlCol="0" anchor="ctr"/>
          <a:lstStyle/>
          <a:p>
            <a:pPr marL="0" indent="0">
              <a:buNone/>
            </a:pPr>
            <a:r>
              <a:rPr lang="en-US" sz="1150" b="1" kern="0" spc="200" dirty="0">
                <a:solidFill>
                  <a:srgbClr val="6B7280"/>
                </a:solidFill>
                <a:latin typeface="Calibri" pitchFamily="34" charset="0"/>
                <a:ea typeface="Calibri" pitchFamily="34" charset="-122"/>
                <a:cs typeface="Calibri" pitchFamily="34" charset="-120"/>
              </a:rPr>
              <a:t>WHAT YOU MEANT</a:t>
            </a:r>
            <a:endParaRPr lang="en-US" sz="1150" dirty="0"/>
          </a:p>
        </p:txBody>
      </p:sp>
      <p:sp>
        <p:nvSpPr>
          <p:cNvPr id="8" name="Text 5"/>
          <p:cNvSpPr/>
          <p:nvPr/>
        </p:nvSpPr>
        <p:spPr>
          <a:xfrm>
            <a:off x="795528" y="2606040"/>
            <a:ext cx="3383280" cy="1005840"/>
          </a:xfrm>
          <a:prstGeom prst="rect">
            <a:avLst/>
          </a:prstGeom>
          <a:noFill/>
          <a:ln/>
        </p:spPr>
        <p:txBody>
          <a:bodyPr wrap="square" lIns="0" tIns="0" rIns="0" bIns="0" rtlCol="0" anchor="ctr"/>
          <a:lstStyle/>
          <a:p>
            <a:pPr marL="0" indent="0">
              <a:lnSpc>
                <a:spcPct val="102000"/>
              </a:lnSpc>
              <a:buNone/>
            </a:pPr>
            <a:r>
              <a:rPr lang="en-US" sz="1700" i="1" dirty="0">
                <a:solidFill>
                  <a:srgbClr val="16181D"/>
                </a:solidFill>
                <a:latin typeface="Bookman Old Style" pitchFamily="34" charset="0"/>
                <a:ea typeface="Bookman Old Style" pitchFamily="34" charset="-122"/>
                <a:cs typeface="Bookman Old Style" pitchFamily="34" charset="-120"/>
              </a:rPr>
              <a:t>“Color me in with some nice, tasteful colors.”</a:t>
            </a:r>
            <a:endParaRPr lang="en-US" sz="1700" dirty="0"/>
          </a:p>
        </p:txBody>
      </p:sp>
      <p:sp>
        <p:nvSpPr>
          <p:cNvPr id="9" name="Shape 6"/>
          <p:cNvSpPr/>
          <p:nvPr/>
        </p:nvSpPr>
        <p:spPr>
          <a:xfrm>
            <a:off x="4800600" y="1737360"/>
            <a:ext cx="3931920" cy="2011680"/>
          </a:xfrm>
          <a:prstGeom prst="roundRect">
            <a:avLst>
              <a:gd name="adj" fmla="val 4545"/>
            </a:avLst>
          </a:prstGeom>
          <a:solidFill>
            <a:srgbClr val="16181D"/>
          </a:solidFill>
          <a:ln/>
          <a:effectLst>
            <a:outerShdw blurRad="88900" dist="38100" dir="5400000" algn="bl" rotWithShape="0">
              <a:srgbClr val="000000">
                <a:alpha val="10000"/>
              </a:srgbClr>
            </a:outerShdw>
          </a:effectLst>
        </p:spPr>
        <p:txBody>
          <a:bodyPr/>
          <a:lstStyle/>
          <a:p>
            <a:endParaRPr lang="en-US"/>
          </a:p>
        </p:txBody>
      </p:sp>
      <p:sp>
        <p:nvSpPr>
          <p:cNvPr id="10" name="Shape 7"/>
          <p:cNvSpPr/>
          <p:nvPr/>
        </p:nvSpPr>
        <p:spPr>
          <a:xfrm>
            <a:off x="5074920" y="1993392"/>
            <a:ext cx="512064" cy="512064"/>
          </a:xfrm>
          <a:prstGeom prst="ellipse">
            <a:avLst/>
          </a:prstGeom>
          <a:solidFill>
            <a:srgbClr val="23262F"/>
          </a:solidFill>
          <a:ln/>
          <a:effectLst>
            <a:outerShdw blurRad="88900" dist="38100" dir="5400000" algn="bl" rotWithShape="0">
              <a:srgbClr val="000000">
                <a:alpha val="1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5208057" y="2126529"/>
            <a:ext cx="245791" cy="245791"/>
          </a:xfrm>
          <a:prstGeom prst="rect">
            <a:avLst/>
          </a:prstGeom>
        </p:spPr>
      </p:pic>
      <p:sp>
        <p:nvSpPr>
          <p:cNvPr id="12" name="Text 8"/>
          <p:cNvSpPr/>
          <p:nvPr/>
        </p:nvSpPr>
        <p:spPr>
          <a:xfrm>
            <a:off x="5696712" y="2011680"/>
            <a:ext cx="2926080" cy="274320"/>
          </a:xfrm>
          <a:prstGeom prst="rect">
            <a:avLst/>
          </a:prstGeom>
          <a:noFill/>
          <a:ln/>
        </p:spPr>
        <p:txBody>
          <a:bodyPr wrap="square" lIns="0" tIns="0" rIns="0" bIns="0" rtlCol="0" anchor="ctr"/>
          <a:lstStyle/>
          <a:p>
            <a:pPr marL="0" indent="0">
              <a:buNone/>
            </a:pPr>
            <a:r>
              <a:rPr lang="en-US" sz="1150" b="1" kern="0" spc="150" dirty="0">
                <a:solidFill>
                  <a:srgbClr val="E0A020"/>
                </a:solidFill>
                <a:latin typeface="Calibri" pitchFamily="34" charset="0"/>
                <a:ea typeface="Calibri" pitchFamily="34" charset="-122"/>
                <a:cs typeface="Calibri" pitchFamily="34" charset="-120"/>
              </a:rPr>
              <a:t>WHAT THE COMPUTER HEARD</a:t>
            </a:r>
            <a:endParaRPr lang="en-US" sz="1150" dirty="0"/>
          </a:p>
        </p:txBody>
      </p:sp>
      <p:sp>
        <p:nvSpPr>
          <p:cNvPr id="13" name="Text 9"/>
          <p:cNvSpPr/>
          <p:nvPr/>
        </p:nvSpPr>
        <p:spPr>
          <a:xfrm>
            <a:off x="5093208" y="2606040"/>
            <a:ext cx="3383280" cy="1005840"/>
          </a:xfrm>
          <a:prstGeom prst="rect">
            <a:avLst/>
          </a:prstGeom>
          <a:noFill/>
          <a:ln/>
        </p:spPr>
        <p:txBody>
          <a:bodyPr wrap="square" lIns="0" tIns="0" rIns="0" bIns="0" rtlCol="0" anchor="ctr"/>
          <a:lstStyle/>
          <a:p>
            <a:pPr marL="0" indent="0">
              <a:lnSpc>
                <a:spcPct val="102000"/>
              </a:lnSpc>
              <a:buNone/>
            </a:pPr>
            <a:r>
              <a:rPr lang="en-US" sz="1700" i="1" dirty="0">
                <a:solidFill>
                  <a:srgbClr val="FFFFFF"/>
                </a:solidFill>
                <a:latin typeface="Bookman Old Style" pitchFamily="34" charset="0"/>
                <a:ea typeface="Bookman Old Style" pitchFamily="34" charset="-122"/>
                <a:cs typeface="Bookman Old Style" pitchFamily="34" charset="-120"/>
              </a:rPr>
              <a:t>“Okay!”  →  neon purple polka dots.</a:t>
            </a:r>
            <a:endParaRPr lang="en-US" sz="1700" dirty="0"/>
          </a:p>
        </p:txBody>
      </p:sp>
      <p:sp>
        <p:nvSpPr>
          <p:cNvPr id="14" name="Shape 10"/>
          <p:cNvSpPr/>
          <p:nvPr/>
        </p:nvSpPr>
        <p:spPr>
          <a:xfrm>
            <a:off x="502920" y="3977640"/>
            <a:ext cx="8138160" cy="868680"/>
          </a:xfrm>
          <a:prstGeom prst="roundRect">
            <a:avLst>
              <a:gd name="adj" fmla="val 10526"/>
            </a:avLst>
          </a:prstGeom>
          <a:solidFill>
            <a:srgbClr val="FBF2DC"/>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758952" y="4224528"/>
            <a:ext cx="310896" cy="310896"/>
          </a:xfrm>
          <a:prstGeom prst="rect">
            <a:avLst/>
          </a:prstGeom>
        </p:spPr>
      </p:pic>
      <p:sp>
        <p:nvSpPr>
          <p:cNvPr id="16" name="Text 11"/>
          <p:cNvSpPr/>
          <p:nvPr/>
        </p:nvSpPr>
        <p:spPr>
          <a:xfrm>
            <a:off x="1216152" y="3977640"/>
            <a:ext cx="7223760" cy="868680"/>
          </a:xfrm>
          <a:prstGeom prst="rect">
            <a:avLst/>
          </a:prstGeom>
          <a:noFill/>
          <a:ln/>
        </p:spPr>
        <p:txBody>
          <a:bodyPr wrap="square" lIns="0" tIns="0" rIns="0" bIns="0" rtlCol="0" anchor="ctr"/>
          <a:lstStyle/>
          <a:p>
            <a:pPr marL="0" indent="0">
              <a:lnSpc>
                <a:spcPct val="100000"/>
              </a:lnSpc>
              <a:buNone/>
            </a:pPr>
            <a:r>
              <a:rPr lang="en-US" sz="1400" b="1" i="1" dirty="0">
                <a:solidFill>
                  <a:srgbClr val="16181D"/>
                </a:solidFill>
                <a:latin typeface="Calibri" pitchFamily="34" charset="0"/>
                <a:ea typeface="Calibri" pitchFamily="34" charset="-122"/>
                <a:cs typeface="Calibri" pitchFamily="34" charset="-120"/>
              </a:rPr>
              <a:t>“Computers are good at following instructions, but not at reading your mind.”</a:t>
            </a:r>
            <a:r>
              <a:rPr lang="en-US" sz="1400" b="1" dirty="0">
                <a:solidFill>
                  <a:srgbClr val="AC7708"/>
                </a:solidFill>
                <a:latin typeface="Calibri" pitchFamily="34" charset="0"/>
                <a:ea typeface="Calibri" pitchFamily="34" charset="-122"/>
                <a:cs typeface="Calibri" pitchFamily="34" charset="-120"/>
              </a:rPr>
              <a:t>   — Donald Knuth</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THE WEB RUNS ON THREE</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The three languages of the web</a:t>
            </a:r>
            <a:endParaRPr lang="en-US" sz="3300" dirty="0"/>
          </a:p>
        </p:txBody>
      </p:sp>
      <p:sp>
        <p:nvSpPr>
          <p:cNvPr id="4" name="Shape 2"/>
          <p:cNvSpPr/>
          <p:nvPr/>
        </p:nvSpPr>
        <p:spPr>
          <a:xfrm>
            <a:off x="502920" y="1737360"/>
            <a:ext cx="2587752" cy="2514600"/>
          </a:xfrm>
          <a:prstGeom prst="roundRect">
            <a:avLst>
              <a:gd name="adj" fmla="val 3636"/>
            </a:avLst>
          </a:prstGeom>
          <a:solidFill>
            <a:srgbClr val="16181D"/>
          </a:solidFill>
          <a:ln/>
          <a:effectLst>
            <a:outerShdw blurRad="88900" dist="38100" dir="5400000" algn="bl" rotWithShape="0">
              <a:srgbClr val="000000">
                <a:alpha val="10000"/>
              </a:srgbClr>
            </a:outerShdw>
          </a:effectLst>
        </p:spPr>
        <p:txBody>
          <a:bodyPr/>
          <a:lstStyle/>
          <a:p>
            <a:endParaRPr lang="en-US"/>
          </a:p>
        </p:txBody>
      </p:sp>
      <p:sp>
        <p:nvSpPr>
          <p:cNvPr id="5" name="Shape 3"/>
          <p:cNvSpPr/>
          <p:nvPr/>
        </p:nvSpPr>
        <p:spPr>
          <a:xfrm>
            <a:off x="777240" y="2011680"/>
            <a:ext cx="603504" cy="603504"/>
          </a:xfrm>
          <a:prstGeom prst="ellipse">
            <a:avLst/>
          </a:prstGeom>
          <a:solidFill>
            <a:srgbClr val="23262F"/>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934151" y="2168591"/>
            <a:ext cx="289682" cy="289682"/>
          </a:xfrm>
          <a:prstGeom prst="rect">
            <a:avLst/>
          </a:prstGeom>
        </p:spPr>
      </p:pic>
      <p:sp>
        <p:nvSpPr>
          <p:cNvPr id="7" name="Text 4"/>
          <p:cNvSpPr/>
          <p:nvPr/>
        </p:nvSpPr>
        <p:spPr>
          <a:xfrm>
            <a:off x="758952" y="2761488"/>
            <a:ext cx="2130552" cy="365760"/>
          </a:xfrm>
          <a:prstGeom prst="rect">
            <a:avLst/>
          </a:prstGeom>
          <a:noFill/>
          <a:ln/>
        </p:spPr>
        <p:txBody>
          <a:bodyPr wrap="square" lIns="0" tIns="0" rIns="0" bIns="0" rtlCol="0" anchor="ctr"/>
          <a:lstStyle/>
          <a:p>
            <a:pPr marL="0" indent="0">
              <a:buNone/>
            </a:pPr>
            <a:r>
              <a:rPr lang="en-US" sz="2200" b="1" dirty="0">
                <a:solidFill>
                  <a:srgbClr val="FFFFFF"/>
                </a:solidFill>
                <a:latin typeface="Bookman Old Style" pitchFamily="34" charset="0"/>
                <a:ea typeface="Bookman Old Style" pitchFamily="34" charset="-122"/>
                <a:cs typeface="Bookman Old Style" pitchFamily="34" charset="-120"/>
              </a:rPr>
              <a:t>HTML</a:t>
            </a:r>
            <a:endParaRPr lang="en-US" sz="2200" dirty="0"/>
          </a:p>
        </p:txBody>
      </p:sp>
      <p:sp>
        <p:nvSpPr>
          <p:cNvPr id="8" name="Text 5"/>
          <p:cNvSpPr/>
          <p:nvPr/>
        </p:nvSpPr>
        <p:spPr>
          <a:xfrm>
            <a:off x="777240" y="3182112"/>
            <a:ext cx="2130552" cy="256032"/>
          </a:xfrm>
          <a:prstGeom prst="rect">
            <a:avLst/>
          </a:prstGeom>
          <a:noFill/>
          <a:ln/>
        </p:spPr>
        <p:txBody>
          <a:bodyPr wrap="square" lIns="0" tIns="0" rIns="0" bIns="0" rtlCol="0" anchor="ctr"/>
          <a:lstStyle/>
          <a:p>
            <a:pPr marL="0" indent="0">
              <a:buNone/>
            </a:pPr>
            <a:r>
              <a:rPr lang="en-US" sz="1100" b="1" kern="0" spc="200" dirty="0">
                <a:solidFill>
                  <a:srgbClr val="E0A020"/>
                </a:solidFill>
                <a:latin typeface="Calibri" pitchFamily="34" charset="0"/>
                <a:ea typeface="Calibri" pitchFamily="34" charset="-122"/>
                <a:cs typeface="Calibri" pitchFamily="34" charset="-120"/>
              </a:rPr>
              <a:t>STRUCTURE</a:t>
            </a:r>
            <a:endParaRPr lang="en-US" sz="1100" dirty="0"/>
          </a:p>
        </p:txBody>
      </p:sp>
      <p:sp>
        <p:nvSpPr>
          <p:cNvPr id="9" name="Text 6"/>
          <p:cNvSpPr/>
          <p:nvPr/>
        </p:nvSpPr>
        <p:spPr>
          <a:xfrm>
            <a:off x="777240" y="3474720"/>
            <a:ext cx="2075688" cy="731520"/>
          </a:xfrm>
          <a:prstGeom prst="rect">
            <a:avLst/>
          </a:prstGeom>
          <a:noFill/>
          <a:ln/>
        </p:spPr>
        <p:txBody>
          <a:bodyPr wrap="square" lIns="0" tIns="0" rIns="0" bIns="0" rtlCol="0" anchor="ctr"/>
          <a:lstStyle/>
          <a:p>
            <a:pPr marL="0" indent="0">
              <a:lnSpc>
                <a:spcPct val="102000"/>
              </a:lnSpc>
              <a:buNone/>
            </a:pPr>
            <a:r>
              <a:rPr lang="en-US" sz="1150" dirty="0">
                <a:solidFill>
                  <a:srgbClr val="E9EAEC"/>
                </a:solidFill>
                <a:latin typeface="Calibri" pitchFamily="34" charset="0"/>
                <a:ea typeface="Calibri" pitchFamily="34" charset="-122"/>
                <a:cs typeface="Calibri" pitchFamily="34" charset="-120"/>
              </a:rPr>
              <a:t>The bones. Headlines, paragraphs, images, links — what's on the page.</a:t>
            </a:r>
            <a:endParaRPr lang="en-US" sz="1150" dirty="0"/>
          </a:p>
        </p:txBody>
      </p:sp>
      <p:sp>
        <p:nvSpPr>
          <p:cNvPr id="10" name="Shape 7"/>
          <p:cNvSpPr/>
          <p:nvPr/>
        </p:nvSpPr>
        <p:spPr>
          <a:xfrm>
            <a:off x="3273552" y="1737360"/>
            <a:ext cx="2587752" cy="2514600"/>
          </a:xfrm>
          <a:prstGeom prst="roundRect">
            <a:avLst>
              <a:gd name="adj" fmla="val 3636"/>
            </a:avLst>
          </a:prstGeom>
          <a:solidFill>
            <a:srgbClr val="16181D"/>
          </a:solidFill>
          <a:ln/>
          <a:effectLst>
            <a:outerShdw blurRad="88900" dist="38100" dir="5400000" algn="bl" rotWithShape="0">
              <a:srgbClr val="000000">
                <a:alpha val="10000"/>
              </a:srgbClr>
            </a:outerShdw>
          </a:effectLst>
        </p:spPr>
        <p:txBody>
          <a:bodyPr/>
          <a:lstStyle/>
          <a:p>
            <a:endParaRPr lang="en-US"/>
          </a:p>
        </p:txBody>
      </p:sp>
      <p:sp>
        <p:nvSpPr>
          <p:cNvPr id="11" name="Shape 8"/>
          <p:cNvSpPr/>
          <p:nvPr/>
        </p:nvSpPr>
        <p:spPr>
          <a:xfrm>
            <a:off x="3547872" y="2011680"/>
            <a:ext cx="603504" cy="603504"/>
          </a:xfrm>
          <a:prstGeom prst="ellipse">
            <a:avLst/>
          </a:prstGeom>
          <a:solidFill>
            <a:srgbClr val="23262F"/>
          </a:solidFill>
          <a:ln/>
          <a:effectLst>
            <a:outerShdw blurRad="88900" dist="38100" dir="5400000" algn="bl" rotWithShape="0">
              <a:srgbClr val="000000">
                <a:alpha val="10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3704783" y="2168591"/>
            <a:ext cx="289682" cy="289682"/>
          </a:xfrm>
          <a:prstGeom prst="rect">
            <a:avLst/>
          </a:prstGeom>
        </p:spPr>
      </p:pic>
      <p:sp>
        <p:nvSpPr>
          <p:cNvPr id="13" name="Text 9"/>
          <p:cNvSpPr/>
          <p:nvPr/>
        </p:nvSpPr>
        <p:spPr>
          <a:xfrm>
            <a:off x="3529584" y="2761488"/>
            <a:ext cx="2130552" cy="365760"/>
          </a:xfrm>
          <a:prstGeom prst="rect">
            <a:avLst/>
          </a:prstGeom>
          <a:noFill/>
          <a:ln/>
        </p:spPr>
        <p:txBody>
          <a:bodyPr wrap="square" lIns="0" tIns="0" rIns="0" bIns="0" rtlCol="0" anchor="ctr"/>
          <a:lstStyle/>
          <a:p>
            <a:pPr marL="0" indent="0">
              <a:buNone/>
            </a:pPr>
            <a:r>
              <a:rPr lang="en-US" sz="2200" b="1" dirty="0">
                <a:solidFill>
                  <a:srgbClr val="FFFFFF"/>
                </a:solidFill>
                <a:latin typeface="Bookman Old Style" pitchFamily="34" charset="0"/>
                <a:ea typeface="Bookman Old Style" pitchFamily="34" charset="-122"/>
                <a:cs typeface="Bookman Old Style" pitchFamily="34" charset="-120"/>
              </a:rPr>
              <a:t>CSS</a:t>
            </a:r>
            <a:endParaRPr lang="en-US" sz="2200" dirty="0"/>
          </a:p>
        </p:txBody>
      </p:sp>
      <p:sp>
        <p:nvSpPr>
          <p:cNvPr id="14" name="Text 10"/>
          <p:cNvSpPr/>
          <p:nvPr/>
        </p:nvSpPr>
        <p:spPr>
          <a:xfrm>
            <a:off x="3547872" y="3182112"/>
            <a:ext cx="2130552" cy="256032"/>
          </a:xfrm>
          <a:prstGeom prst="rect">
            <a:avLst/>
          </a:prstGeom>
          <a:noFill/>
          <a:ln/>
        </p:spPr>
        <p:txBody>
          <a:bodyPr wrap="square" lIns="0" tIns="0" rIns="0" bIns="0" rtlCol="0" anchor="ctr"/>
          <a:lstStyle/>
          <a:p>
            <a:pPr marL="0" indent="0">
              <a:buNone/>
            </a:pPr>
            <a:r>
              <a:rPr lang="en-US" sz="1100" b="1" kern="0" spc="200" dirty="0">
                <a:solidFill>
                  <a:srgbClr val="E0A020"/>
                </a:solidFill>
                <a:latin typeface="Calibri" pitchFamily="34" charset="0"/>
                <a:ea typeface="Calibri" pitchFamily="34" charset="-122"/>
                <a:cs typeface="Calibri" pitchFamily="34" charset="-120"/>
              </a:rPr>
              <a:t>STYLE</a:t>
            </a:r>
            <a:endParaRPr lang="en-US" sz="1100" dirty="0"/>
          </a:p>
        </p:txBody>
      </p:sp>
      <p:sp>
        <p:nvSpPr>
          <p:cNvPr id="15" name="Text 11"/>
          <p:cNvSpPr/>
          <p:nvPr/>
        </p:nvSpPr>
        <p:spPr>
          <a:xfrm>
            <a:off x="3547872" y="3474720"/>
            <a:ext cx="2075688" cy="731520"/>
          </a:xfrm>
          <a:prstGeom prst="rect">
            <a:avLst/>
          </a:prstGeom>
          <a:noFill/>
          <a:ln/>
        </p:spPr>
        <p:txBody>
          <a:bodyPr wrap="square" lIns="0" tIns="0" rIns="0" bIns="0" rtlCol="0" anchor="ctr"/>
          <a:lstStyle/>
          <a:p>
            <a:pPr marL="0" indent="0">
              <a:lnSpc>
                <a:spcPct val="102000"/>
              </a:lnSpc>
              <a:buNone/>
            </a:pPr>
            <a:r>
              <a:rPr lang="en-US" sz="1150" dirty="0">
                <a:solidFill>
                  <a:srgbClr val="E9EAEC"/>
                </a:solidFill>
                <a:latin typeface="Calibri" pitchFamily="34" charset="0"/>
                <a:ea typeface="Calibri" pitchFamily="34" charset="-122"/>
                <a:cs typeface="Calibri" pitchFamily="34" charset="-120"/>
              </a:rPr>
              <a:t>The paint. Colors, fonts, spacing, layout — how the page looks.</a:t>
            </a:r>
            <a:endParaRPr lang="en-US" sz="1150" dirty="0"/>
          </a:p>
        </p:txBody>
      </p:sp>
      <p:sp>
        <p:nvSpPr>
          <p:cNvPr id="16" name="Shape 12"/>
          <p:cNvSpPr/>
          <p:nvPr/>
        </p:nvSpPr>
        <p:spPr>
          <a:xfrm>
            <a:off x="6044184" y="1737360"/>
            <a:ext cx="2587752" cy="2514600"/>
          </a:xfrm>
          <a:prstGeom prst="roundRect">
            <a:avLst>
              <a:gd name="adj" fmla="val 3636"/>
            </a:avLst>
          </a:prstGeom>
          <a:solidFill>
            <a:srgbClr val="F4F4F2"/>
          </a:solidFill>
          <a:ln/>
        </p:spPr>
        <p:txBody>
          <a:bodyPr/>
          <a:lstStyle/>
          <a:p>
            <a:endParaRPr lang="en-US"/>
          </a:p>
        </p:txBody>
      </p:sp>
      <p:sp>
        <p:nvSpPr>
          <p:cNvPr id="17" name="Shape 13"/>
          <p:cNvSpPr/>
          <p:nvPr/>
        </p:nvSpPr>
        <p:spPr>
          <a:xfrm>
            <a:off x="6318504" y="2011680"/>
            <a:ext cx="603504" cy="60350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8" name="Image 2" descr="preencoded.png"/>
          <p:cNvPicPr>
            <a:picLocks noChangeAspect="1"/>
          </p:cNvPicPr>
          <p:nvPr/>
        </p:nvPicPr>
        <p:blipFill>
          <a:blip r:embed="rId5"/>
          <a:stretch>
            <a:fillRect/>
          </a:stretch>
        </p:blipFill>
        <p:spPr>
          <a:xfrm>
            <a:off x="6475415" y="2168591"/>
            <a:ext cx="289682" cy="289682"/>
          </a:xfrm>
          <a:prstGeom prst="rect">
            <a:avLst/>
          </a:prstGeom>
        </p:spPr>
      </p:pic>
      <p:sp>
        <p:nvSpPr>
          <p:cNvPr id="19" name="Text 14"/>
          <p:cNvSpPr/>
          <p:nvPr/>
        </p:nvSpPr>
        <p:spPr>
          <a:xfrm>
            <a:off x="6300216" y="2761488"/>
            <a:ext cx="2130552" cy="365760"/>
          </a:xfrm>
          <a:prstGeom prst="rect">
            <a:avLst/>
          </a:prstGeom>
          <a:noFill/>
          <a:ln/>
        </p:spPr>
        <p:txBody>
          <a:bodyPr wrap="square" lIns="0" tIns="0" rIns="0" bIns="0" rtlCol="0" anchor="ctr"/>
          <a:lstStyle/>
          <a:p>
            <a:pPr marL="0" indent="0">
              <a:buNone/>
            </a:pPr>
            <a:r>
              <a:rPr lang="en-US" sz="2200" b="1" dirty="0">
                <a:solidFill>
                  <a:srgbClr val="16181D"/>
                </a:solidFill>
                <a:latin typeface="Bookman Old Style" pitchFamily="34" charset="0"/>
                <a:ea typeface="Bookman Old Style" pitchFamily="34" charset="-122"/>
                <a:cs typeface="Bookman Old Style" pitchFamily="34" charset="-120"/>
              </a:rPr>
              <a:t>JavaScript</a:t>
            </a:r>
            <a:endParaRPr lang="en-US" sz="2200" dirty="0"/>
          </a:p>
        </p:txBody>
      </p:sp>
      <p:sp>
        <p:nvSpPr>
          <p:cNvPr id="20" name="Text 15"/>
          <p:cNvSpPr/>
          <p:nvPr/>
        </p:nvSpPr>
        <p:spPr>
          <a:xfrm>
            <a:off x="6318504" y="3182112"/>
            <a:ext cx="2130552" cy="256032"/>
          </a:xfrm>
          <a:prstGeom prst="rect">
            <a:avLst/>
          </a:prstGeom>
          <a:noFill/>
          <a:ln/>
        </p:spPr>
        <p:txBody>
          <a:bodyPr wrap="square" lIns="0" tIns="0" rIns="0" bIns="0" rtlCol="0" anchor="ctr"/>
          <a:lstStyle/>
          <a:p>
            <a:pPr marL="0" indent="0">
              <a:buNone/>
            </a:pPr>
            <a:r>
              <a:rPr lang="en-US" sz="1100" b="1" kern="0" spc="200" dirty="0">
                <a:solidFill>
                  <a:srgbClr val="E0A020"/>
                </a:solidFill>
                <a:latin typeface="Calibri" pitchFamily="34" charset="0"/>
                <a:ea typeface="Calibri" pitchFamily="34" charset="-122"/>
                <a:cs typeface="Calibri" pitchFamily="34" charset="-120"/>
              </a:rPr>
              <a:t>BEHAVIOR</a:t>
            </a:r>
            <a:endParaRPr lang="en-US" sz="1100" dirty="0"/>
          </a:p>
        </p:txBody>
      </p:sp>
      <p:sp>
        <p:nvSpPr>
          <p:cNvPr id="21" name="Text 16"/>
          <p:cNvSpPr/>
          <p:nvPr/>
        </p:nvSpPr>
        <p:spPr>
          <a:xfrm>
            <a:off x="6318504" y="3474720"/>
            <a:ext cx="2075688" cy="731520"/>
          </a:xfrm>
          <a:prstGeom prst="rect">
            <a:avLst/>
          </a:prstGeom>
          <a:noFill/>
          <a:ln/>
        </p:spPr>
        <p:txBody>
          <a:bodyPr wrap="square" lIns="0" tIns="0" rIns="0" bIns="0" rtlCol="0" anchor="ctr"/>
          <a:lstStyle/>
          <a:p>
            <a:pPr marL="0" indent="0">
              <a:lnSpc>
                <a:spcPct val="102000"/>
              </a:lnSpc>
              <a:buNone/>
            </a:pPr>
            <a:r>
              <a:rPr lang="en-US" sz="1150" dirty="0">
                <a:solidFill>
                  <a:srgbClr val="353A45"/>
                </a:solidFill>
                <a:latin typeface="Calibri" pitchFamily="34" charset="0"/>
                <a:ea typeface="Calibri" pitchFamily="34" charset="-122"/>
                <a:cs typeface="Calibri" pitchFamily="34" charset="-120"/>
              </a:rPr>
              <a:t>The motion. Clicks, search, interactivity — what the page does.</a:t>
            </a:r>
            <a:endParaRPr lang="en-US" sz="1150" dirty="0"/>
          </a:p>
        </p:txBody>
      </p:sp>
      <p:sp>
        <p:nvSpPr>
          <p:cNvPr id="22" name="Text 17"/>
          <p:cNvSpPr/>
          <p:nvPr/>
        </p:nvSpPr>
        <p:spPr>
          <a:xfrm>
            <a:off x="502920" y="4526280"/>
            <a:ext cx="8138160" cy="457200"/>
          </a:xfrm>
          <a:prstGeom prst="rect">
            <a:avLst/>
          </a:prstGeom>
          <a:noFill/>
          <a:ln/>
        </p:spPr>
        <p:txBody>
          <a:bodyPr wrap="square" lIns="0" tIns="0" rIns="0" bIns="0" rtlCol="0" anchor="ctr"/>
          <a:lstStyle/>
          <a:p>
            <a:pPr marL="0" indent="0" algn="ctr">
              <a:lnSpc>
                <a:spcPct val="100000"/>
              </a:lnSpc>
              <a:buNone/>
            </a:pPr>
            <a:r>
              <a:rPr lang="en-US" sz="1300" i="1" dirty="0">
                <a:solidFill>
                  <a:srgbClr val="6B7280"/>
                </a:solidFill>
                <a:latin typeface="Calibri" pitchFamily="34" charset="0"/>
                <a:ea typeface="Calibri" pitchFamily="34" charset="-122"/>
                <a:cs typeface="Calibri" pitchFamily="34" charset="-120"/>
              </a:rPr>
              <a:t>Today is all about the first two — HTML and CSS. They're enough to build and style a real page.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92608"/>
          </a:xfrm>
          <a:prstGeom prst="rect">
            <a:avLst/>
          </a:prstGeom>
          <a:noFill/>
          <a:ln/>
        </p:spPr>
        <p:txBody>
          <a:bodyPr wrap="square" lIns="0" tIns="0" rIns="0" bIns="0" rtlCol="0" anchor="ctr"/>
          <a:lstStyle/>
          <a:p>
            <a:pPr marL="0" indent="0">
              <a:buNone/>
            </a:pPr>
            <a:r>
              <a:rPr lang="en-US" sz="1300" b="1" kern="0" spc="400" dirty="0">
                <a:solidFill>
                  <a:srgbClr val="E0A020"/>
                </a:solidFill>
                <a:latin typeface="Calibri" pitchFamily="34" charset="0"/>
                <a:ea typeface="Calibri" pitchFamily="34" charset="-122"/>
                <a:cs typeface="Calibri" pitchFamily="34" charset="-120"/>
              </a:rPr>
              <a:t>WORKSHOP 0   ·   Warm-up  ·  10 min</a:t>
            </a:r>
            <a:endParaRPr lang="en-US" sz="1300" dirty="0"/>
          </a:p>
        </p:txBody>
      </p:sp>
      <p:sp>
        <p:nvSpPr>
          <p:cNvPr id="3" name="Text 1"/>
          <p:cNvSpPr/>
          <p:nvPr/>
        </p:nvSpPr>
        <p:spPr>
          <a:xfrm>
            <a:off x="502920" y="786384"/>
            <a:ext cx="6126480" cy="777240"/>
          </a:xfrm>
          <a:prstGeom prst="rect">
            <a:avLst/>
          </a:prstGeom>
          <a:noFill/>
          <a:ln/>
        </p:spPr>
        <p:txBody>
          <a:bodyPr wrap="square" lIns="0" tIns="0" rIns="0" bIns="0" rtlCol="0" anchor="ctr"/>
          <a:lstStyle/>
          <a:p>
            <a:pPr marL="0" indent="0">
              <a:lnSpc>
                <a:spcPct val="98000"/>
              </a:lnSpc>
              <a:buNone/>
            </a:pPr>
            <a:r>
              <a:rPr lang="en-US" sz="3000" b="1" dirty="0">
                <a:solidFill>
                  <a:srgbClr val="FFFFFF"/>
                </a:solidFill>
                <a:latin typeface="Bookman Old Style" pitchFamily="34" charset="0"/>
                <a:ea typeface="Bookman Old Style" pitchFamily="34" charset="-122"/>
                <a:cs typeface="Bookman Old Style" pitchFamily="34" charset="-120"/>
              </a:rPr>
              <a:t>The Inspect Element safari</a:t>
            </a:r>
            <a:endParaRPr lang="en-US" sz="3000" dirty="0"/>
          </a:p>
        </p:txBody>
      </p:sp>
      <p:sp>
        <p:nvSpPr>
          <p:cNvPr id="4" name="Shape 2"/>
          <p:cNvSpPr/>
          <p:nvPr/>
        </p:nvSpPr>
        <p:spPr>
          <a:xfrm>
            <a:off x="6720840" y="548640"/>
            <a:ext cx="1920240" cy="457200"/>
          </a:xfrm>
          <a:prstGeom prst="roundRect">
            <a:avLst>
              <a:gd name="adj" fmla="val 50000"/>
            </a:avLst>
          </a:prstGeom>
          <a:solidFill>
            <a:srgbClr val="23262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6858000" y="658368"/>
            <a:ext cx="237744" cy="237744"/>
          </a:xfrm>
          <a:prstGeom prst="rect">
            <a:avLst/>
          </a:prstGeom>
        </p:spPr>
      </p:pic>
      <p:sp>
        <p:nvSpPr>
          <p:cNvPr id="6" name="Text 3"/>
          <p:cNvSpPr/>
          <p:nvPr/>
        </p:nvSpPr>
        <p:spPr>
          <a:xfrm>
            <a:off x="7150608" y="548640"/>
            <a:ext cx="14173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With your neighbor</a:t>
            </a:r>
            <a:endParaRPr lang="en-US" sz="1050" dirty="0"/>
          </a:p>
        </p:txBody>
      </p:sp>
      <p:sp>
        <p:nvSpPr>
          <p:cNvPr id="7" name="Shape 4"/>
          <p:cNvSpPr/>
          <p:nvPr/>
        </p:nvSpPr>
        <p:spPr>
          <a:xfrm>
            <a:off x="6720840" y="1078992"/>
            <a:ext cx="1920240" cy="384048"/>
          </a:xfrm>
          <a:prstGeom prst="roundRect">
            <a:avLst>
              <a:gd name="adj" fmla="val 50000"/>
            </a:avLst>
          </a:prstGeom>
          <a:solidFill>
            <a:srgbClr val="E0A020"/>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6858000" y="1161288"/>
            <a:ext cx="219456" cy="219456"/>
          </a:xfrm>
          <a:prstGeom prst="rect">
            <a:avLst/>
          </a:prstGeom>
        </p:spPr>
      </p:pic>
      <p:sp>
        <p:nvSpPr>
          <p:cNvPr id="9" name="Text 5"/>
          <p:cNvSpPr/>
          <p:nvPr/>
        </p:nvSpPr>
        <p:spPr>
          <a:xfrm>
            <a:off x="7132320" y="1078992"/>
            <a:ext cx="1463040" cy="384048"/>
          </a:xfrm>
          <a:prstGeom prst="rect">
            <a:avLst/>
          </a:prstGeom>
          <a:noFill/>
          <a:ln/>
        </p:spPr>
        <p:txBody>
          <a:bodyPr wrap="square" lIns="0" tIns="0" rIns="0" bIns="0" rtlCol="0" anchor="ctr"/>
          <a:lstStyle/>
          <a:p>
            <a:pPr marL="0" indent="0">
              <a:buNone/>
            </a:pPr>
            <a:r>
              <a:rPr lang="en-US" sz="1100" b="1" dirty="0">
                <a:solidFill>
                  <a:srgbClr val="16181D"/>
                </a:solidFill>
                <a:latin typeface="Calibri" pitchFamily="34" charset="0"/>
                <a:ea typeface="Calibri" pitchFamily="34" charset="-122"/>
                <a:cs typeface="Calibri" pitchFamily="34" charset="-120"/>
              </a:rPr>
              <a:t>10 min</a:t>
            </a:r>
            <a:endParaRPr lang="en-US" sz="1100" dirty="0"/>
          </a:p>
        </p:txBody>
      </p:sp>
      <p:sp>
        <p:nvSpPr>
          <p:cNvPr id="10" name="Text 6"/>
          <p:cNvSpPr/>
          <p:nvPr/>
        </p:nvSpPr>
        <p:spPr>
          <a:xfrm>
            <a:off x="502920" y="1664208"/>
            <a:ext cx="8138160" cy="502920"/>
          </a:xfrm>
          <a:prstGeom prst="rect">
            <a:avLst/>
          </a:prstGeom>
          <a:noFill/>
          <a:ln/>
        </p:spPr>
        <p:txBody>
          <a:bodyPr wrap="square" lIns="0" tIns="0" rIns="0" bIns="0" rtlCol="0" anchor="ctr"/>
          <a:lstStyle/>
          <a:p>
            <a:pPr marL="0" indent="0">
              <a:lnSpc>
                <a:spcPct val="100000"/>
              </a:lnSpc>
              <a:buNone/>
            </a:pPr>
            <a:r>
              <a:rPr lang="en-US" sz="1450" b="1" dirty="0">
                <a:solidFill>
                  <a:srgbClr val="E0A020"/>
                </a:solidFill>
                <a:latin typeface="Calibri" pitchFamily="34" charset="0"/>
                <a:ea typeface="Calibri" pitchFamily="34" charset="-122"/>
                <a:cs typeface="Calibri" pitchFamily="34" charset="-120"/>
              </a:rPr>
              <a:t>Your task:  </a:t>
            </a:r>
            <a:r>
              <a:rPr lang="en-US" sz="1450" i="1" dirty="0">
                <a:solidFill>
                  <a:srgbClr val="E9EAEC"/>
                </a:solidFill>
                <a:latin typeface="Calibri" pitchFamily="34" charset="0"/>
                <a:ea typeface="Calibri" pitchFamily="34" charset="-122"/>
                <a:cs typeface="Calibri" pitchFamily="34" charset="-120"/>
              </a:rPr>
              <a:t>Every site you visit is just HTML you're allowed to read. Let's go read some.</a:t>
            </a:r>
            <a:endParaRPr lang="en-US" sz="1450" dirty="0"/>
          </a:p>
        </p:txBody>
      </p:sp>
      <p:sp>
        <p:nvSpPr>
          <p:cNvPr id="11" name="Shape 7"/>
          <p:cNvSpPr/>
          <p:nvPr/>
        </p:nvSpPr>
        <p:spPr>
          <a:xfrm>
            <a:off x="502920" y="2286000"/>
            <a:ext cx="8138160" cy="1965960"/>
          </a:xfrm>
          <a:prstGeom prst="roundRect">
            <a:avLst>
              <a:gd name="adj" fmla="val 3721"/>
            </a:avLst>
          </a:prstGeom>
          <a:solidFill>
            <a:srgbClr val="23262F"/>
          </a:solidFill>
          <a:ln/>
        </p:spPr>
        <p:txBody>
          <a:bodyPr/>
          <a:lstStyle/>
          <a:p>
            <a:endParaRPr lang="en-US"/>
          </a:p>
        </p:txBody>
      </p:sp>
      <p:sp>
        <p:nvSpPr>
          <p:cNvPr id="12" name="Text 8"/>
          <p:cNvSpPr/>
          <p:nvPr/>
        </p:nvSpPr>
        <p:spPr>
          <a:xfrm>
            <a:off x="777240" y="2432304"/>
            <a:ext cx="2743200" cy="256032"/>
          </a:xfrm>
          <a:prstGeom prst="rect">
            <a:avLst/>
          </a:prstGeom>
          <a:noFill/>
          <a:ln/>
        </p:spPr>
        <p:txBody>
          <a:bodyPr wrap="square" lIns="0" tIns="0" rIns="0" bIns="0" rtlCol="0" anchor="ctr"/>
          <a:lstStyle/>
          <a:p>
            <a:pPr marL="0" indent="0">
              <a:buNone/>
            </a:pPr>
            <a:r>
              <a:rPr lang="en-US" sz="1100" b="1" kern="0" spc="200" dirty="0">
                <a:solidFill>
                  <a:srgbClr val="E0A020"/>
                </a:solidFill>
                <a:latin typeface="Calibri" pitchFamily="34" charset="0"/>
                <a:ea typeface="Calibri" pitchFamily="34" charset="-122"/>
                <a:cs typeface="Calibri" pitchFamily="34" charset="-120"/>
              </a:rPr>
              <a:t>STEPS</a:t>
            </a:r>
            <a:endParaRPr lang="en-US" sz="1100" dirty="0"/>
          </a:p>
        </p:txBody>
      </p:sp>
      <p:sp>
        <p:nvSpPr>
          <p:cNvPr id="13" name="Text 9"/>
          <p:cNvSpPr/>
          <p:nvPr/>
        </p:nvSpPr>
        <p:spPr>
          <a:xfrm>
            <a:off x="777240" y="27614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1</a:t>
            </a:r>
            <a:endParaRPr lang="en-US" sz="1300" dirty="0"/>
          </a:p>
        </p:txBody>
      </p:sp>
      <p:sp>
        <p:nvSpPr>
          <p:cNvPr id="14" name="Text 10"/>
          <p:cNvSpPr/>
          <p:nvPr/>
        </p:nvSpPr>
        <p:spPr>
          <a:xfrm>
            <a:off x="1088136" y="27340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Open Chrome and go to your own newsroom's homepage.</a:t>
            </a:r>
            <a:endParaRPr lang="en-US" sz="1200" dirty="0"/>
          </a:p>
        </p:txBody>
      </p:sp>
      <p:sp>
        <p:nvSpPr>
          <p:cNvPr id="15" name="Text 11"/>
          <p:cNvSpPr/>
          <p:nvPr/>
        </p:nvSpPr>
        <p:spPr>
          <a:xfrm>
            <a:off x="777240" y="32186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2</a:t>
            </a:r>
            <a:endParaRPr lang="en-US" sz="1300" dirty="0"/>
          </a:p>
        </p:txBody>
      </p:sp>
      <p:sp>
        <p:nvSpPr>
          <p:cNvPr id="16" name="Text 12"/>
          <p:cNvSpPr/>
          <p:nvPr/>
        </p:nvSpPr>
        <p:spPr>
          <a:xfrm>
            <a:off x="1088136" y="31912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Right-click the main headline → choose “Inspect.”</a:t>
            </a:r>
            <a:endParaRPr lang="en-US" sz="1200" dirty="0"/>
          </a:p>
        </p:txBody>
      </p:sp>
      <p:sp>
        <p:nvSpPr>
          <p:cNvPr id="17" name="Text 13"/>
          <p:cNvSpPr/>
          <p:nvPr/>
        </p:nvSpPr>
        <p:spPr>
          <a:xfrm>
            <a:off x="777240" y="36758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3</a:t>
            </a:r>
            <a:endParaRPr lang="en-US" sz="1300" dirty="0"/>
          </a:p>
        </p:txBody>
      </p:sp>
      <p:sp>
        <p:nvSpPr>
          <p:cNvPr id="18" name="Text 14"/>
          <p:cNvSpPr/>
          <p:nvPr/>
        </p:nvSpPr>
        <p:spPr>
          <a:xfrm>
            <a:off x="1088136" y="36484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Find the highlighted tag wrapping the headline text.</a:t>
            </a:r>
            <a:endParaRPr lang="en-US" sz="1200" dirty="0"/>
          </a:p>
        </p:txBody>
      </p:sp>
      <p:sp>
        <p:nvSpPr>
          <p:cNvPr id="19" name="Text 15"/>
          <p:cNvSpPr/>
          <p:nvPr/>
        </p:nvSpPr>
        <p:spPr>
          <a:xfrm>
            <a:off x="4754880" y="27614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4</a:t>
            </a:r>
            <a:endParaRPr lang="en-US" sz="1300" dirty="0"/>
          </a:p>
        </p:txBody>
      </p:sp>
      <p:sp>
        <p:nvSpPr>
          <p:cNvPr id="20" name="Text 16"/>
          <p:cNvSpPr/>
          <p:nvPr/>
        </p:nvSpPr>
        <p:spPr>
          <a:xfrm>
            <a:off x="5065776" y="27340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Tell your partner: what tag is it? (h1? h2? a?)</a:t>
            </a:r>
            <a:endParaRPr lang="en-US" sz="1200" dirty="0"/>
          </a:p>
        </p:txBody>
      </p:sp>
      <p:sp>
        <p:nvSpPr>
          <p:cNvPr id="21" name="Text 17"/>
          <p:cNvSpPr/>
          <p:nvPr/>
        </p:nvSpPr>
        <p:spPr>
          <a:xfrm>
            <a:off x="4754880" y="32186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5</a:t>
            </a:r>
            <a:endParaRPr lang="en-US" sz="1300" dirty="0"/>
          </a:p>
        </p:txBody>
      </p:sp>
      <p:sp>
        <p:nvSpPr>
          <p:cNvPr id="22" name="Text 18"/>
          <p:cNvSpPr/>
          <p:nvPr/>
        </p:nvSpPr>
        <p:spPr>
          <a:xfrm>
            <a:off x="5065776" y="31912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Double-click the headline text in the panel and retype it.</a:t>
            </a:r>
            <a:endParaRPr lang="en-US" sz="1200" dirty="0"/>
          </a:p>
        </p:txBody>
      </p:sp>
      <p:sp>
        <p:nvSpPr>
          <p:cNvPr id="23" name="Text 19"/>
          <p:cNvSpPr/>
          <p:nvPr/>
        </p:nvSpPr>
        <p:spPr>
          <a:xfrm>
            <a:off x="4754880" y="36758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6</a:t>
            </a:r>
            <a:endParaRPr lang="en-US" sz="1300" dirty="0"/>
          </a:p>
        </p:txBody>
      </p:sp>
      <p:sp>
        <p:nvSpPr>
          <p:cNvPr id="24" name="Text 20"/>
          <p:cNvSpPr/>
          <p:nvPr/>
        </p:nvSpPr>
        <p:spPr>
          <a:xfrm>
            <a:off x="5065776" y="36484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Watch your own “headline” appear on the live page.</a:t>
            </a:r>
            <a:endParaRPr lang="en-US" sz="1200" dirty="0"/>
          </a:p>
        </p:txBody>
      </p:sp>
      <p:sp>
        <p:nvSpPr>
          <p:cNvPr id="25" name="Shape 21"/>
          <p:cNvSpPr/>
          <p:nvPr/>
        </p:nvSpPr>
        <p:spPr>
          <a:xfrm>
            <a:off x="502920" y="4370832"/>
            <a:ext cx="8138160" cy="548640"/>
          </a:xfrm>
          <a:prstGeom prst="roundRect">
            <a:avLst>
              <a:gd name="adj" fmla="val 11667"/>
            </a:avLst>
          </a:prstGeom>
          <a:solidFill>
            <a:srgbClr val="FBF2DC"/>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722376" y="4507992"/>
            <a:ext cx="256032" cy="256032"/>
          </a:xfrm>
          <a:prstGeom prst="rect">
            <a:avLst/>
          </a:prstGeom>
        </p:spPr>
      </p:pic>
      <p:sp>
        <p:nvSpPr>
          <p:cNvPr id="27" name="Text 22"/>
          <p:cNvSpPr/>
          <p:nvPr/>
        </p:nvSpPr>
        <p:spPr>
          <a:xfrm>
            <a:off x="1069848" y="4370832"/>
            <a:ext cx="7406640" cy="548640"/>
          </a:xfrm>
          <a:prstGeom prst="rect">
            <a:avLst/>
          </a:prstGeom>
          <a:noFill/>
          <a:ln/>
        </p:spPr>
        <p:txBody>
          <a:bodyPr wrap="square" lIns="0" tIns="0" rIns="0" bIns="0" rtlCol="0" anchor="ctr"/>
          <a:lstStyle/>
          <a:p>
            <a:pPr marL="0" indent="0">
              <a:buNone/>
            </a:pPr>
            <a:r>
              <a:rPr lang="en-US" sz="1250" b="1" dirty="0">
                <a:solidFill>
                  <a:srgbClr val="AC7708"/>
                </a:solidFill>
                <a:latin typeface="Calibri" pitchFamily="34" charset="0"/>
                <a:ea typeface="Calibri" pitchFamily="34" charset="-122"/>
                <a:cs typeface="Calibri" pitchFamily="34" charset="-120"/>
              </a:rPr>
              <a:t>Stretch goal:  </a:t>
            </a:r>
            <a:r>
              <a:rPr lang="en-US" sz="1250" dirty="0">
                <a:solidFill>
                  <a:srgbClr val="353A45"/>
                </a:solidFill>
                <a:latin typeface="Calibri" pitchFamily="34" charset="0"/>
                <a:ea typeface="Calibri" pitchFamily="34" charset="-122"/>
                <a:cs typeface="Calibri" pitchFamily="34" charset="-120"/>
              </a:rPr>
              <a:t>Find the tag wrapping a photo. What's the attribute that points to the image file?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1874520"/>
            <a:ext cx="4572000" cy="320040"/>
          </a:xfrm>
          <a:prstGeom prst="rect">
            <a:avLst/>
          </a:prstGeom>
          <a:noFill/>
          <a:ln/>
        </p:spPr>
        <p:txBody>
          <a:bodyPr wrap="square" lIns="0" tIns="0" rIns="0" bIns="0" rtlCol="0" anchor="ctr"/>
          <a:lstStyle/>
          <a:p>
            <a:pPr marL="0" indent="0">
              <a:buNone/>
            </a:pPr>
            <a:r>
              <a:rPr lang="en-US" sz="1400" b="1" kern="0" spc="500" dirty="0">
                <a:solidFill>
                  <a:srgbClr val="E0A020"/>
                </a:solidFill>
                <a:latin typeface="Calibri" pitchFamily="34" charset="0"/>
                <a:ea typeface="Calibri" pitchFamily="34" charset="-122"/>
                <a:cs typeface="Calibri" pitchFamily="34" charset="-120"/>
              </a:rPr>
              <a:t>PART 2</a:t>
            </a:r>
            <a:endParaRPr lang="en-US" sz="1400" dirty="0"/>
          </a:p>
        </p:txBody>
      </p:sp>
      <p:sp>
        <p:nvSpPr>
          <p:cNvPr id="3" name="Text 1"/>
          <p:cNvSpPr/>
          <p:nvPr/>
        </p:nvSpPr>
        <p:spPr>
          <a:xfrm>
            <a:off x="502920" y="2240280"/>
            <a:ext cx="6949440" cy="1188720"/>
          </a:xfrm>
          <a:prstGeom prst="rect">
            <a:avLst/>
          </a:prstGeom>
          <a:noFill/>
          <a:ln/>
        </p:spPr>
        <p:txBody>
          <a:bodyPr wrap="square" lIns="0" tIns="0" rIns="0" bIns="0" rtlCol="0" anchor="ctr"/>
          <a:lstStyle/>
          <a:p>
            <a:pPr marL="0" indent="0">
              <a:lnSpc>
                <a:spcPct val="100000"/>
              </a:lnSpc>
              <a:buNone/>
            </a:pPr>
            <a:r>
              <a:rPr lang="en-US" sz="3800" b="1" dirty="0">
                <a:solidFill>
                  <a:srgbClr val="FFFFFF"/>
                </a:solidFill>
                <a:latin typeface="Bookman Old Style" pitchFamily="34" charset="0"/>
                <a:ea typeface="Bookman Old Style" pitchFamily="34" charset="-122"/>
                <a:cs typeface="Bookman Old Style" pitchFamily="34" charset="-120"/>
              </a:rPr>
              <a:t>How websites work</a:t>
            </a:r>
            <a:endParaRPr lang="en-US" sz="3800" dirty="0"/>
          </a:p>
        </p:txBody>
      </p:sp>
      <p:sp>
        <p:nvSpPr>
          <p:cNvPr id="4" name="Text 2"/>
          <p:cNvSpPr/>
          <p:nvPr/>
        </p:nvSpPr>
        <p:spPr>
          <a:xfrm>
            <a:off x="502920" y="3456432"/>
            <a:ext cx="6766560" cy="457200"/>
          </a:xfrm>
          <a:prstGeom prst="rect">
            <a:avLst/>
          </a:prstGeom>
          <a:noFill/>
          <a:ln/>
        </p:spPr>
        <p:txBody>
          <a:bodyPr wrap="square" lIns="0" tIns="0" rIns="0" bIns="0" rtlCol="0" anchor="ctr"/>
          <a:lstStyle/>
          <a:p>
            <a:pPr marL="0" indent="0">
              <a:buNone/>
            </a:pPr>
            <a:r>
              <a:rPr lang="en-US" sz="1500" i="1" dirty="0">
                <a:solidFill>
                  <a:srgbClr val="AAB0BB"/>
                </a:solidFill>
                <a:latin typeface="Calibri" pitchFamily="34" charset="0"/>
                <a:ea typeface="Calibri" pitchFamily="34" charset="-122"/>
                <a:cs typeface="Calibri" pitchFamily="34" charset="-120"/>
              </a:rPr>
              <a:t>What actually happens between clicking a link and seeing a page.</a:t>
            </a:r>
            <a:endParaRPr lang="en-US" sz="1500" dirty="0"/>
          </a:p>
        </p:txBody>
      </p:sp>
      <p:sp>
        <p:nvSpPr>
          <p:cNvPr id="5" name="Shape 3"/>
          <p:cNvSpPr/>
          <p:nvPr/>
        </p:nvSpPr>
        <p:spPr>
          <a:xfrm>
            <a:off x="7360920" y="1965960"/>
            <a:ext cx="1234440" cy="123444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726680" y="2331720"/>
            <a:ext cx="502920" cy="5029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CLICK A LINK — THEN WHAT?</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The journey of a page request</a:t>
            </a:r>
            <a:endParaRPr lang="en-US" sz="3300" dirty="0"/>
          </a:p>
        </p:txBody>
      </p:sp>
      <p:sp>
        <p:nvSpPr>
          <p:cNvPr id="4" name="Shape 2"/>
          <p:cNvSpPr/>
          <p:nvPr/>
        </p:nvSpPr>
        <p:spPr>
          <a:xfrm>
            <a:off x="502920" y="1874520"/>
            <a:ext cx="1874520" cy="2148840"/>
          </a:xfrm>
          <a:prstGeom prst="roundRect">
            <a:avLst>
              <a:gd name="adj" fmla="val 4390"/>
            </a:avLst>
          </a:prstGeom>
          <a:solidFill>
            <a:srgbClr val="F4F4F2"/>
          </a:solidFill>
          <a:ln/>
        </p:spPr>
        <p:txBody>
          <a:bodyPr/>
          <a:lstStyle/>
          <a:p>
            <a:endParaRPr lang="en-US"/>
          </a:p>
        </p:txBody>
      </p:sp>
      <p:sp>
        <p:nvSpPr>
          <p:cNvPr id="5" name="Shape 3"/>
          <p:cNvSpPr/>
          <p:nvPr/>
        </p:nvSpPr>
        <p:spPr>
          <a:xfrm>
            <a:off x="1138428" y="2112264"/>
            <a:ext cx="603504" cy="60350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1295339" y="2269175"/>
            <a:ext cx="289682" cy="289682"/>
          </a:xfrm>
          <a:prstGeom prst="rect">
            <a:avLst/>
          </a:prstGeom>
        </p:spPr>
      </p:pic>
      <p:sp>
        <p:nvSpPr>
          <p:cNvPr id="7" name="Text 4"/>
          <p:cNvSpPr/>
          <p:nvPr/>
        </p:nvSpPr>
        <p:spPr>
          <a:xfrm>
            <a:off x="612648" y="1984248"/>
            <a:ext cx="365760" cy="274320"/>
          </a:xfrm>
          <a:prstGeom prst="rect">
            <a:avLst/>
          </a:prstGeom>
          <a:noFill/>
          <a:ln/>
        </p:spPr>
        <p:txBody>
          <a:bodyPr wrap="square" lIns="0" tIns="0" rIns="0" bIns="0" rtlCol="0" anchor="ctr"/>
          <a:lstStyle/>
          <a:p>
            <a:pPr marL="0" indent="0">
              <a:buNone/>
            </a:pPr>
            <a:r>
              <a:rPr lang="en-US" sz="1500" b="1" dirty="0">
                <a:solidFill>
                  <a:srgbClr val="AC7708"/>
                </a:solidFill>
                <a:latin typeface="Bookman Old Style" pitchFamily="34" charset="0"/>
                <a:ea typeface="Bookman Old Style" pitchFamily="34" charset="-122"/>
                <a:cs typeface="Bookman Old Style" pitchFamily="34" charset="-120"/>
              </a:rPr>
              <a:t>1</a:t>
            </a:r>
            <a:endParaRPr lang="en-US" sz="1500" dirty="0"/>
          </a:p>
        </p:txBody>
      </p:sp>
      <p:sp>
        <p:nvSpPr>
          <p:cNvPr id="8" name="Text 5"/>
          <p:cNvSpPr/>
          <p:nvPr/>
        </p:nvSpPr>
        <p:spPr>
          <a:xfrm>
            <a:off x="594360" y="2843784"/>
            <a:ext cx="1691640" cy="320040"/>
          </a:xfrm>
          <a:prstGeom prst="rect">
            <a:avLst/>
          </a:prstGeom>
          <a:noFill/>
          <a:ln/>
        </p:spPr>
        <p:txBody>
          <a:bodyPr wrap="square" lIns="0" tIns="0" rIns="0" bIns="0" rtlCol="0" anchor="ctr"/>
          <a:lstStyle/>
          <a:p>
            <a:pPr marL="0" indent="0" algn="ctr">
              <a:buNone/>
            </a:pPr>
            <a:r>
              <a:rPr lang="en-US" sz="1550" b="1" dirty="0">
                <a:solidFill>
                  <a:srgbClr val="16181D"/>
                </a:solidFill>
                <a:latin typeface="Bookman Old Style" pitchFamily="34" charset="0"/>
                <a:ea typeface="Bookman Old Style" pitchFamily="34" charset="-122"/>
                <a:cs typeface="Bookman Old Style" pitchFamily="34" charset="-120"/>
              </a:rPr>
              <a:t>You ask</a:t>
            </a:r>
            <a:endParaRPr lang="en-US" sz="1550" dirty="0"/>
          </a:p>
        </p:txBody>
      </p:sp>
      <p:sp>
        <p:nvSpPr>
          <p:cNvPr id="9" name="Text 6"/>
          <p:cNvSpPr/>
          <p:nvPr/>
        </p:nvSpPr>
        <p:spPr>
          <a:xfrm>
            <a:off x="649224" y="3191256"/>
            <a:ext cx="1581912" cy="777240"/>
          </a:xfrm>
          <a:prstGeom prst="rect">
            <a:avLst/>
          </a:prstGeom>
          <a:noFill/>
          <a:ln/>
        </p:spPr>
        <p:txBody>
          <a:bodyPr wrap="square" lIns="0" tIns="0" rIns="0" bIns="0" rtlCol="0" anchor="ctr"/>
          <a:lstStyle/>
          <a:p>
            <a:pPr marL="0" indent="0" algn="ctr">
              <a:lnSpc>
                <a:spcPct val="100000"/>
              </a:lnSpc>
              <a:buNone/>
            </a:pPr>
            <a:r>
              <a:rPr lang="en-US" sz="1100" dirty="0">
                <a:solidFill>
                  <a:srgbClr val="353A45"/>
                </a:solidFill>
                <a:latin typeface="Calibri" pitchFamily="34" charset="0"/>
                <a:ea typeface="Calibri" pitchFamily="34" charset="-122"/>
                <a:cs typeface="Calibri" pitchFamily="34" charset="-120"/>
              </a:rPr>
              <a:t>You type a web address or click a link in your browser.</a:t>
            </a:r>
            <a:endParaRPr lang="en-US" sz="1100" dirty="0"/>
          </a:p>
        </p:txBody>
      </p:sp>
      <p:pic>
        <p:nvPicPr>
          <p:cNvPr id="10" name="Image 1" descr="preencoded.png"/>
          <p:cNvPicPr>
            <a:picLocks noChangeAspect="1"/>
          </p:cNvPicPr>
          <p:nvPr/>
        </p:nvPicPr>
        <p:blipFill>
          <a:blip r:embed="rId4"/>
          <a:stretch>
            <a:fillRect/>
          </a:stretch>
        </p:blipFill>
        <p:spPr>
          <a:xfrm>
            <a:off x="2427732" y="2743200"/>
            <a:ext cx="201168" cy="201168"/>
          </a:xfrm>
          <a:prstGeom prst="rect">
            <a:avLst/>
          </a:prstGeom>
        </p:spPr>
      </p:pic>
      <p:sp>
        <p:nvSpPr>
          <p:cNvPr id="11" name="Shape 7"/>
          <p:cNvSpPr/>
          <p:nvPr/>
        </p:nvSpPr>
        <p:spPr>
          <a:xfrm>
            <a:off x="2679192" y="1874520"/>
            <a:ext cx="1874520" cy="2148840"/>
          </a:xfrm>
          <a:prstGeom prst="roundRect">
            <a:avLst>
              <a:gd name="adj" fmla="val 4390"/>
            </a:avLst>
          </a:prstGeom>
          <a:solidFill>
            <a:srgbClr val="F4F4F2"/>
          </a:solidFill>
          <a:ln/>
        </p:spPr>
        <p:txBody>
          <a:bodyPr/>
          <a:lstStyle/>
          <a:p>
            <a:endParaRPr lang="en-US"/>
          </a:p>
        </p:txBody>
      </p:sp>
      <p:sp>
        <p:nvSpPr>
          <p:cNvPr id="12" name="Shape 8"/>
          <p:cNvSpPr/>
          <p:nvPr/>
        </p:nvSpPr>
        <p:spPr>
          <a:xfrm>
            <a:off x="3314700" y="2112264"/>
            <a:ext cx="603504" cy="60350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3471611" y="2269175"/>
            <a:ext cx="289682" cy="289682"/>
          </a:xfrm>
          <a:prstGeom prst="rect">
            <a:avLst/>
          </a:prstGeom>
        </p:spPr>
      </p:pic>
      <p:sp>
        <p:nvSpPr>
          <p:cNvPr id="14" name="Text 9"/>
          <p:cNvSpPr/>
          <p:nvPr/>
        </p:nvSpPr>
        <p:spPr>
          <a:xfrm>
            <a:off x="2788920" y="1984248"/>
            <a:ext cx="365760" cy="274320"/>
          </a:xfrm>
          <a:prstGeom prst="rect">
            <a:avLst/>
          </a:prstGeom>
          <a:noFill/>
          <a:ln/>
        </p:spPr>
        <p:txBody>
          <a:bodyPr wrap="square" lIns="0" tIns="0" rIns="0" bIns="0" rtlCol="0" anchor="ctr"/>
          <a:lstStyle/>
          <a:p>
            <a:pPr marL="0" indent="0">
              <a:buNone/>
            </a:pPr>
            <a:r>
              <a:rPr lang="en-US" sz="1500" b="1" dirty="0">
                <a:solidFill>
                  <a:srgbClr val="AC7708"/>
                </a:solidFill>
                <a:latin typeface="Bookman Old Style" pitchFamily="34" charset="0"/>
                <a:ea typeface="Bookman Old Style" pitchFamily="34" charset="-122"/>
                <a:cs typeface="Bookman Old Style" pitchFamily="34" charset="-120"/>
              </a:rPr>
              <a:t>2</a:t>
            </a:r>
            <a:endParaRPr lang="en-US" sz="1500" dirty="0"/>
          </a:p>
        </p:txBody>
      </p:sp>
      <p:sp>
        <p:nvSpPr>
          <p:cNvPr id="15" name="Text 10"/>
          <p:cNvSpPr/>
          <p:nvPr/>
        </p:nvSpPr>
        <p:spPr>
          <a:xfrm>
            <a:off x="2770632" y="2843784"/>
            <a:ext cx="1691640" cy="320040"/>
          </a:xfrm>
          <a:prstGeom prst="rect">
            <a:avLst/>
          </a:prstGeom>
          <a:noFill/>
          <a:ln/>
        </p:spPr>
        <p:txBody>
          <a:bodyPr wrap="square" lIns="0" tIns="0" rIns="0" bIns="0" rtlCol="0" anchor="ctr"/>
          <a:lstStyle/>
          <a:p>
            <a:pPr marL="0" indent="0" algn="ctr">
              <a:buNone/>
            </a:pPr>
            <a:r>
              <a:rPr lang="en-US" sz="1550" b="1" dirty="0">
                <a:solidFill>
                  <a:srgbClr val="16181D"/>
                </a:solidFill>
                <a:latin typeface="Bookman Old Style" pitchFamily="34" charset="0"/>
                <a:ea typeface="Bookman Old Style" pitchFamily="34" charset="-122"/>
                <a:cs typeface="Bookman Old Style" pitchFamily="34" charset="-120"/>
              </a:rPr>
              <a:t>The web finds it</a:t>
            </a:r>
            <a:endParaRPr lang="en-US" sz="1550" dirty="0"/>
          </a:p>
        </p:txBody>
      </p:sp>
      <p:sp>
        <p:nvSpPr>
          <p:cNvPr id="16" name="Text 11"/>
          <p:cNvSpPr/>
          <p:nvPr/>
        </p:nvSpPr>
        <p:spPr>
          <a:xfrm>
            <a:off x="2825496" y="3191256"/>
            <a:ext cx="1581912" cy="777240"/>
          </a:xfrm>
          <a:prstGeom prst="rect">
            <a:avLst/>
          </a:prstGeom>
          <a:noFill/>
          <a:ln/>
        </p:spPr>
        <p:txBody>
          <a:bodyPr wrap="square" lIns="0" tIns="0" rIns="0" bIns="0" rtlCol="0" anchor="ctr"/>
          <a:lstStyle/>
          <a:p>
            <a:pPr marL="0" indent="0" algn="ctr">
              <a:lnSpc>
                <a:spcPct val="100000"/>
              </a:lnSpc>
              <a:buNone/>
            </a:pPr>
            <a:r>
              <a:rPr lang="en-US" sz="1100" dirty="0">
                <a:solidFill>
                  <a:srgbClr val="353A45"/>
                </a:solidFill>
                <a:latin typeface="Calibri" pitchFamily="34" charset="0"/>
                <a:ea typeface="Calibri" pitchFamily="34" charset="-122"/>
                <a:cs typeface="Calibri" pitchFamily="34" charset="-120"/>
              </a:rPr>
              <a:t>Your request is routed to look up where that site lives.</a:t>
            </a:r>
            <a:endParaRPr lang="en-US" sz="1100" dirty="0"/>
          </a:p>
        </p:txBody>
      </p:sp>
      <p:pic>
        <p:nvPicPr>
          <p:cNvPr id="17" name="Image 3" descr="preencoded.png"/>
          <p:cNvPicPr>
            <a:picLocks noChangeAspect="1"/>
          </p:cNvPicPr>
          <p:nvPr/>
        </p:nvPicPr>
        <p:blipFill>
          <a:blip r:embed="rId4"/>
          <a:stretch>
            <a:fillRect/>
          </a:stretch>
        </p:blipFill>
        <p:spPr>
          <a:xfrm>
            <a:off x="4604004" y="2743200"/>
            <a:ext cx="201168" cy="201168"/>
          </a:xfrm>
          <a:prstGeom prst="rect">
            <a:avLst/>
          </a:prstGeom>
        </p:spPr>
      </p:pic>
      <p:sp>
        <p:nvSpPr>
          <p:cNvPr id="18" name="Shape 12"/>
          <p:cNvSpPr/>
          <p:nvPr/>
        </p:nvSpPr>
        <p:spPr>
          <a:xfrm>
            <a:off x="4855464" y="1874520"/>
            <a:ext cx="1874520" cy="2148840"/>
          </a:xfrm>
          <a:prstGeom prst="roundRect">
            <a:avLst>
              <a:gd name="adj" fmla="val 4390"/>
            </a:avLst>
          </a:prstGeom>
          <a:solidFill>
            <a:srgbClr val="F4F4F2"/>
          </a:solidFill>
          <a:ln/>
        </p:spPr>
        <p:txBody>
          <a:bodyPr/>
          <a:lstStyle/>
          <a:p>
            <a:endParaRPr lang="en-US"/>
          </a:p>
        </p:txBody>
      </p:sp>
      <p:sp>
        <p:nvSpPr>
          <p:cNvPr id="19" name="Shape 13"/>
          <p:cNvSpPr/>
          <p:nvPr/>
        </p:nvSpPr>
        <p:spPr>
          <a:xfrm>
            <a:off x="5490972" y="2112264"/>
            <a:ext cx="603504" cy="60350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20" name="Image 4" descr="preencoded.png"/>
          <p:cNvPicPr>
            <a:picLocks noChangeAspect="1"/>
          </p:cNvPicPr>
          <p:nvPr/>
        </p:nvPicPr>
        <p:blipFill>
          <a:blip r:embed="rId6"/>
          <a:stretch>
            <a:fillRect/>
          </a:stretch>
        </p:blipFill>
        <p:spPr>
          <a:xfrm>
            <a:off x="5647883" y="2269175"/>
            <a:ext cx="289682" cy="289682"/>
          </a:xfrm>
          <a:prstGeom prst="rect">
            <a:avLst/>
          </a:prstGeom>
        </p:spPr>
      </p:pic>
      <p:sp>
        <p:nvSpPr>
          <p:cNvPr id="21" name="Text 14"/>
          <p:cNvSpPr/>
          <p:nvPr/>
        </p:nvSpPr>
        <p:spPr>
          <a:xfrm>
            <a:off x="4965192" y="1984248"/>
            <a:ext cx="365760" cy="274320"/>
          </a:xfrm>
          <a:prstGeom prst="rect">
            <a:avLst/>
          </a:prstGeom>
          <a:noFill/>
          <a:ln/>
        </p:spPr>
        <p:txBody>
          <a:bodyPr wrap="square" lIns="0" tIns="0" rIns="0" bIns="0" rtlCol="0" anchor="ctr"/>
          <a:lstStyle/>
          <a:p>
            <a:pPr marL="0" indent="0">
              <a:buNone/>
            </a:pPr>
            <a:r>
              <a:rPr lang="en-US" sz="1500" b="1" dirty="0">
                <a:solidFill>
                  <a:srgbClr val="AC7708"/>
                </a:solidFill>
                <a:latin typeface="Bookman Old Style" pitchFamily="34" charset="0"/>
                <a:ea typeface="Bookman Old Style" pitchFamily="34" charset="-122"/>
                <a:cs typeface="Bookman Old Style" pitchFamily="34" charset="-120"/>
              </a:rPr>
              <a:t>3</a:t>
            </a:r>
            <a:endParaRPr lang="en-US" sz="1500" dirty="0"/>
          </a:p>
        </p:txBody>
      </p:sp>
      <p:sp>
        <p:nvSpPr>
          <p:cNvPr id="22" name="Text 15"/>
          <p:cNvSpPr/>
          <p:nvPr/>
        </p:nvSpPr>
        <p:spPr>
          <a:xfrm>
            <a:off x="4946904" y="2843784"/>
            <a:ext cx="1691640" cy="320040"/>
          </a:xfrm>
          <a:prstGeom prst="rect">
            <a:avLst/>
          </a:prstGeom>
          <a:noFill/>
          <a:ln/>
        </p:spPr>
        <p:txBody>
          <a:bodyPr wrap="square" lIns="0" tIns="0" rIns="0" bIns="0" rtlCol="0" anchor="ctr"/>
          <a:lstStyle/>
          <a:p>
            <a:pPr marL="0" indent="0" algn="ctr">
              <a:buNone/>
            </a:pPr>
            <a:r>
              <a:rPr lang="en-US" sz="1550" b="1" dirty="0">
                <a:solidFill>
                  <a:srgbClr val="16181D"/>
                </a:solidFill>
                <a:latin typeface="Bookman Old Style" pitchFamily="34" charset="0"/>
                <a:ea typeface="Bookman Old Style" pitchFamily="34" charset="-122"/>
                <a:cs typeface="Bookman Old Style" pitchFamily="34" charset="-120"/>
              </a:rPr>
              <a:t>A server answers</a:t>
            </a:r>
            <a:endParaRPr lang="en-US" sz="1550" dirty="0"/>
          </a:p>
        </p:txBody>
      </p:sp>
      <p:sp>
        <p:nvSpPr>
          <p:cNvPr id="23" name="Text 16"/>
          <p:cNvSpPr/>
          <p:nvPr/>
        </p:nvSpPr>
        <p:spPr>
          <a:xfrm>
            <a:off x="5001768" y="3191256"/>
            <a:ext cx="1581912" cy="777240"/>
          </a:xfrm>
          <a:prstGeom prst="rect">
            <a:avLst/>
          </a:prstGeom>
          <a:noFill/>
          <a:ln/>
        </p:spPr>
        <p:txBody>
          <a:bodyPr wrap="square" lIns="0" tIns="0" rIns="0" bIns="0" rtlCol="0" anchor="ctr"/>
          <a:lstStyle/>
          <a:p>
            <a:pPr marL="0" indent="0" algn="ctr">
              <a:lnSpc>
                <a:spcPct val="100000"/>
              </a:lnSpc>
              <a:buNone/>
            </a:pPr>
            <a:r>
              <a:rPr lang="en-US" sz="1100" dirty="0">
                <a:solidFill>
                  <a:srgbClr val="353A45"/>
                </a:solidFill>
                <a:latin typeface="Calibri" pitchFamily="34" charset="0"/>
                <a:ea typeface="Calibri" pitchFamily="34" charset="-122"/>
                <a:cs typeface="Calibri" pitchFamily="34" charset="-120"/>
              </a:rPr>
              <a:t>A computer far away sends back the site's files.</a:t>
            </a:r>
            <a:endParaRPr lang="en-US" sz="1100" dirty="0"/>
          </a:p>
        </p:txBody>
      </p:sp>
      <p:pic>
        <p:nvPicPr>
          <p:cNvPr id="24" name="Image 5" descr="preencoded.png"/>
          <p:cNvPicPr>
            <a:picLocks noChangeAspect="1"/>
          </p:cNvPicPr>
          <p:nvPr/>
        </p:nvPicPr>
        <p:blipFill>
          <a:blip r:embed="rId4"/>
          <a:stretch>
            <a:fillRect/>
          </a:stretch>
        </p:blipFill>
        <p:spPr>
          <a:xfrm>
            <a:off x="6780276" y="2743200"/>
            <a:ext cx="201168" cy="201168"/>
          </a:xfrm>
          <a:prstGeom prst="rect">
            <a:avLst/>
          </a:prstGeom>
        </p:spPr>
      </p:pic>
      <p:sp>
        <p:nvSpPr>
          <p:cNvPr id="25" name="Shape 17"/>
          <p:cNvSpPr/>
          <p:nvPr/>
        </p:nvSpPr>
        <p:spPr>
          <a:xfrm>
            <a:off x="7031736" y="1874520"/>
            <a:ext cx="1874520" cy="2148840"/>
          </a:xfrm>
          <a:prstGeom prst="roundRect">
            <a:avLst>
              <a:gd name="adj" fmla="val 4390"/>
            </a:avLst>
          </a:prstGeom>
          <a:solidFill>
            <a:srgbClr val="FBF2DC"/>
          </a:solidFill>
          <a:ln/>
          <a:effectLst>
            <a:outerShdw blurRad="88900" dist="38100" dir="5400000" algn="bl" rotWithShape="0">
              <a:srgbClr val="000000">
                <a:alpha val="10000"/>
              </a:srgbClr>
            </a:outerShdw>
          </a:effectLst>
        </p:spPr>
        <p:txBody>
          <a:bodyPr/>
          <a:lstStyle/>
          <a:p>
            <a:endParaRPr lang="en-US"/>
          </a:p>
        </p:txBody>
      </p:sp>
      <p:sp>
        <p:nvSpPr>
          <p:cNvPr id="26" name="Shape 18"/>
          <p:cNvSpPr/>
          <p:nvPr/>
        </p:nvSpPr>
        <p:spPr>
          <a:xfrm>
            <a:off x="7667244" y="2112264"/>
            <a:ext cx="603504" cy="60350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27" name="Image 6" descr="preencoded.png"/>
          <p:cNvPicPr>
            <a:picLocks noChangeAspect="1"/>
          </p:cNvPicPr>
          <p:nvPr/>
        </p:nvPicPr>
        <p:blipFill>
          <a:blip r:embed="rId7"/>
          <a:stretch>
            <a:fillRect/>
          </a:stretch>
        </p:blipFill>
        <p:spPr>
          <a:xfrm>
            <a:off x="7824155" y="2269175"/>
            <a:ext cx="289682" cy="289682"/>
          </a:xfrm>
          <a:prstGeom prst="rect">
            <a:avLst/>
          </a:prstGeom>
        </p:spPr>
      </p:pic>
      <p:sp>
        <p:nvSpPr>
          <p:cNvPr id="28" name="Text 19"/>
          <p:cNvSpPr/>
          <p:nvPr/>
        </p:nvSpPr>
        <p:spPr>
          <a:xfrm>
            <a:off x="7141464" y="1984248"/>
            <a:ext cx="365760" cy="274320"/>
          </a:xfrm>
          <a:prstGeom prst="rect">
            <a:avLst/>
          </a:prstGeom>
          <a:noFill/>
          <a:ln/>
        </p:spPr>
        <p:txBody>
          <a:bodyPr wrap="square" lIns="0" tIns="0" rIns="0" bIns="0" rtlCol="0" anchor="ctr"/>
          <a:lstStyle/>
          <a:p>
            <a:pPr marL="0" indent="0">
              <a:buNone/>
            </a:pPr>
            <a:r>
              <a:rPr lang="en-US" sz="1500" b="1" dirty="0">
                <a:solidFill>
                  <a:srgbClr val="AC7708"/>
                </a:solidFill>
                <a:latin typeface="Bookman Old Style" pitchFamily="34" charset="0"/>
                <a:ea typeface="Bookman Old Style" pitchFamily="34" charset="-122"/>
                <a:cs typeface="Bookman Old Style" pitchFamily="34" charset="-120"/>
              </a:rPr>
              <a:t>4</a:t>
            </a:r>
            <a:endParaRPr lang="en-US" sz="1500" dirty="0"/>
          </a:p>
        </p:txBody>
      </p:sp>
      <p:sp>
        <p:nvSpPr>
          <p:cNvPr id="29" name="Text 20"/>
          <p:cNvSpPr/>
          <p:nvPr/>
        </p:nvSpPr>
        <p:spPr>
          <a:xfrm>
            <a:off x="7123176" y="2843784"/>
            <a:ext cx="1691640" cy="320040"/>
          </a:xfrm>
          <a:prstGeom prst="rect">
            <a:avLst/>
          </a:prstGeom>
          <a:noFill/>
          <a:ln/>
        </p:spPr>
        <p:txBody>
          <a:bodyPr wrap="square" lIns="0" tIns="0" rIns="0" bIns="0" rtlCol="0" anchor="ctr"/>
          <a:lstStyle/>
          <a:p>
            <a:pPr marL="0" indent="0" algn="ctr">
              <a:buNone/>
            </a:pPr>
            <a:r>
              <a:rPr lang="en-US" sz="1550" b="1" dirty="0">
                <a:solidFill>
                  <a:srgbClr val="16181D"/>
                </a:solidFill>
                <a:latin typeface="Bookman Old Style" pitchFamily="34" charset="0"/>
                <a:ea typeface="Bookman Old Style" pitchFamily="34" charset="-122"/>
                <a:cs typeface="Bookman Old Style" pitchFamily="34" charset="-120"/>
              </a:rPr>
              <a:t>Your browser draws</a:t>
            </a:r>
            <a:endParaRPr lang="en-US" sz="1550" dirty="0"/>
          </a:p>
        </p:txBody>
      </p:sp>
      <p:sp>
        <p:nvSpPr>
          <p:cNvPr id="30" name="Text 21"/>
          <p:cNvSpPr/>
          <p:nvPr/>
        </p:nvSpPr>
        <p:spPr>
          <a:xfrm>
            <a:off x="7178040" y="3191256"/>
            <a:ext cx="1581912" cy="777240"/>
          </a:xfrm>
          <a:prstGeom prst="rect">
            <a:avLst/>
          </a:prstGeom>
          <a:noFill/>
          <a:ln/>
        </p:spPr>
        <p:txBody>
          <a:bodyPr wrap="square" lIns="0" tIns="0" rIns="0" bIns="0" rtlCol="0" anchor="ctr"/>
          <a:lstStyle/>
          <a:p>
            <a:pPr marL="0" indent="0" algn="ctr">
              <a:lnSpc>
                <a:spcPct val="100000"/>
              </a:lnSpc>
              <a:buNone/>
            </a:pPr>
            <a:r>
              <a:rPr lang="en-US" sz="1100" dirty="0">
                <a:solidFill>
                  <a:srgbClr val="353A45"/>
                </a:solidFill>
                <a:latin typeface="Calibri" pitchFamily="34" charset="0"/>
                <a:ea typeface="Calibri" pitchFamily="34" charset="-122"/>
                <a:cs typeface="Calibri" pitchFamily="34" charset="-120"/>
              </a:rPr>
              <a:t>Your computer reads the code and paints the page you see.</a:t>
            </a:r>
            <a:endParaRPr lang="en-US" sz="1100" dirty="0"/>
          </a:p>
        </p:txBody>
      </p:sp>
      <p:sp>
        <p:nvSpPr>
          <p:cNvPr id="31" name="Shape 22"/>
          <p:cNvSpPr/>
          <p:nvPr/>
        </p:nvSpPr>
        <p:spPr>
          <a:xfrm>
            <a:off x="502920" y="4224528"/>
            <a:ext cx="8138160" cy="603504"/>
          </a:xfrm>
          <a:prstGeom prst="roundRect">
            <a:avLst>
              <a:gd name="adj" fmla="val 12121"/>
            </a:avLst>
          </a:prstGeom>
          <a:solidFill>
            <a:srgbClr val="16181D"/>
          </a:solidFill>
          <a:ln/>
        </p:spPr>
        <p:txBody>
          <a:bodyPr/>
          <a:lstStyle/>
          <a:p>
            <a:endParaRPr lang="en-US"/>
          </a:p>
        </p:txBody>
      </p:sp>
      <p:sp>
        <p:nvSpPr>
          <p:cNvPr id="32" name="Text 23"/>
          <p:cNvSpPr/>
          <p:nvPr/>
        </p:nvSpPr>
        <p:spPr>
          <a:xfrm>
            <a:off x="777240" y="4224528"/>
            <a:ext cx="7589520" cy="603504"/>
          </a:xfrm>
          <a:prstGeom prst="rect">
            <a:avLst/>
          </a:prstGeom>
          <a:noFill/>
          <a:ln/>
        </p:spPr>
        <p:txBody>
          <a:bodyPr wrap="square" lIns="0" tIns="0" rIns="0" bIns="0" rtlCol="0" anchor="ctr"/>
          <a:lstStyle/>
          <a:p>
            <a:pPr marL="0" indent="0">
              <a:buNone/>
            </a:pPr>
            <a:r>
              <a:rPr lang="en-US" sz="1350" dirty="0">
                <a:solidFill>
                  <a:srgbClr val="E9EAEC"/>
                </a:solidFill>
                <a:latin typeface="Calibri" pitchFamily="34" charset="0"/>
                <a:ea typeface="Calibri" pitchFamily="34" charset="-122"/>
                <a:cs typeface="Calibri" pitchFamily="34" charset="-120"/>
              </a:rPr>
              <a:t>The whole trip takes </a:t>
            </a:r>
            <a:r>
              <a:rPr lang="en-US" sz="1350" b="1" dirty="0">
                <a:solidFill>
                  <a:srgbClr val="E0A020"/>
                </a:solidFill>
                <a:latin typeface="Calibri" pitchFamily="34" charset="0"/>
                <a:ea typeface="Calibri" pitchFamily="34" charset="-122"/>
                <a:cs typeface="Calibri" pitchFamily="34" charset="-120"/>
              </a:rPr>
              <a:t>a fraction of a second</a:t>
            </a:r>
            <a:r>
              <a:rPr lang="en-US" sz="1350" dirty="0">
                <a:solidFill>
                  <a:srgbClr val="E9EAEC"/>
                </a:solidFill>
                <a:latin typeface="Calibri" pitchFamily="34" charset="0"/>
                <a:ea typeface="Calibri" pitchFamily="34" charset="-122"/>
                <a:cs typeface="Calibri" pitchFamily="34" charset="-120"/>
              </a:rPr>
              <a:t> — and it happens every single time a page loads.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THE REFRAME THAT UNLOCKS EVERYTHING</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A website is just files a browser draws</a:t>
            </a:r>
            <a:endParaRPr lang="en-US" sz="3300" dirty="0"/>
          </a:p>
        </p:txBody>
      </p:sp>
      <p:sp>
        <p:nvSpPr>
          <p:cNvPr id="4" name="Text 2"/>
          <p:cNvSpPr/>
          <p:nvPr/>
        </p:nvSpPr>
        <p:spPr>
          <a:xfrm>
            <a:off x="502920" y="1645920"/>
            <a:ext cx="8138160" cy="548640"/>
          </a:xfrm>
          <a:prstGeom prst="rect">
            <a:avLst/>
          </a:prstGeom>
          <a:noFill/>
          <a:ln/>
        </p:spPr>
        <p:txBody>
          <a:bodyPr wrap="square" lIns="0" tIns="0" rIns="0" bIns="0" rtlCol="0" anchor="ctr"/>
          <a:lstStyle/>
          <a:p>
            <a:pPr marL="0" indent="0">
              <a:lnSpc>
                <a:spcPct val="100000"/>
              </a:lnSpc>
              <a:buNone/>
            </a:pPr>
            <a:r>
              <a:rPr lang="en-US" sz="1900" dirty="0">
                <a:solidFill>
                  <a:srgbClr val="353A45"/>
                </a:solidFill>
                <a:latin typeface="Bookman Old Style" pitchFamily="34" charset="0"/>
                <a:ea typeface="Bookman Old Style" pitchFamily="34" charset="-122"/>
                <a:cs typeface="Bookman Old Style" pitchFamily="34" charset="-120"/>
              </a:rPr>
              <a:t>HTML, CSS, and JavaScript are </a:t>
            </a:r>
            <a:r>
              <a:rPr lang="en-US" sz="1900" b="1" dirty="0">
                <a:solidFill>
                  <a:srgbClr val="16181D"/>
                </a:solidFill>
                <a:latin typeface="Bookman Old Style" pitchFamily="34" charset="0"/>
                <a:ea typeface="Bookman Old Style" pitchFamily="34" charset="-122"/>
                <a:cs typeface="Bookman Old Style" pitchFamily="34" charset="-120"/>
              </a:rPr>
              <a:t>instructions for your computer to draw a website.</a:t>
            </a:r>
            <a:endParaRPr lang="en-US" sz="1900" dirty="0"/>
          </a:p>
        </p:txBody>
      </p:sp>
      <p:sp>
        <p:nvSpPr>
          <p:cNvPr id="5" name="Shape 3"/>
          <p:cNvSpPr/>
          <p:nvPr/>
        </p:nvSpPr>
        <p:spPr>
          <a:xfrm>
            <a:off x="502920" y="2423160"/>
            <a:ext cx="8138160" cy="713232"/>
          </a:xfrm>
          <a:prstGeom prst="roundRect">
            <a:avLst>
              <a:gd name="adj" fmla="val 8974"/>
            </a:avLst>
          </a:prstGeom>
          <a:solidFill>
            <a:srgbClr val="F4F4F2"/>
          </a:solidFill>
          <a:ln/>
        </p:spPr>
        <p:txBody>
          <a:bodyPr/>
          <a:lstStyle/>
          <a:p>
            <a:endParaRPr lang="en-US"/>
          </a:p>
        </p:txBody>
      </p:sp>
      <p:sp>
        <p:nvSpPr>
          <p:cNvPr id="6" name="Shape 4"/>
          <p:cNvSpPr/>
          <p:nvPr/>
        </p:nvSpPr>
        <p:spPr>
          <a:xfrm>
            <a:off x="704088" y="2569464"/>
            <a:ext cx="438912" cy="438912"/>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818205" y="2683581"/>
            <a:ext cx="210678" cy="210678"/>
          </a:xfrm>
          <a:prstGeom prst="rect">
            <a:avLst/>
          </a:prstGeom>
        </p:spPr>
      </p:pic>
      <p:sp>
        <p:nvSpPr>
          <p:cNvPr id="8" name="Text 5"/>
          <p:cNvSpPr/>
          <p:nvPr/>
        </p:nvSpPr>
        <p:spPr>
          <a:xfrm>
            <a:off x="1289304" y="2478024"/>
            <a:ext cx="7132320" cy="603504"/>
          </a:xfrm>
          <a:prstGeom prst="rect">
            <a:avLst/>
          </a:prstGeom>
          <a:noFill/>
          <a:ln/>
        </p:spPr>
        <p:txBody>
          <a:bodyPr wrap="square" lIns="0" tIns="0" rIns="0" bIns="0" rtlCol="0" anchor="ctr"/>
          <a:lstStyle/>
          <a:p>
            <a:pPr marL="0" indent="0">
              <a:lnSpc>
                <a:spcPct val="102000"/>
              </a:lnSpc>
              <a:buNone/>
            </a:pPr>
            <a:r>
              <a:rPr lang="en-US" sz="1250" b="1" dirty="0">
                <a:solidFill>
                  <a:srgbClr val="16181D"/>
                </a:solidFill>
                <a:latin typeface="Calibri" pitchFamily="34" charset="0"/>
                <a:ea typeface="Calibri" pitchFamily="34" charset="-122"/>
                <a:cs typeface="Calibri" pitchFamily="34" charset="-120"/>
              </a:rPr>
              <a:t>The server just hands over the code   </a:t>
            </a:r>
            <a:r>
              <a:rPr lang="en-US" sz="1250" dirty="0">
                <a:solidFill>
                  <a:srgbClr val="353A45"/>
                </a:solidFill>
                <a:latin typeface="Calibri" pitchFamily="34" charset="0"/>
                <a:ea typeface="Calibri" pitchFamily="34" charset="-122"/>
                <a:cs typeface="Calibri" pitchFamily="34" charset="-120"/>
              </a:rPr>
              <a:t>It doesn't send a finished picture — it sends the instructions, and your browser does the drawing.</a:t>
            </a:r>
            <a:endParaRPr lang="en-US" sz="1250" dirty="0"/>
          </a:p>
        </p:txBody>
      </p:sp>
      <p:sp>
        <p:nvSpPr>
          <p:cNvPr id="9" name="Shape 6"/>
          <p:cNvSpPr/>
          <p:nvPr/>
        </p:nvSpPr>
        <p:spPr>
          <a:xfrm>
            <a:off x="502920" y="3246120"/>
            <a:ext cx="8138160" cy="713232"/>
          </a:xfrm>
          <a:prstGeom prst="roundRect">
            <a:avLst>
              <a:gd name="adj" fmla="val 8974"/>
            </a:avLst>
          </a:prstGeom>
          <a:solidFill>
            <a:srgbClr val="F4F4F2"/>
          </a:solidFill>
          <a:ln/>
        </p:spPr>
        <p:txBody>
          <a:bodyPr/>
          <a:lstStyle/>
          <a:p>
            <a:endParaRPr lang="en-US"/>
          </a:p>
        </p:txBody>
      </p:sp>
      <p:sp>
        <p:nvSpPr>
          <p:cNvPr id="10" name="Shape 7"/>
          <p:cNvSpPr/>
          <p:nvPr/>
        </p:nvSpPr>
        <p:spPr>
          <a:xfrm>
            <a:off x="704088" y="3392424"/>
            <a:ext cx="438912" cy="438912"/>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818205" y="3506541"/>
            <a:ext cx="210678" cy="210678"/>
          </a:xfrm>
          <a:prstGeom prst="rect">
            <a:avLst/>
          </a:prstGeom>
        </p:spPr>
      </p:pic>
      <p:sp>
        <p:nvSpPr>
          <p:cNvPr id="12" name="Text 8"/>
          <p:cNvSpPr/>
          <p:nvPr/>
        </p:nvSpPr>
        <p:spPr>
          <a:xfrm>
            <a:off x="1289304" y="3300984"/>
            <a:ext cx="7132320" cy="603504"/>
          </a:xfrm>
          <a:prstGeom prst="rect">
            <a:avLst/>
          </a:prstGeom>
          <a:noFill/>
          <a:ln/>
        </p:spPr>
        <p:txBody>
          <a:bodyPr wrap="square" lIns="0" tIns="0" rIns="0" bIns="0" rtlCol="0" anchor="ctr"/>
          <a:lstStyle/>
          <a:p>
            <a:pPr marL="0" indent="0">
              <a:lnSpc>
                <a:spcPct val="102000"/>
              </a:lnSpc>
              <a:buNone/>
            </a:pPr>
            <a:r>
              <a:rPr lang="en-US" sz="1250" b="1" dirty="0">
                <a:solidFill>
                  <a:srgbClr val="16181D"/>
                </a:solidFill>
                <a:latin typeface="Calibri" pitchFamily="34" charset="0"/>
                <a:ea typeface="Calibri" pitchFamily="34" charset="-122"/>
                <a:cs typeface="Calibri" pitchFamily="34" charset="-120"/>
              </a:rPr>
              <a:t>That's why you can always read it   </a:t>
            </a:r>
            <a:r>
              <a:rPr lang="en-US" sz="1250" dirty="0">
                <a:solidFill>
                  <a:srgbClr val="353A45"/>
                </a:solidFill>
                <a:latin typeface="Calibri" pitchFamily="34" charset="0"/>
                <a:ea typeface="Calibri" pitchFamily="34" charset="-122"/>
                <a:cs typeface="Calibri" pitchFamily="34" charset="-120"/>
              </a:rPr>
              <a:t>The code arrives on your machine, so any page's structure is yours to inspect (like the safari).</a:t>
            </a:r>
            <a:endParaRPr lang="en-US" sz="1250" dirty="0"/>
          </a:p>
        </p:txBody>
      </p:sp>
      <p:sp>
        <p:nvSpPr>
          <p:cNvPr id="13" name="Shape 9"/>
          <p:cNvSpPr/>
          <p:nvPr/>
        </p:nvSpPr>
        <p:spPr>
          <a:xfrm>
            <a:off x="502920" y="4069080"/>
            <a:ext cx="8138160" cy="713232"/>
          </a:xfrm>
          <a:prstGeom prst="roundRect">
            <a:avLst>
              <a:gd name="adj" fmla="val 8974"/>
            </a:avLst>
          </a:prstGeom>
          <a:solidFill>
            <a:srgbClr val="F4F4F2"/>
          </a:solidFill>
          <a:ln/>
        </p:spPr>
        <p:txBody>
          <a:bodyPr/>
          <a:lstStyle/>
          <a:p>
            <a:endParaRPr lang="en-US"/>
          </a:p>
        </p:txBody>
      </p:sp>
      <p:sp>
        <p:nvSpPr>
          <p:cNvPr id="14" name="Shape 10"/>
          <p:cNvSpPr/>
          <p:nvPr/>
        </p:nvSpPr>
        <p:spPr>
          <a:xfrm>
            <a:off x="704088" y="4215384"/>
            <a:ext cx="438912" cy="438912"/>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5" name="Image 2" descr="preencoded.png"/>
          <p:cNvPicPr>
            <a:picLocks noChangeAspect="1"/>
          </p:cNvPicPr>
          <p:nvPr/>
        </p:nvPicPr>
        <p:blipFill>
          <a:blip r:embed="rId5"/>
          <a:stretch>
            <a:fillRect/>
          </a:stretch>
        </p:blipFill>
        <p:spPr>
          <a:xfrm>
            <a:off x="818205" y="4329501"/>
            <a:ext cx="210678" cy="210678"/>
          </a:xfrm>
          <a:prstGeom prst="rect">
            <a:avLst/>
          </a:prstGeom>
        </p:spPr>
      </p:pic>
      <p:sp>
        <p:nvSpPr>
          <p:cNvPr id="16" name="Text 11"/>
          <p:cNvSpPr/>
          <p:nvPr/>
        </p:nvSpPr>
        <p:spPr>
          <a:xfrm>
            <a:off x="1289304" y="4123944"/>
            <a:ext cx="7132320" cy="603504"/>
          </a:xfrm>
          <a:prstGeom prst="rect">
            <a:avLst/>
          </a:prstGeom>
          <a:noFill/>
          <a:ln/>
        </p:spPr>
        <p:txBody>
          <a:bodyPr wrap="square" lIns="0" tIns="0" rIns="0" bIns="0" rtlCol="0" anchor="ctr"/>
          <a:lstStyle/>
          <a:p>
            <a:pPr marL="0" indent="0">
              <a:lnSpc>
                <a:spcPct val="102000"/>
              </a:lnSpc>
              <a:buNone/>
            </a:pPr>
            <a:r>
              <a:rPr lang="en-US" sz="1250" b="1" dirty="0">
                <a:solidFill>
                  <a:srgbClr val="16181D"/>
                </a:solidFill>
                <a:latin typeface="Calibri" pitchFamily="34" charset="0"/>
                <a:ea typeface="Calibri" pitchFamily="34" charset="-122"/>
                <a:cs typeface="Calibri" pitchFamily="34" charset="-120"/>
              </a:rPr>
              <a:t>And why what you build is portable   </a:t>
            </a:r>
            <a:r>
              <a:rPr lang="en-US" sz="1250" dirty="0">
                <a:solidFill>
                  <a:srgbClr val="353A45"/>
                </a:solidFill>
                <a:latin typeface="Calibri" pitchFamily="34" charset="0"/>
                <a:ea typeface="Calibri" pitchFamily="34" charset="-122"/>
                <a:cs typeface="Calibri" pitchFamily="34" charset="-120"/>
              </a:rPr>
              <a:t>Your page is a plain file. Put it anywhere a browser can reach it and it works.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1874520"/>
            <a:ext cx="4572000" cy="320040"/>
          </a:xfrm>
          <a:prstGeom prst="rect">
            <a:avLst/>
          </a:prstGeom>
          <a:noFill/>
          <a:ln/>
        </p:spPr>
        <p:txBody>
          <a:bodyPr wrap="square" lIns="0" tIns="0" rIns="0" bIns="0" rtlCol="0" anchor="ctr"/>
          <a:lstStyle/>
          <a:p>
            <a:pPr marL="0" indent="0">
              <a:buNone/>
            </a:pPr>
            <a:r>
              <a:rPr lang="en-US" sz="1400" b="1" kern="0" spc="500" dirty="0">
                <a:solidFill>
                  <a:srgbClr val="E0A020"/>
                </a:solidFill>
                <a:latin typeface="Calibri" pitchFamily="34" charset="0"/>
                <a:ea typeface="Calibri" pitchFamily="34" charset="-122"/>
                <a:cs typeface="Calibri" pitchFamily="34" charset="-120"/>
              </a:rPr>
              <a:t>PART 3</a:t>
            </a:r>
            <a:endParaRPr lang="en-US" sz="1400" dirty="0"/>
          </a:p>
        </p:txBody>
      </p:sp>
      <p:sp>
        <p:nvSpPr>
          <p:cNvPr id="3" name="Text 1"/>
          <p:cNvSpPr/>
          <p:nvPr/>
        </p:nvSpPr>
        <p:spPr>
          <a:xfrm>
            <a:off x="502920" y="2240280"/>
            <a:ext cx="6949440" cy="1188720"/>
          </a:xfrm>
          <a:prstGeom prst="rect">
            <a:avLst/>
          </a:prstGeom>
          <a:noFill/>
          <a:ln/>
        </p:spPr>
        <p:txBody>
          <a:bodyPr wrap="square" lIns="0" tIns="0" rIns="0" bIns="0" rtlCol="0" anchor="ctr"/>
          <a:lstStyle/>
          <a:p>
            <a:pPr marL="0" indent="0">
              <a:lnSpc>
                <a:spcPct val="100000"/>
              </a:lnSpc>
              <a:buNone/>
            </a:pPr>
            <a:r>
              <a:rPr lang="en-US" sz="3800" b="1" dirty="0">
                <a:solidFill>
                  <a:srgbClr val="FFFFFF"/>
                </a:solidFill>
                <a:latin typeface="Bookman Old Style" pitchFamily="34" charset="0"/>
                <a:ea typeface="Bookman Old Style" pitchFamily="34" charset="-122"/>
                <a:cs typeface="Bookman Old Style" pitchFamily="34" charset="-120"/>
              </a:rPr>
              <a:t>HTML — the structure</a:t>
            </a:r>
            <a:endParaRPr lang="en-US" sz="3800" dirty="0"/>
          </a:p>
        </p:txBody>
      </p:sp>
      <p:sp>
        <p:nvSpPr>
          <p:cNvPr id="4" name="Text 2"/>
          <p:cNvSpPr/>
          <p:nvPr/>
        </p:nvSpPr>
        <p:spPr>
          <a:xfrm>
            <a:off x="502920" y="3456432"/>
            <a:ext cx="6766560" cy="457200"/>
          </a:xfrm>
          <a:prstGeom prst="rect">
            <a:avLst/>
          </a:prstGeom>
          <a:noFill/>
          <a:ln/>
        </p:spPr>
        <p:txBody>
          <a:bodyPr wrap="square" lIns="0" tIns="0" rIns="0" bIns="0" rtlCol="0" anchor="ctr"/>
          <a:lstStyle/>
          <a:p>
            <a:pPr marL="0" indent="0">
              <a:buNone/>
            </a:pPr>
            <a:r>
              <a:rPr lang="en-US" sz="1500" i="1" dirty="0">
                <a:solidFill>
                  <a:srgbClr val="AAB0BB"/>
                </a:solidFill>
                <a:latin typeface="Calibri" pitchFamily="34" charset="0"/>
                <a:ea typeface="Calibri" pitchFamily="34" charset="-122"/>
                <a:cs typeface="Calibri" pitchFamily="34" charset="-120"/>
              </a:rPr>
              <a:t>The bones of every page: tags that say what each thing is.</a:t>
            </a:r>
            <a:endParaRPr lang="en-US" sz="1500" dirty="0"/>
          </a:p>
        </p:txBody>
      </p:sp>
      <p:sp>
        <p:nvSpPr>
          <p:cNvPr id="5" name="Shape 3"/>
          <p:cNvSpPr/>
          <p:nvPr/>
        </p:nvSpPr>
        <p:spPr>
          <a:xfrm>
            <a:off x="7360920" y="1965960"/>
            <a:ext cx="1234440" cy="123444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726680" y="2331720"/>
            <a:ext cx="502920" cy="5029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WHAT HTML DOES</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HTML says what each thing is</a:t>
            </a:r>
            <a:endParaRPr lang="en-US" sz="3300" dirty="0"/>
          </a:p>
        </p:txBody>
      </p:sp>
      <p:sp>
        <p:nvSpPr>
          <p:cNvPr id="4" name="Text 2"/>
          <p:cNvSpPr/>
          <p:nvPr/>
        </p:nvSpPr>
        <p:spPr>
          <a:xfrm>
            <a:off x="502920" y="1664208"/>
            <a:ext cx="3794760" cy="1463040"/>
          </a:xfrm>
          <a:prstGeom prst="rect">
            <a:avLst/>
          </a:prstGeom>
          <a:noFill/>
          <a:ln/>
        </p:spPr>
        <p:txBody>
          <a:bodyPr wrap="square" lIns="0" tIns="0" rIns="0" bIns="0" rtlCol="0" anchor="ctr"/>
          <a:lstStyle/>
          <a:p>
            <a:pPr marL="0" indent="0">
              <a:lnSpc>
                <a:spcPct val="110000"/>
              </a:lnSpc>
              <a:buNone/>
            </a:pPr>
            <a:r>
              <a:rPr lang="en-US" sz="1450" b="1" dirty="0">
                <a:solidFill>
                  <a:srgbClr val="16181D"/>
                </a:solidFill>
                <a:latin typeface="Calibri" pitchFamily="34" charset="0"/>
                <a:ea typeface="Calibri" pitchFamily="34" charset="-122"/>
                <a:cs typeface="Calibri" pitchFamily="34" charset="-120"/>
              </a:rPr>
              <a:t>It doesn't make things pretty. </a:t>
            </a:r>
            <a:r>
              <a:rPr lang="en-US" sz="1450" dirty="0">
                <a:solidFill>
                  <a:srgbClr val="353A45"/>
                </a:solidFill>
                <a:latin typeface="Calibri" pitchFamily="34" charset="0"/>
                <a:ea typeface="Calibri" pitchFamily="34" charset="-122"/>
                <a:cs typeface="Calibri" pitchFamily="34" charset="-120"/>
              </a:rPr>
              <a:t>It labels the parts of your page so the browser knows a headline is a headline, a paragraph is a paragraph, and an image is an image.</a:t>
            </a:r>
            <a:endParaRPr lang="en-US" sz="1450" dirty="0"/>
          </a:p>
        </p:txBody>
      </p:sp>
      <p:sp>
        <p:nvSpPr>
          <p:cNvPr id="5" name="Text 3"/>
          <p:cNvSpPr/>
          <p:nvPr/>
        </p:nvSpPr>
        <p:spPr>
          <a:xfrm>
            <a:off x="502920" y="3246120"/>
            <a:ext cx="3794760" cy="822960"/>
          </a:xfrm>
          <a:prstGeom prst="rect">
            <a:avLst/>
          </a:prstGeom>
          <a:noFill/>
          <a:ln/>
        </p:spPr>
        <p:txBody>
          <a:bodyPr wrap="square" lIns="0" tIns="0" rIns="0" bIns="0" rtlCol="0" anchor="ctr"/>
          <a:lstStyle/>
          <a:p>
            <a:pPr marL="0" indent="0">
              <a:lnSpc>
                <a:spcPct val="105000"/>
              </a:lnSpc>
              <a:buNone/>
            </a:pPr>
            <a:r>
              <a:rPr lang="en-US" sz="1300" i="1" dirty="0">
                <a:solidFill>
                  <a:srgbClr val="AC7708"/>
                </a:solidFill>
                <a:latin typeface="Calibri" pitchFamily="34" charset="0"/>
                <a:ea typeface="Calibri" pitchFamily="34" charset="-122"/>
                <a:cs typeface="Calibri" pitchFamily="34" charset="-120"/>
              </a:rPr>
              <a:t>Think of it as the skeleton — plain, unstyled, but holding everything up.</a:t>
            </a:r>
            <a:endParaRPr lang="en-US" sz="1300" dirty="0"/>
          </a:p>
        </p:txBody>
      </p:sp>
      <p:sp>
        <p:nvSpPr>
          <p:cNvPr id="6" name="Shape 4"/>
          <p:cNvSpPr/>
          <p:nvPr/>
        </p:nvSpPr>
        <p:spPr>
          <a:xfrm>
            <a:off x="4617720" y="1645920"/>
            <a:ext cx="4023360" cy="3108960"/>
          </a:xfrm>
          <a:prstGeom prst="roundRect">
            <a:avLst>
              <a:gd name="adj" fmla="val 1765"/>
            </a:avLst>
          </a:prstGeom>
          <a:solidFill>
            <a:srgbClr val="1B1E26"/>
          </a:solidFill>
          <a:ln/>
          <a:effectLst>
            <a:outerShdw blurRad="88900" dist="38100" dir="5400000" algn="bl" rotWithShape="0">
              <a:srgbClr val="000000">
                <a:alpha val="10000"/>
              </a:srgbClr>
            </a:outerShdw>
          </a:effectLst>
        </p:spPr>
        <p:txBody>
          <a:bodyPr/>
          <a:lstStyle/>
          <a:p>
            <a:endParaRPr lang="en-US"/>
          </a:p>
        </p:txBody>
      </p:sp>
      <p:sp>
        <p:nvSpPr>
          <p:cNvPr id="7" name="Shape 5"/>
          <p:cNvSpPr/>
          <p:nvPr/>
        </p:nvSpPr>
        <p:spPr>
          <a:xfrm>
            <a:off x="4617720" y="1645920"/>
            <a:ext cx="4023360" cy="310896"/>
          </a:xfrm>
          <a:prstGeom prst="rect">
            <a:avLst/>
          </a:prstGeom>
          <a:solidFill>
            <a:srgbClr val="23262F"/>
          </a:solidFill>
          <a:ln/>
        </p:spPr>
        <p:txBody>
          <a:bodyPr/>
          <a:lstStyle/>
          <a:p>
            <a:endParaRPr lang="en-US"/>
          </a:p>
        </p:txBody>
      </p:sp>
      <p:sp>
        <p:nvSpPr>
          <p:cNvPr id="8" name="Text 6"/>
          <p:cNvSpPr/>
          <p:nvPr/>
        </p:nvSpPr>
        <p:spPr>
          <a:xfrm>
            <a:off x="4764024" y="1645920"/>
            <a:ext cx="3749040" cy="310896"/>
          </a:xfrm>
          <a:prstGeom prst="rect">
            <a:avLst/>
          </a:prstGeom>
          <a:noFill/>
          <a:ln/>
        </p:spPr>
        <p:txBody>
          <a:bodyPr wrap="square" lIns="0" tIns="0" rIns="0" bIns="0" rtlCol="0" anchor="ctr"/>
          <a:lstStyle/>
          <a:p>
            <a:pPr marL="0" indent="0">
              <a:buNone/>
            </a:pPr>
            <a:r>
              <a:rPr lang="en-US" sz="1000" b="1" kern="0" spc="100" dirty="0">
                <a:solidFill>
                  <a:srgbClr val="AAB0BB"/>
                </a:solidFill>
                <a:latin typeface="Calibri" pitchFamily="34" charset="0"/>
                <a:ea typeface="Calibri" pitchFamily="34" charset="-122"/>
                <a:cs typeface="Calibri" pitchFamily="34" charset="-120"/>
              </a:rPr>
              <a:t>YOUR HTML</a:t>
            </a:r>
            <a:endParaRPr lang="en-US" sz="1000" dirty="0"/>
          </a:p>
        </p:txBody>
      </p:sp>
      <p:sp>
        <p:nvSpPr>
          <p:cNvPr id="9" name="Text 7"/>
          <p:cNvSpPr/>
          <p:nvPr/>
        </p:nvSpPr>
        <p:spPr>
          <a:xfrm>
            <a:off x="4818888" y="2103120"/>
            <a:ext cx="3657600" cy="274320"/>
          </a:xfrm>
          <a:prstGeom prst="rect">
            <a:avLst/>
          </a:prstGeom>
          <a:noFill/>
          <a:ln/>
        </p:spPr>
        <p:txBody>
          <a:bodyPr wrap="square" lIns="0" tIns="0" rIns="0" bIns="0" rtlCol="0" anchor="ctr"/>
          <a:lstStyle/>
          <a:p>
            <a:pPr marL="0" indent="0">
              <a:buNone/>
            </a:pPr>
            <a:r>
              <a:rPr lang="en-US" sz="1250" dirty="0">
                <a:solidFill>
                  <a:srgbClr val="8FD19E"/>
                </a:solidFill>
                <a:latin typeface="Courier New" pitchFamily="34" charset="0"/>
                <a:ea typeface="Courier New" pitchFamily="34" charset="-122"/>
                <a:cs typeface="Courier New" pitchFamily="34" charset="-120"/>
              </a:rPr>
              <a:t>&lt;h1&gt;</a:t>
            </a:r>
            <a:r>
              <a:rPr lang="en-US" sz="1250" dirty="0">
                <a:solidFill>
                  <a:srgbClr val="E9EAEC"/>
                </a:solidFill>
                <a:latin typeface="Courier New" pitchFamily="34" charset="0"/>
                <a:ea typeface="Courier New" pitchFamily="34" charset="-122"/>
                <a:cs typeface="Courier New" pitchFamily="34" charset="-120"/>
              </a:rPr>
              <a:t>Records reveal </a:t>
            </a:r>
            <a:endParaRPr lang="en-US" sz="1250" dirty="0"/>
          </a:p>
        </p:txBody>
      </p:sp>
      <p:sp>
        <p:nvSpPr>
          <p:cNvPr id="10" name="Text 8"/>
          <p:cNvSpPr/>
          <p:nvPr/>
        </p:nvSpPr>
        <p:spPr>
          <a:xfrm>
            <a:off x="4818888" y="2395728"/>
            <a:ext cx="3657600" cy="274320"/>
          </a:xfrm>
          <a:prstGeom prst="rect">
            <a:avLst/>
          </a:prstGeom>
          <a:noFill/>
          <a:ln/>
        </p:spPr>
        <p:txBody>
          <a:bodyPr wrap="square" lIns="0" tIns="0" rIns="0" bIns="0" rtlCol="0" anchor="ctr"/>
          <a:lstStyle/>
          <a:p>
            <a:pPr marL="0" indent="0">
              <a:buNone/>
            </a:pPr>
            <a:r>
              <a:rPr lang="en-US" sz="1250" dirty="0">
                <a:solidFill>
                  <a:srgbClr val="E9EAEC"/>
                </a:solidFill>
                <a:latin typeface="Courier New" pitchFamily="34" charset="0"/>
                <a:ea typeface="Courier New" pitchFamily="34" charset="-122"/>
                <a:cs typeface="Courier New" pitchFamily="34" charset="-120"/>
              </a:rPr>
              <a:t>     permit backlog</a:t>
            </a:r>
            <a:r>
              <a:rPr lang="en-US" sz="1250" dirty="0">
                <a:solidFill>
                  <a:srgbClr val="8FD19E"/>
                </a:solidFill>
                <a:latin typeface="Courier New" pitchFamily="34" charset="0"/>
                <a:ea typeface="Courier New" pitchFamily="34" charset="-122"/>
                <a:cs typeface="Courier New" pitchFamily="34" charset="-120"/>
              </a:rPr>
              <a:t>&lt;/h1&gt;</a:t>
            </a:r>
            <a:endParaRPr lang="en-US" sz="1250" dirty="0"/>
          </a:p>
        </p:txBody>
      </p:sp>
      <p:sp>
        <p:nvSpPr>
          <p:cNvPr id="11" name="Text 9"/>
          <p:cNvSpPr/>
          <p:nvPr/>
        </p:nvSpPr>
        <p:spPr>
          <a:xfrm>
            <a:off x="4818888" y="2688336"/>
            <a:ext cx="3657600" cy="274320"/>
          </a:xfrm>
          <a:prstGeom prst="rect">
            <a:avLst/>
          </a:prstGeom>
          <a:noFill/>
          <a:ln/>
        </p:spPr>
        <p:txBody>
          <a:bodyPr wrap="square" lIns="0" tIns="0" rIns="0" bIns="0" rtlCol="0" anchor="ctr"/>
          <a:lstStyle/>
          <a:p>
            <a:pPr marL="0" indent="0">
              <a:buNone/>
            </a:pPr>
            <a:endParaRPr lang="en-US" sz="1250" dirty="0"/>
          </a:p>
        </p:txBody>
      </p:sp>
      <p:sp>
        <p:nvSpPr>
          <p:cNvPr id="12" name="Text 10"/>
          <p:cNvSpPr/>
          <p:nvPr/>
        </p:nvSpPr>
        <p:spPr>
          <a:xfrm>
            <a:off x="4818888" y="2980944"/>
            <a:ext cx="3657600" cy="274320"/>
          </a:xfrm>
          <a:prstGeom prst="rect">
            <a:avLst/>
          </a:prstGeom>
          <a:noFill/>
          <a:ln/>
        </p:spPr>
        <p:txBody>
          <a:bodyPr wrap="square" lIns="0" tIns="0" rIns="0" bIns="0" rtlCol="0" anchor="ctr"/>
          <a:lstStyle/>
          <a:p>
            <a:pPr marL="0" indent="0">
              <a:buNone/>
            </a:pPr>
            <a:r>
              <a:rPr lang="en-US" sz="1250" dirty="0">
                <a:solidFill>
                  <a:srgbClr val="8FD19E"/>
                </a:solidFill>
                <a:latin typeface="Courier New" pitchFamily="34" charset="0"/>
                <a:ea typeface="Courier New" pitchFamily="34" charset="-122"/>
                <a:cs typeface="Courier New" pitchFamily="34" charset="-120"/>
              </a:rPr>
              <a:t>&lt;p&gt;</a:t>
            </a:r>
            <a:r>
              <a:rPr lang="en-US" sz="1250" dirty="0">
                <a:solidFill>
                  <a:srgbClr val="E9EAEC"/>
                </a:solidFill>
                <a:latin typeface="Courier New" pitchFamily="34" charset="0"/>
                <a:ea typeface="Courier New" pitchFamily="34" charset="-122"/>
                <a:cs typeface="Courier New" pitchFamily="34" charset="-120"/>
              </a:rPr>
              <a:t>A six-month review</a:t>
            </a:r>
            <a:endParaRPr lang="en-US" sz="1250" dirty="0"/>
          </a:p>
        </p:txBody>
      </p:sp>
      <p:sp>
        <p:nvSpPr>
          <p:cNvPr id="13" name="Text 11"/>
          <p:cNvSpPr/>
          <p:nvPr/>
        </p:nvSpPr>
        <p:spPr>
          <a:xfrm>
            <a:off x="4818888" y="3273552"/>
            <a:ext cx="3657600" cy="274320"/>
          </a:xfrm>
          <a:prstGeom prst="rect">
            <a:avLst/>
          </a:prstGeom>
          <a:noFill/>
          <a:ln/>
        </p:spPr>
        <p:txBody>
          <a:bodyPr wrap="square" lIns="0" tIns="0" rIns="0" bIns="0" rtlCol="0" anchor="ctr"/>
          <a:lstStyle/>
          <a:p>
            <a:pPr marL="0" indent="0">
              <a:buNone/>
            </a:pPr>
            <a:r>
              <a:rPr lang="en-US" sz="1250" dirty="0">
                <a:solidFill>
                  <a:srgbClr val="E9EAEC"/>
                </a:solidFill>
                <a:latin typeface="Courier New" pitchFamily="34" charset="0"/>
                <a:ea typeface="Courier New" pitchFamily="34" charset="-122"/>
                <a:cs typeface="Courier New" pitchFamily="34" charset="-120"/>
              </a:rPr>
              <a:t>  found ...</a:t>
            </a:r>
            <a:r>
              <a:rPr lang="en-US" sz="1250" dirty="0">
                <a:solidFill>
                  <a:srgbClr val="8FD19E"/>
                </a:solidFill>
                <a:latin typeface="Courier New" pitchFamily="34" charset="0"/>
                <a:ea typeface="Courier New" pitchFamily="34" charset="-122"/>
                <a:cs typeface="Courier New" pitchFamily="34" charset="-120"/>
              </a:rPr>
              <a:t>&lt;/p&gt;</a:t>
            </a:r>
            <a:endParaRPr lang="en-US" sz="1250" dirty="0"/>
          </a:p>
        </p:txBody>
      </p:sp>
      <p:sp>
        <p:nvSpPr>
          <p:cNvPr id="14" name="Text 12"/>
          <p:cNvSpPr/>
          <p:nvPr/>
        </p:nvSpPr>
        <p:spPr>
          <a:xfrm>
            <a:off x="4818888" y="3566160"/>
            <a:ext cx="3657600" cy="274320"/>
          </a:xfrm>
          <a:prstGeom prst="rect">
            <a:avLst/>
          </a:prstGeom>
          <a:noFill/>
          <a:ln/>
        </p:spPr>
        <p:txBody>
          <a:bodyPr wrap="square" lIns="0" tIns="0" rIns="0" bIns="0" rtlCol="0" anchor="ctr"/>
          <a:lstStyle/>
          <a:p>
            <a:pPr marL="0" indent="0">
              <a:buNone/>
            </a:pPr>
            <a:endParaRPr lang="en-US" sz="1250" dirty="0"/>
          </a:p>
        </p:txBody>
      </p:sp>
      <p:sp>
        <p:nvSpPr>
          <p:cNvPr id="15" name="Text 13"/>
          <p:cNvSpPr/>
          <p:nvPr/>
        </p:nvSpPr>
        <p:spPr>
          <a:xfrm>
            <a:off x="4818888" y="3858768"/>
            <a:ext cx="3657600" cy="274320"/>
          </a:xfrm>
          <a:prstGeom prst="rect">
            <a:avLst/>
          </a:prstGeom>
          <a:noFill/>
          <a:ln/>
        </p:spPr>
        <p:txBody>
          <a:bodyPr wrap="square" lIns="0" tIns="0" rIns="0" bIns="0" rtlCol="0" anchor="ctr"/>
          <a:lstStyle/>
          <a:p>
            <a:pPr marL="0" indent="0">
              <a:buNone/>
            </a:pPr>
            <a:r>
              <a:rPr lang="en-US" sz="1250" dirty="0">
                <a:solidFill>
                  <a:srgbClr val="8FD19E"/>
                </a:solidFill>
                <a:latin typeface="Courier New" pitchFamily="34" charset="0"/>
                <a:ea typeface="Courier New" pitchFamily="34" charset="-122"/>
                <a:cs typeface="Courier New" pitchFamily="34" charset="-120"/>
              </a:rPr>
              <a:t>&lt;img </a:t>
            </a:r>
            <a:r>
              <a:rPr lang="en-US" sz="1250" dirty="0">
                <a:solidFill>
                  <a:srgbClr val="E0A020"/>
                </a:solidFill>
                <a:latin typeface="Courier New" pitchFamily="34" charset="0"/>
                <a:ea typeface="Courier New" pitchFamily="34" charset="-122"/>
                <a:cs typeface="Courier New" pitchFamily="34" charset="-120"/>
              </a:rPr>
              <a:t>src=</a:t>
            </a:r>
            <a:r>
              <a:rPr lang="en-US" sz="1250" dirty="0">
                <a:solidFill>
                  <a:srgbClr val="C9A0FF"/>
                </a:solidFill>
                <a:latin typeface="Courier New" pitchFamily="34" charset="0"/>
                <a:ea typeface="Courier New" pitchFamily="34" charset="-122"/>
                <a:cs typeface="Courier New" pitchFamily="34" charset="-120"/>
              </a:rPr>
              <a:t>"city.jpg"</a:t>
            </a:r>
            <a:r>
              <a:rPr lang="en-US" sz="1250" dirty="0">
                <a:solidFill>
                  <a:srgbClr val="8FD19E"/>
                </a:solidFill>
                <a:latin typeface="Courier New" pitchFamily="34" charset="0"/>
                <a:ea typeface="Courier New" pitchFamily="34" charset="-122"/>
                <a:cs typeface="Courier New" pitchFamily="34" charset="-120"/>
              </a:rPr>
              <a:t>&gt;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THE BUILDING BLOCK</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Tags: an opening, a closing, and content between</a:t>
            </a:r>
            <a:endParaRPr lang="en-US" sz="3300" dirty="0"/>
          </a:p>
        </p:txBody>
      </p:sp>
      <p:sp>
        <p:nvSpPr>
          <p:cNvPr id="4" name="Shape 2"/>
          <p:cNvSpPr/>
          <p:nvPr/>
        </p:nvSpPr>
        <p:spPr>
          <a:xfrm>
            <a:off x="502920" y="1691640"/>
            <a:ext cx="8138160" cy="1051560"/>
          </a:xfrm>
          <a:prstGeom prst="roundRect">
            <a:avLst>
              <a:gd name="adj" fmla="val 6957"/>
            </a:avLst>
          </a:prstGeom>
          <a:solidFill>
            <a:srgbClr val="1B1E26"/>
          </a:solidFill>
          <a:ln/>
          <a:effectLst>
            <a:outerShdw blurRad="88900" dist="38100" dir="5400000" algn="bl" rotWithShape="0">
              <a:srgbClr val="000000">
                <a:alpha val="10000"/>
              </a:srgbClr>
            </a:outerShdw>
          </a:effectLst>
        </p:spPr>
        <p:txBody>
          <a:bodyPr/>
          <a:lstStyle/>
          <a:p>
            <a:endParaRPr lang="en-US"/>
          </a:p>
        </p:txBody>
      </p:sp>
      <p:sp>
        <p:nvSpPr>
          <p:cNvPr id="5" name="Text 3"/>
          <p:cNvSpPr/>
          <p:nvPr/>
        </p:nvSpPr>
        <p:spPr>
          <a:xfrm>
            <a:off x="777240" y="1691640"/>
            <a:ext cx="7589520" cy="1051560"/>
          </a:xfrm>
          <a:prstGeom prst="rect">
            <a:avLst/>
          </a:prstGeom>
          <a:noFill/>
          <a:ln/>
        </p:spPr>
        <p:txBody>
          <a:bodyPr wrap="square" lIns="0" tIns="0" rIns="0" bIns="0" rtlCol="0" anchor="ctr"/>
          <a:lstStyle/>
          <a:p>
            <a:pPr marL="0" indent="0">
              <a:buNone/>
            </a:pPr>
            <a:r>
              <a:rPr lang="en-US" sz="2000" dirty="0">
                <a:solidFill>
                  <a:srgbClr val="8FD19E"/>
                </a:solidFill>
                <a:latin typeface="Courier New" pitchFamily="34" charset="0"/>
                <a:ea typeface="Courier New" pitchFamily="34" charset="-122"/>
                <a:cs typeface="Courier New" pitchFamily="34" charset="-120"/>
              </a:rPr>
              <a:t>&lt;h1&gt;</a:t>
            </a:r>
            <a:r>
              <a:rPr lang="en-US" sz="2000" dirty="0">
                <a:solidFill>
                  <a:srgbClr val="E9EAEC"/>
                </a:solidFill>
                <a:latin typeface="Courier New" pitchFamily="34" charset="0"/>
                <a:ea typeface="Courier New" pitchFamily="34" charset="-122"/>
                <a:cs typeface="Courier New" pitchFamily="34" charset="-120"/>
              </a:rPr>
              <a:t>  Records reveal permit backlog  </a:t>
            </a:r>
            <a:r>
              <a:rPr lang="en-US" sz="2000" dirty="0">
                <a:solidFill>
                  <a:srgbClr val="8FD19E"/>
                </a:solidFill>
                <a:latin typeface="Courier New" pitchFamily="34" charset="0"/>
                <a:ea typeface="Courier New" pitchFamily="34" charset="-122"/>
                <a:cs typeface="Courier New" pitchFamily="34" charset="-120"/>
              </a:rPr>
              <a:t>&lt;/h1&gt;</a:t>
            </a:r>
            <a:endParaRPr lang="en-US" sz="2000" dirty="0"/>
          </a:p>
        </p:txBody>
      </p:sp>
      <p:sp>
        <p:nvSpPr>
          <p:cNvPr id="6" name="Text 4"/>
          <p:cNvSpPr/>
          <p:nvPr/>
        </p:nvSpPr>
        <p:spPr>
          <a:xfrm>
            <a:off x="822960" y="2651760"/>
            <a:ext cx="1280160" cy="274320"/>
          </a:xfrm>
          <a:prstGeom prst="rect">
            <a:avLst/>
          </a:prstGeom>
          <a:noFill/>
          <a:ln/>
        </p:spPr>
        <p:txBody>
          <a:bodyPr wrap="square" lIns="0" tIns="0" rIns="0" bIns="0" rtlCol="0" anchor="ctr"/>
          <a:lstStyle/>
          <a:p>
            <a:pPr marL="0" indent="0">
              <a:buNone/>
            </a:pPr>
            <a:r>
              <a:rPr lang="en-US" sz="1100" i="1" dirty="0">
                <a:solidFill>
                  <a:srgbClr val="AC7708"/>
                </a:solidFill>
                <a:latin typeface="Calibri" pitchFamily="34" charset="0"/>
                <a:ea typeface="Calibri" pitchFamily="34" charset="-122"/>
                <a:cs typeface="Calibri" pitchFamily="34" charset="-120"/>
              </a:rPr>
              <a:t>opening tag</a:t>
            </a:r>
            <a:endParaRPr lang="en-US" sz="1100" dirty="0"/>
          </a:p>
        </p:txBody>
      </p:sp>
      <p:sp>
        <p:nvSpPr>
          <p:cNvPr id="7" name="Text 5"/>
          <p:cNvSpPr/>
          <p:nvPr/>
        </p:nvSpPr>
        <p:spPr>
          <a:xfrm>
            <a:off x="3611880" y="2651760"/>
            <a:ext cx="1280160" cy="274320"/>
          </a:xfrm>
          <a:prstGeom prst="rect">
            <a:avLst/>
          </a:prstGeom>
          <a:noFill/>
          <a:ln/>
        </p:spPr>
        <p:txBody>
          <a:bodyPr wrap="square" lIns="0" tIns="0" rIns="0" bIns="0" rtlCol="0" anchor="ctr"/>
          <a:lstStyle/>
          <a:p>
            <a:pPr marL="0" indent="0" algn="ctr">
              <a:buNone/>
            </a:pPr>
            <a:r>
              <a:rPr lang="en-US" sz="1100" i="1" dirty="0">
                <a:solidFill>
                  <a:srgbClr val="AC7708"/>
                </a:solidFill>
                <a:latin typeface="Calibri" pitchFamily="34" charset="0"/>
                <a:ea typeface="Calibri" pitchFamily="34" charset="-122"/>
                <a:cs typeface="Calibri" pitchFamily="34" charset="-120"/>
              </a:rPr>
              <a:t>content</a:t>
            </a:r>
            <a:endParaRPr lang="en-US" sz="1100" dirty="0"/>
          </a:p>
        </p:txBody>
      </p:sp>
      <p:sp>
        <p:nvSpPr>
          <p:cNvPr id="8" name="Text 6"/>
          <p:cNvSpPr/>
          <p:nvPr/>
        </p:nvSpPr>
        <p:spPr>
          <a:xfrm>
            <a:off x="6903720" y="2651760"/>
            <a:ext cx="1463040" cy="274320"/>
          </a:xfrm>
          <a:prstGeom prst="rect">
            <a:avLst/>
          </a:prstGeom>
          <a:noFill/>
          <a:ln/>
        </p:spPr>
        <p:txBody>
          <a:bodyPr wrap="square" lIns="0" tIns="0" rIns="0" bIns="0" rtlCol="0" anchor="ctr"/>
          <a:lstStyle/>
          <a:p>
            <a:pPr marL="0" indent="0">
              <a:buNone/>
            </a:pPr>
            <a:r>
              <a:rPr lang="en-US" sz="1100" i="1" dirty="0">
                <a:solidFill>
                  <a:srgbClr val="AC7708"/>
                </a:solidFill>
                <a:latin typeface="Calibri" pitchFamily="34" charset="0"/>
                <a:ea typeface="Calibri" pitchFamily="34" charset="-122"/>
                <a:cs typeface="Calibri" pitchFamily="34" charset="-120"/>
              </a:rPr>
              <a:t>closing tag</a:t>
            </a:r>
            <a:endParaRPr lang="en-US" sz="1100" dirty="0"/>
          </a:p>
        </p:txBody>
      </p:sp>
      <p:sp>
        <p:nvSpPr>
          <p:cNvPr id="9" name="Shape 7"/>
          <p:cNvSpPr/>
          <p:nvPr/>
        </p:nvSpPr>
        <p:spPr>
          <a:xfrm>
            <a:off x="594360" y="3108960"/>
            <a:ext cx="365760" cy="36576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0" name="Image 0" descr="preencoded.png"/>
          <p:cNvPicPr>
            <a:picLocks noChangeAspect="1"/>
          </p:cNvPicPr>
          <p:nvPr/>
        </p:nvPicPr>
        <p:blipFill>
          <a:blip r:embed="rId3"/>
          <a:stretch>
            <a:fillRect/>
          </a:stretch>
        </p:blipFill>
        <p:spPr>
          <a:xfrm>
            <a:off x="689458" y="3204058"/>
            <a:ext cx="175565" cy="175565"/>
          </a:xfrm>
          <a:prstGeom prst="rect">
            <a:avLst/>
          </a:prstGeom>
        </p:spPr>
      </p:pic>
      <p:sp>
        <p:nvSpPr>
          <p:cNvPr id="11" name="Text 8"/>
          <p:cNvSpPr/>
          <p:nvPr/>
        </p:nvSpPr>
        <p:spPr>
          <a:xfrm>
            <a:off x="1097280" y="3081528"/>
            <a:ext cx="7498080" cy="384048"/>
          </a:xfrm>
          <a:prstGeom prst="rect">
            <a:avLst/>
          </a:prstGeom>
          <a:noFill/>
          <a:ln/>
        </p:spPr>
        <p:txBody>
          <a:bodyPr wrap="square" lIns="0" tIns="0" rIns="0" bIns="0" rtlCol="0" anchor="ctr"/>
          <a:lstStyle/>
          <a:p>
            <a:pPr marL="0" indent="0">
              <a:buNone/>
            </a:pPr>
            <a:r>
              <a:rPr lang="en-US" sz="1300" b="1" dirty="0">
                <a:solidFill>
                  <a:srgbClr val="16181D"/>
                </a:solidFill>
                <a:latin typeface="Calibri" pitchFamily="34" charset="0"/>
                <a:ea typeface="Calibri" pitchFamily="34" charset="-122"/>
                <a:cs typeface="Calibri" pitchFamily="34" charset="-120"/>
              </a:rPr>
              <a:t>The tag name says what it is  </a:t>
            </a:r>
            <a:r>
              <a:rPr lang="en-US" sz="1300" dirty="0">
                <a:solidFill>
                  <a:srgbClr val="353A45"/>
                </a:solidFill>
                <a:latin typeface="Calibri" pitchFamily="34" charset="0"/>
                <a:ea typeface="Calibri" pitchFamily="34" charset="-122"/>
                <a:cs typeface="Calibri" pitchFamily="34" charset="-120"/>
              </a:rPr>
              <a:t>h1 is a big headline. Swap it for h2, p, or li and the meaning changes.</a:t>
            </a:r>
            <a:endParaRPr lang="en-US" sz="1300" dirty="0"/>
          </a:p>
        </p:txBody>
      </p:sp>
      <p:sp>
        <p:nvSpPr>
          <p:cNvPr id="12" name="Shape 9"/>
          <p:cNvSpPr/>
          <p:nvPr/>
        </p:nvSpPr>
        <p:spPr>
          <a:xfrm>
            <a:off x="594360" y="3584448"/>
            <a:ext cx="365760" cy="36576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3"/>
          <a:stretch>
            <a:fillRect/>
          </a:stretch>
        </p:blipFill>
        <p:spPr>
          <a:xfrm>
            <a:off x="689458" y="3679546"/>
            <a:ext cx="175565" cy="175565"/>
          </a:xfrm>
          <a:prstGeom prst="rect">
            <a:avLst/>
          </a:prstGeom>
        </p:spPr>
      </p:pic>
      <p:sp>
        <p:nvSpPr>
          <p:cNvPr id="14" name="Text 10"/>
          <p:cNvSpPr/>
          <p:nvPr/>
        </p:nvSpPr>
        <p:spPr>
          <a:xfrm>
            <a:off x="1097280" y="3557016"/>
            <a:ext cx="7498080" cy="384048"/>
          </a:xfrm>
          <a:prstGeom prst="rect">
            <a:avLst/>
          </a:prstGeom>
          <a:noFill/>
          <a:ln/>
        </p:spPr>
        <p:txBody>
          <a:bodyPr wrap="square" lIns="0" tIns="0" rIns="0" bIns="0" rtlCol="0" anchor="ctr"/>
          <a:lstStyle/>
          <a:p>
            <a:pPr marL="0" indent="0">
              <a:buNone/>
            </a:pPr>
            <a:r>
              <a:rPr lang="en-US" sz="1300" b="1" dirty="0">
                <a:solidFill>
                  <a:srgbClr val="16181D"/>
                </a:solidFill>
                <a:latin typeface="Calibri" pitchFamily="34" charset="0"/>
                <a:ea typeface="Calibri" pitchFamily="34" charset="-122"/>
                <a:cs typeface="Calibri" pitchFamily="34" charset="-120"/>
              </a:rPr>
              <a:t>The slash marks the end  </a:t>
            </a:r>
            <a:r>
              <a:rPr lang="en-US" sz="1300" dirty="0">
                <a:solidFill>
                  <a:srgbClr val="353A45"/>
                </a:solidFill>
                <a:latin typeface="Calibri" pitchFamily="34" charset="0"/>
                <a:ea typeface="Calibri" pitchFamily="34" charset="-122"/>
                <a:cs typeface="Calibri" pitchFamily="34" charset="-120"/>
              </a:rPr>
              <a:t>&lt;/h1&gt; closes what &lt;h1&gt; opened. Forget it and the page misbehaves below.</a:t>
            </a:r>
            <a:endParaRPr lang="en-US" sz="1300" dirty="0"/>
          </a:p>
        </p:txBody>
      </p:sp>
      <p:sp>
        <p:nvSpPr>
          <p:cNvPr id="15" name="Shape 11"/>
          <p:cNvSpPr/>
          <p:nvPr/>
        </p:nvSpPr>
        <p:spPr>
          <a:xfrm>
            <a:off x="594360" y="4059936"/>
            <a:ext cx="365760" cy="36576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6" name="Image 2" descr="preencoded.png"/>
          <p:cNvPicPr>
            <a:picLocks noChangeAspect="1"/>
          </p:cNvPicPr>
          <p:nvPr/>
        </p:nvPicPr>
        <p:blipFill>
          <a:blip r:embed="rId4"/>
          <a:stretch>
            <a:fillRect/>
          </a:stretch>
        </p:blipFill>
        <p:spPr>
          <a:xfrm>
            <a:off x="689458" y="4155034"/>
            <a:ext cx="175565" cy="175565"/>
          </a:xfrm>
          <a:prstGeom prst="rect">
            <a:avLst/>
          </a:prstGeom>
        </p:spPr>
      </p:pic>
      <p:sp>
        <p:nvSpPr>
          <p:cNvPr id="17" name="Text 12"/>
          <p:cNvSpPr/>
          <p:nvPr/>
        </p:nvSpPr>
        <p:spPr>
          <a:xfrm>
            <a:off x="1097280" y="4032504"/>
            <a:ext cx="7498080" cy="384048"/>
          </a:xfrm>
          <a:prstGeom prst="rect">
            <a:avLst/>
          </a:prstGeom>
          <a:noFill/>
          <a:ln/>
        </p:spPr>
        <p:txBody>
          <a:bodyPr wrap="square" lIns="0" tIns="0" rIns="0" bIns="0" rtlCol="0" anchor="ctr"/>
          <a:lstStyle/>
          <a:p>
            <a:pPr marL="0" indent="0">
              <a:buNone/>
            </a:pPr>
            <a:r>
              <a:rPr lang="en-US" sz="1300" b="1" dirty="0">
                <a:solidFill>
                  <a:srgbClr val="16181D"/>
                </a:solidFill>
                <a:latin typeface="Calibri" pitchFamily="34" charset="0"/>
                <a:ea typeface="Calibri" pitchFamily="34" charset="-122"/>
                <a:cs typeface="Calibri" pitchFamily="34" charset="-120"/>
              </a:rPr>
              <a:t>This is your first thing to break  </a:t>
            </a:r>
            <a:r>
              <a:rPr lang="en-US" sz="1300" dirty="0">
                <a:solidFill>
                  <a:srgbClr val="353A45"/>
                </a:solidFill>
                <a:latin typeface="Calibri" pitchFamily="34" charset="0"/>
                <a:ea typeface="Calibri" pitchFamily="34" charset="-122"/>
                <a:cs typeface="Calibri" pitchFamily="34" charset="-120"/>
              </a:rPr>
              <a:t>In the workshop, delete a closing tag on purpose and watch what happens.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YOUR STARTER VOCABULARY</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The handful of tags you’ll mostly use</a:t>
            </a:r>
            <a:endParaRPr lang="en-US" sz="3300" dirty="0"/>
          </a:p>
        </p:txBody>
      </p:sp>
      <p:sp>
        <p:nvSpPr>
          <p:cNvPr id="4" name="Shape 2"/>
          <p:cNvSpPr/>
          <p:nvPr/>
        </p:nvSpPr>
        <p:spPr>
          <a:xfrm>
            <a:off x="502920" y="1691640"/>
            <a:ext cx="2587752" cy="1060704"/>
          </a:xfrm>
          <a:prstGeom prst="roundRect">
            <a:avLst>
              <a:gd name="adj" fmla="val 7759"/>
            </a:avLst>
          </a:prstGeom>
          <a:solidFill>
            <a:srgbClr val="F4F4F2"/>
          </a:solidFill>
          <a:ln/>
        </p:spPr>
        <p:txBody>
          <a:bodyPr/>
          <a:lstStyle/>
          <a:p>
            <a:endParaRPr lang="en-US"/>
          </a:p>
        </p:txBody>
      </p:sp>
      <p:sp>
        <p:nvSpPr>
          <p:cNvPr id="5" name="Shape 3"/>
          <p:cNvSpPr/>
          <p:nvPr/>
        </p:nvSpPr>
        <p:spPr>
          <a:xfrm>
            <a:off x="704088" y="1984248"/>
            <a:ext cx="475488" cy="47548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27715" y="2107875"/>
            <a:ext cx="228234" cy="228234"/>
          </a:xfrm>
          <a:prstGeom prst="rect">
            <a:avLst/>
          </a:prstGeom>
        </p:spPr>
      </p:pic>
      <p:sp>
        <p:nvSpPr>
          <p:cNvPr id="7" name="Text 4"/>
          <p:cNvSpPr/>
          <p:nvPr/>
        </p:nvSpPr>
        <p:spPr>
          <a:xfrm>
            <a:off x="1289304" y="1874520"/>
            <a:ext cx="1673352" cy="365760"/>
          </a:xfrm>
          <a:prstGeom prst="rect">
            <a:avLst/>
          </a:prstGeom>
          <a:noFill/>
          <a:ln/>
        </p:spPr>
        <p:txBody>
          <a:bodyPr wrap="square" lIns="0" tIns="0" rIns="0" bIns="0" rtlCol="0" anchor="ctr"/>
          <a:lstStyle/>
          <a:p>
            <a:pPr marL="0" indent="0">
              <a:buNone/>
            </a:pPr>
            <a:r>
              <a:rPr lang="en-US" sz="1500" b="1" dirty="0">
                <a:solidFill>
                  <a:srgbClr val="16181D"/>
                </a:solidFill>
                <a:latin typeface="Courier New" pitchFamily="34" charset="0"/>
                <a:ea typeface="Courier New" pitchFamily="34" charset="-122"/>
                <a:cs typeface="Courier New" pitchFamily="34" charset="-120"/>
              </a:rPr>
              <a:t>&lt;h1&gt; … &lt;h2&gt;</a:t>
            </a:r>
            <a:endParaRPr lang="en-US" sz="1500" dirty="0"/>
          </a:p>
        </p:txBody>
      </p:sp>
      <p:sp>
        <p:nvSpPr>
          <p:cNvPr id="8" name="Text 5"/>
          <p:cNvSpPr/>
          <p:nvPr/>
        </p:nvSpPr>
        <p:spPr>
          <a:xfrm>
            <a:off x="1289304" y="2258568"/>
            <a:ext cx="1673352" cy="365760"/>
          </a:xfrm>
          <a:prstGeom prst="rect">
            <a:avLst/>
          </a:prstGeom>
          <a:noFill/>
          <a:ln/>
        </p:spPr>
        <p:txBody>
          <a:bodyPr wrap="square" lIns="0" tIns="0" rIns="0" bIns="0" rtlCol="0" anchor="ctr"/>
          <a:lstStyle/>
          <a:p>
            <a:pPr marL="0" indent="0">
              <a:buNone/>
            </a:pPr>
            <a:r>
              <a:rPr lang="en-US" sz="1150" dirty="0">
                <a:solidFill>
                  <a:srgbClr val="353A45"/>
                </a:solidFill>
                <a:latin typeface="Calibri" pitchFamily="34" charset="0"/>
                <a:ea typeface="Calibri" pitchFamily="34" charset="-122"/>
                <a:cs typeface="Calibri" pitchFamily="34" charset="-120"/>
              </a:rPr>
              <a:t>Headlines &amp; subheads</a:t>
            </a:r>
            <a:endParaRPr lang="en-US" sz="1150" dirty="0"/>
          </a:p>
        </p:txBody>
      </p:sp>
      <p:sp>
        <p:nvSpPr>
          <p:cNvPr id="9" name="Shape 6"/>
          <p:cNvSpPr/>
          <p:nvPr/>
        </p:nvSpPr>
        <p:spPr>
          <a:xfrm>
            <a:off x="3273552" y="1691640"/>
            <a:ext cx="2587752" cy="1060704"/>
          </a:xfrm>
          <a:prstGeom prst="roundRect">
            <a:avLst>
              <a:gd name="adj" fmla="val 7759"/>
            </a:avLst>
          </a:prstGeom>
          <a:solidFill>
            <a:srgbClr val="F4F4F2"/>
          </a:solidFill>
          <a:ln/>
        </p:spPr>
        <p:txBody>
          <a:bodyPr/>
          <a:lstStyle/>
          <a:p>
            <a:endParaRPr lang="en-US"/>
          </a:p>
        </p:txBody>
      </p:sp>
      <p:sp>
        <p:nvSpPr>
          <p:cNvPr id="10" name="Shape 7"/>
          <p:cNvSpPr/>
          <p:nvPr/>
        </p:nvSpPr>
        <p:spPr>
          <a:xfrm>
            <a:off x="3474720" y="1984248"/>
            <a:ext cx="475488" cy="47548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3598347" y="2107875"/>
            <a:ext cx="228234" cy="228234"/>
          </a:xfrm>
          <a:prstGeom prst="rect">
            <a:avLst/>
          </a:prstGeom>
        </p:spPr>
      </p:pic>
      <p:sp>
        <p:nvSpPr>
          <p:cNvPr id="12" name="Text 8"/>
          <p:cNvSpPr/>
          <p:nvPr/>
        </p:nvSpPr>
        <p:spPr>
          <a:xfrm>
            <a:off x="4059936" y="1874520"/>
            <a:ext cx="1673352" cy="365760"/>
          </a:xfrm>
          <a:prstGeom prst="rect">
            <a:avLst/>
          </a:prstGeom>
          <a:noFill/>
          <a:ln/>
        </p:spPr>
        <p:txBody>
          <a:bodyPr wrap="square" lIns="0" tIns="0" rIns="0" bIns="0" rtlCol="0" anchor="ctr"/>
          <a:lstStyle/>
          <a:p>
            <a:pPr marL="0" indent="0">
              <a:buNone/>
            </a:pPr>
            <a:r>
              <a:rPr lang="en-US" sz="1500" b="1" dirty="0">
                <a:solidFill>
                  <a:srgbClr val="16181D"/>
                </a:solidFill>
                <a:latin typeface="Courier New" pitchFamily="34" charset="0"/>
                <a:ea typeface="Courier New" pitchFamily="34" charset="-122"/>
                <a:cs typeface="Courier New" pitchFamily="34" charset="-120"/>
              </a:rPr>
              <a:t>&lt;p&gt;</a:t>
            </a:r>
            <a:endParaRPr lang="en-US" sz="1500" dirty="0"/>
          </a:p>
        </p:txBody>
      </p:sp>
      <p:sp>
        <p:nvSpPr>
          <p:cNvPr id="13" name="Text 9"/>
          <p:cNvSpPr/>
          <p:nvPr/>
        </p:nvSpPr>
        <p:spPr>
          <a:xfrm>
            <a:off x="4059936" y="2258568"/>
            <a:ext cx="1673352" cy="365760"/>
          </a:xfrm>
          <a:prstGeom prst="rect">
            <a:avLst/>
          </a:prstGeom>
          <a:noFill/>
          <a:ln/>
        </p:spPr>
        <p:txBody>
          <a:bodyPr wrap="square" lIns="0" tIns="0" rIns="0" bIns="0" rtlCol="0" anchor="ctr"/>
          <a:lstStyle/>
          <a:p>
            <a:pPr marL="0" indent="0">
              <a:buNone/>
            </a:pPr>
            <a:r>
              <a:rPr lang="en-US" sz="1150" dirty="0">
                <a:solidFill>
                  <a:srgbClr val="353A45"/>
                </a:solidFill>
                <a:latin typeface="Calibri" pitchFamily="34" charset="0"/>
                <a:ea typeface="Calibri" pitchFamily="34" charset="-122"/>
                <a:cs typeface="Calibri" pitchFamily="34" charset="-120"/>
              </a:rPr>
              <a:t>A paragraph of text</a:t>
            </a:r>
            <a:endParaRPr lang="en-US" sz="1150" dirty="0"/>
          </a:p>
        </p:txBody>
      </p:sp>
      <p:sp>
        <p:nvSpPr>
          <p:cNvPr id="14" name="Shape 10"/>
          <p:cNvSpPr/>
          <p:nvPr/>
        </p:nvSpPr>
        <p:spPr>
          <a:xfrm>
            <a:off x="6044184" y="1691640"/>
            <a:ext cx="2587752" cy="1060704"/>
          </a:xfrm>
          <a:prstGeom prst="roundRect">
            <a:avLst>
              <a:gd name="adj" fmla="val 7759"/>
            </a:avLst>
          </a:prstGeom>
          <a:solidFill>
            <a:srgbClr val="F4F4F2"/>
          </a:solidFill>
          <a:ln/>
        </p:spPr>
        <p:txBody>
          <a:bodyPr/>
          <a:lstStyle/>
          <a:p>
            <a:endParaRPr lang="en-US"/>
          </a:p>
        </p:txBody>
      </p:sp>
      <p:sp>
        <p:nvSpPr>
          <p:cNvPr id="15" name="Shape 11"/>
          <p:cNvSpPr/>
          <p:nvPr/>
        </p:nvSpPr>
        <p:spPr>
          <a:xfrm>
            <a:off x="6245352" y="1984248"/>
            <a:ext cx="475488" cy="47548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6368979" y="2107875"/>
            <a:ext cx="228234" cy="228234"/>
          </a:xfrm>
          <a:prstGeom prst="rect">
            <a:avLst/>
          </a:prstGeom>
        </p:spPr>
      </p:pic>
      <p:sp>
        <p:nvSpPr>
          <p:cNvPr id="17" name="Text 12"/>
          <p:cNvSpPr/>
          <p:nvPr/>
        </p:nvSpPr>
        <p:spPr>
          <a:xfrm>
            <a:off x="6830568" y="1874520"/>
            <a:ext cx="1673352" cy="365760"/>
          </a:xfrm>
          <a:prstGeom prst="rect">
            <a:avLst/>
          </a:prstGeom>
          <a:noFill/>
          <a:ln/>
        </p:spPr>
        <p:txBody>
          <a:bodyPr wrap="square" lIns="0" tIns="0" rIns="0" bIns="0" rtlCol="0" anchor="ctr"/>
          <a:lstStyle/>
          <a:p>
            <a:pPr marL="0" indent="0">
              <a:buNone/>
            </a:pPr>
            <a:r>
              <a:rPr lang="en-US" sz="1500" b="1" dirty="0">
                <a:solidFill>
                  <a:srgbClr val="16181D"/>
                </a:solidFill>
                <a:latin typeface="Courier New" pitchFamily="34" charset="0"/>
                <a:ea typeface="Courier New" pitchFamily="34" charset="-122"/>
                <a:cs typeface="Courier New" pitchFamily="34" charset="-120"/>
              </a:rPr>
              <a:t>&lt;a&gt;</a:t>
            </a:r>
            <a:endParaRPr lang="en-US" sz="1500" dirty="0"/>
          </a:p>
        </p:txBody>
      </p:sp>
      <p:sp>
        <p:nvSpPr>
          <p:cNvPr id="18" name="Text 13"/>
          <p:cNvSpPr/>
          <p:nvPr/>
        </p:nvSpPr>
        <p:spPr>
          <a:xfrm>
            <a:off x="6830568" y="2258568"/>
            <a:ext cx="1673352" cy="365760"/>
          </a:xfrm>
          <a:prstGeom prst="rect">
            <a:avLst/>
          </a:prstGeom>
          <a:noFill/>
          <a:ln/>
        </p:spPr>
        <p:txBody>
          <a:bodyPr wrap="square" lIns="0" tIns="0" rIns="0" bIns="0" rtlCol="0" anchor="ctr"/>
          <a:lstStyle/>
          <a:p>
            <a:pPr marL="0" indent="0">
              <a:buNone/>
            </a:pPr>
            <a:r>
              <a:rPr lang="en-US" sz="1150" dirty="0">
                <a:solidFill>
                  <a:srgbClr val="353A45"/>
                </a:solidFill>
                <a:latin typeface="Calibri" pitchFamily="34" charset="0"/>
                <a:ea typeface="Calibri" pitchFamily="34" charset="-122"/>
                <a:cs typeface="Calibri" pitchFamily="34" charset="-120"/>
              </a:rPr>
              <a:t>A link to another page</a:t>
            </a:r>
            <a:endParaRPr lang="en-US" sz="1150" dirty="0"/>
          </a:p>
        </p:txBody>
      </p:sp>
      <p:sp>
        <p:nvSpPr>
          <p:cNvPr id="19" name="Shape 14"/>
          <p:cNvSpPr/>
          <p:nvPr/>
        </p:nvSpPr>
        <p:spPr>
          <a:xfrm>
            <a:off x="502920" y="2898648"/>
            <a:ext cx="2587752" cy="1060704"/>
          </a:xfrm>
          <a:prstGeom prst="roundRect">
            <a:avLst>
              <a:gd name="adj" fmla="val 7759"/>
            </a:avLst>
          </a:prstGeom>
          <a:solidFill>
            <a:srgbClr val="F4F4F2"/>
          </a:solidFill>
          <a:ln/>
        </p:spPr>
        <p:txBody>
          <a:bodyPr/>
          <a:lstStyle/>
          <a:p>
            <a:endParaRPr lang="en-US"/>
          </a:p>
        </p:txBody>
      </p:sp>
      <p:sp>
        <p:nvSpPr>
          <p:cNvPr id="20" name="Shape 15"/>
          <p:cNvSpPr/>
          <p:nvPr/>
        </p:nvSpPr>
        <p:spPr>
          <a:xfrm>
            <a:off x="704088" y="3191256"/>
            <a:ext cx="475488" cy="47548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21" name="Image 3" descr="preencoded.png"/>
          <p:cNvPicPr>
            <a:picLocks noChangeAspect="1"/>
          </p:cNvPicPr>
          <p:nvPr/>
        </p:nvPicPr>
        <p:blipFill>
          <a:blip r:embed="rId6"/>
          <a:stretch>
            <a:fillRect/>
          </a:stretch>
        </p:blipFill>
        <p:spPr>
          <a:xfrm>
            <a:off x="827715" y="3314883"/>
            <a:ext cx="228234" cy="228234"/>
          </a:xfrm>
          <a:prstGeom prst="rect">
            <a:avLst/>
          </a:prstGeom>
        </p:spPr>
      </p:pic>
      <p:sp>
        <p:nvSpPr>
          <p:cNvPr id="22" name="Text 16"/>
          <p:cNvSpPr/>
          <p:nvPr/>
        </p:nvSpPr>
        <p:spPr>
          <a:xfrm>
            <a:off x="1289304" y="3081528"/>
            <a:ext cx="1673352" cy="365760"/>
          </a:xfrm>
          <a:prstGeom prst="rect">
            <a:avLst/>
          </a:prstGeom>
          <a:noFill/>
          <a:ln/>
        </p:spPr>
        <p:txBody>
          <a:bodyPr wrap="square" lIns="0" tIns="0" rIns="0" bIns="0" rtlCol="0" anchor="ctr"/>
          <a:lstStyle/>
          <a:p>
            <a:pPr marL="0" indent="0">
              <a:buNone/>
            </a:pPr>
            <a:r>
              <a:rPr lang="en-US" sz="1500" b="1" dirty="0">
                <a:solidFill>
                  <a:srgbClr val="16181D"/>
                </a:solidFill>
                <a:latin typeface="Courier New" pitchFamily="34" charset="0"/>
                <a:ea typeface="Courier New" pitchFamily="34" charset="-122"/>
                <a:cs typeface="Courier New" pitchFamily="34" charset="-120"/>
              </a:rPr>
              <a:t>&lt;img&gt;</a:t>
            </a:r>
            <a:endParaRPr lang="en-US" sz="1500" dirty="0"/>
          </a:p>
        </p:txBody>
      </p:sp>
      <p:sp>
        <p:nvSpPr>
          <p:cNvPr id="23" name="Text 17"/>
          <p:cNvSpPr/>
          <p:nvPr/>
        </p:nvSpPr>
        <p:spPr>
          <a:xfrm>
            <a:off x="1289304" y="3465576"/>
            <a:ext cx="1673352" cy="365760"/>
          </a:xfrm>
          <a:prstGeom prst="rect">
            <a:avLst/>
          </a:prstGeom>
          <a:noFill/>
          <a:ln/>
        </p:spPr>
        <p:txBody>
          <a:bodyPr wrap="square" lIns="0" tIns="0" rIns="0" bIns="0" rtlCol="0" anchor="ctr"/>
          <a:lstStyle/>
          <a:p>
            <a:pPr marL="0" indent="0">
              <a:buNone/>
            </a:pPr>
            <a:r>
              <a:rPr lang="en-US" sz="1150" dirty="0">
                <a:solidFill>
                  <a:srgbClr val="353A45"/>
                </a:solidFill>
                <a:latin typeface="Calibri" pitchFamily="34" charset="0"/>
                <a:ea typeface="Calibri" pitchFamily="34" charset="-122"/>
                <a:cs typeface="Calibri" pitchFamily="34" charset="-120"/>
              </a:rPr>
              <a:t>An image</a:t>
            </a:r>
            <a:endParaRPr lang="en-US" sz="1150" dirty="0"/>
          </a:p>
        </p:txBody>
      </p:sp>
      <p:sp>
        <p:nvSpPr>
          <p:cNvPr id="24" name="Shape 18"/>
          <p:cNvSpPr/>
          <p:nvPr/>
        </p:nvSpPr>
        <p:spPr>
          <a:xfrm>
            <a:off x="3273552" y="2898648"/>
            <a:ext cx="2587752" cy="1060704"/>
          </a:xfrm>
          <a:prstGeom prst="roundRect">
            <a:avLst>
              <a:gd name="adj" fmla="val 7759"/>
            </a:avLst>
          </a:prstGeom>
          <a:solidFill>
            <a:srgbClr val="F4F4F2"/>
          </a:solidFill>
          <a:ln/>
        </p:spPr>
        <p:txBody>
          <a:bodyPr/>
          <a:lstStyle/>
          <a:p>
            <a:endParaRPr lang="en-US"/>
          </a:p>
        </p:txBody>
      </p:sp>
      <p:sp>
        <p:nvSpPr>
          <p:cNvPr id="25" name="Shape 19"/>
          <p:cNvSpPr/>
          <p:nvPr/>
        </p:nvSpPr>
        <p:spPr>
          <a:xfrm>
            <a:off x="3474720" y="3191256"/>
            <a:ext cx="475488" cy="47548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26" name="Image 4" descr="preencoded.png"/>
          <p:cNvPicPr>
            <a:picLocks noChangeAspect="1"/>
          </p:cNvPicPr>
          <p:nvPr/>
        </p:nvPicPr>
        <p:blipFill>
          <a:blip r:embed="rId7"/>
          <a:stretch>
            <a:fillRect/>
          </a:stretch>
        </p:blipFill>
        <p:spPr>
          <a:xfrm>
            <a:off x="3598347" y="3314883"/>
            <a:ext cx="228234" cy="228234"/>
          </a:xfrm>
          <a:prstGeom prst="rect">
            <a:avLst/>
          </a:prstGeom>
        </p:spPr>
      </p:pic>
      <p:sp>
        <p:nvSpPr>
          <p:cNvPr id="27" name="Text 20"/>
          <p:cNvSpPr/>
          <p:nvPr/>
        </p:nvSpPr>
        <p:spPr>
          <a:xfrm>
            <a:off x="4059936" y="3081528"/>
            <a:ext cx="1673352" cy="365760"/>
          </a:xfrm>
          <a:prstGeom prst="rect">
            <a:avLst/>
          </a:prstGeom>
          <a:noFill/>
          <a:ln/>
        </p:spPr>
        <p:txBody>
          <a:bodyPr wrap="square" lIns="0" tIns="0" rIns="0" bIns="0" rtlCol="0" anchor="ctr"/>
          <a:lstStyle/>
          <a:p>
            <a:pPr marL="0" indent="0">
              <a:buNone/>
            </a:pPr>
            <a:r>
              <a:rPr lang="en-US" sz="1500" b="1" dirty="0">
                <a:solidFill>
                  <a:srgbClr val="16181D"/>
                </a:solidFill>
                <a:latin typeface="Courier New" pitchFamily="34" charset="0"/>
                <a:ea typeface="Courier New" pitchFamily="34" charset="-122"/>
                <a:cs typeface="Courier New" pitchFamily="34" charset="-120"/>
              </a:rPr>
              <a:t>&lt;strong&gt;</a:t>
            </a:r>
            <a:endParaRPr lang="en-US" sz="1500" dirty="0"/>
          </a:p>
        </p:txBody>
      </p:sp>
      <p:sp>
        <p:nvSpPr>
          <p:cNvPr id="28" name="Text 21"/>
          <p:cNvSpPr/>
          <p:nvPr/>
        </p:nvSpPr>
        <p:spPr>
          <a:xfrm>
            <a:off x="4059936" y="3465576"/>
            <a:ext cx="1673352" cy="365760"/>
          </a:xfrm>
          <a:prstGeom prst="rect">
            <a:avLst/>
          </a:prstGeom>
          <a:noFill/>
          <a:ln/>
        </p:spPr>
        <p:txBody>
          <a:bodyPr wrap="square" lIns="0" tIns="0" rIns="0" bIns="0" rtlCol="0" anchor="ctr"/>
          <a:lstStyle/>
          <a:p>
            <a:pPr marL="0" indent="0">
              <a:buNone/>
            </a:pPr>
            <a:r>
              <a:rPr lang="en-US" sz="1150" dirty="0">
                <a:solidFill>
                  <a:srgbClr val="353A45"/>
                </a:solidFill>
                <a:latin typeface="Calibri" pitchFamily="34" charset="0"/>
                <a:ea typeface="Calibri" pitchFamily="34" charset="-122"/>
                <a:cs typeface="Calibri" pitchFamily="34" charset="-120"/>
              </a:rPr>
              <a:t>Bold / important text</a:t>
            </a:r>
            <a:endParaRPr lang="en-US" sz="1150" dirty="0"/>
          </a:p>
        </p:txBody>
      </p:sp>
      <p:sp>
        <p:nvSpPr>
          <p:cNvPr id="29" name="Shape 22"/>
          <p:cNvSpPr/>
          <p:nvPr/>
        </p:nvSpPr>
        <p:spPr>
          <a:xfrm>
            <a:off x="6044184" y="2898648"/>
            <a:ext cx="2587752" cy="1060704"/>
          </a:xfrm>
          <a:prstGeom prst="roundRect">
            <a:avLst>
              <a:gd name="adj" fmla="val 7759"/>
            </a:avLst>
          </a:prstGeom>
          <a:solidFill>
            <a:srgbClr val="F4F4F2"/>
          </a:solidFill>
          <a:ln/>
        </p:spPr>
        <p:txBody>
          <a:bodyPr/>
          <a:lstStyle/>
          <a:p>
            <a:endParaRPr lang="en-US"/>
          </a:p>
        </p:txBody>
      </p:sp>
      <p:sp>
        <p:nvSpPr>
          <p:cNvPr id="30" name="Shape 23"/>
          <p:cNvSpPr/>
          <p:nvPr/>
        </p:nvSpPr>
        <p:spPr>
          <a:xfrm>
            <a:off x="6245352" y="3191256"/>
            <a:ext cx="475488" cy="47548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31" name="Image 5" descr="preencoded.png"/>
          <p:cNvPicPr>
            <a:picLocks noChangeAspect="1"/>
          </p:cNvPicPr>
          <p:nvPr/>
        </p:nvPicPr>
        <p:blipFill>
          <a:blip r:embed="rId8"/>
          <a:stretch>
            <a:fillRect/>
          </a:stretch>
        </p:blipFill>
        <p:spPr>
          <a:xfrm>
            <a:off x="6368979" y="3314883"/>
            <a:ext cx="228234" cy="228234"/>
          </a:xfrm>
          <a:prstGeom prst="rect">
            <a:avLst/>
          </a:prstGeom>
        </p:spPr>
      </p:pic>
      <p:sp>
        <p:nvSpPr>
          <p:cNvPr id="32" name="Text 24"/>
          <p:cNvSpPr/>
          <p:nvPr/>
        </p:nvSpPr>
        <p:spPr>
          <a:xfrm>
            <a:off x="6830568" y="3081528"/>
            <a:ext cx="1673352" cy="365760"/>
          </a:xfrm>
          <a:prstGeom prst="rect">
            <a:avLst/>
          </a:prstGeom>
          <a:noFill/>
          <a:ln/>
        </p:spPr>
        <p:txBody>
          <a:bodyPr wrap="square" lIns="0" tIns="0" rIns="0" bIns="0" rtlCol="0" anchor="ctr"/>
          <a:lstStyle/>
          <a:p>
            <a:pPr marL="0" indent="0">
              <a:buNone/>
            </a:pPr>
            <a:r>
              <a:rPr lang="en-US" sz="1500" b="1" dirty="0">
                <a:solidFill>
                  <a:srgbClr val="16181D"/>
                </a:solidFill>
                <a:latin typeface="Courier New" pitchFamily="34" charset="0"/>
                <a:ea typeface="Courier New" pitchFamily="34" charset="-122"/>
                <a:cs typeface="Courier New" pitchFamily="34" charset="-120"/>
              </a:rPr>
              <a:t>&lt;ul&gt; &lt;li&gt;</a:t>
            </a:r>
            <a:endParaRPr lang="en-US" sz="1500" dirty="0"/>
          </a:p>
        </p:txBody>
      </p:sp>
      <p:sp>
        <p:nvSpPr>
          <p:cNvPr id="33" name="Text 25"/>
          <p:cNvSpPr/>
          <p:nvPr/>
        </p:nvSpPr>
        <p:spPr>
          <a:xfrm>
            <a:off x="6830568" y="3465576"/>
            <a:ext cx="1673352" cy="365760"/>
          </a:xfrm>
          <a:prstGeom prst="rect">
            <a:avLst/>
          </a:prstGeom>
          <a:noFill/>
          <a:ln/>
        </p:spPr>
        <p:txBody>
          <a:bodyPr wrap="square" lIns="0" tIns="0" rIns="0" bIns="0" rtlCol="0" anchor="ctr"/>
          <a:lstStyle/>
          <a:p>
            <a:pPr marL="0" indent="0">
              <a:buNone/>
            </a:pPr>
            <a:r>
              <a:rPr lang="en-US" sz="1150" dirty="0">
                <a:solidFill>
                  <a:srgbClr val="353A45"/>
                </a:solidFill>
                <a:latin typeface="Calibri" pitchFamily="34" charset="0"/>
                <a:ea typeface="Calibri" pitchFamily="34" charset="-122"/>
                <a:cs typeface="Calibri" pitchFamily="34" charset="-120"/>
              </a:rPr>
              <a:t>A bulleted list</a:t>
            </a:r>
            <a:endParaRPr lang="en-US" sz="1150" dirty="0"/>
          </a:p>
        </p:txBody>
      </p:sp>
      <p:sp>
        <p:nvSpPr>
          <p:cNvPr id="34" name="Text 26"/>
          <p:cNvSpPr/>
          <p:nvPr/>
        </p:nvSpPr>
        <p:spPr>
          <a:xfrm>
            <a:off x="502920" y="4526280"/>
            <a:ext cx="8138160" cy="365760"/>
          </a:xfrm>
          <a:prstGeom prst="rect">
            <a:avLst/>
          </a:prstGeom>
          <a:noFill/>
          <a:ln/>
        </p:spPr>
        <p:txBody>
          <a:bodyPr wrap="square" lIns="0" tIns="0" rIns="0" bIns="0"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Six tags. That's genuinely enough to build a real story page — you'll use all of them in the next workshop.</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GIVING A TAG EXTRA INFORMATION</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Attributes: the details a tag needs</a:t>
            </a:r>
            <a:endParaRPr lang="en-US" sz="3300" dirty="0"/>
          </a:p>
        </p:txBody>
      </p:sp>
      <p:sp>
        <p:nvSpPr>
          <p:cNvPr id="4" name="Shape 2"/>
          <p:cNvSpPr/>
          <p:nvPr/>
        </p:nvSpPr>
        <p:spPr>
          <a:xfrm>
            <a:off x="502920" y="1691640"/>
            <a:ext cx="8138160" cy="1005840"/>
          </a:xfrm>
          <a:prstGeom prst="roundRect">
            <a:avLst>
              <a:gd name="adj" fmla="val 7273"/>
            </a:avLst>
          </a:prstGeom>
          <a:solidFill>
            <a:srgbClr val="1B1E26"/>
          </a:solidFill>
          <a:ln/>
          <a:effectLst>
            <a:outerShdw blurRad="88900" dist="38100" dir="5400000" algn="bl" rotWithShape="0">
              <a:srgbClr val="000000">
                <a:alpha val="10000"/>
              </a:srgbClr>
            </a:outerShdw>
          </a:effectLst>
        </p:spPr>
        <p:txBody>
          <a:bodyPr/>
          <a:lstStyle/>
          <a:p>
            <a:endParaRPr lang="en-US"/>
          </a:p>
        </p:txBody>
      </p:sp>
      <p:sp>
        <p:nvSpPr>
          <p:cNvPr id="5" name="Text 3"/>
          <p:cNvSpPr/>
          <p:nvPr/>
        </p:nvSpPr>
        <p:spPr>
          <a:xfrm>
            <a:off x="777240" y="1691640"/>
            <a:ext cx="7589520" cy="1005840"/>
          </a:xfrm>
          <a:prstGeom prst="rect">
            <a:avLst/>
          </a:prstGeom>
          <a:noFill/>
          <a:ln/>
        </p:spPr>
        <p:txBody>
          <a:bodyPr wrap="square" lIns="0" tIns="0" rIns="0" bIns="0" rtlCol="0" anchor="ctr"/>
          <a:lstStyle/>
          <a:p>
            <a:pPr marL="0" indent="0">
              <a:buNone/>
            </a:pPr>
            <a:r>
              <a:rPr lang="en-US" sz="1900" dirty="0">
                <a:solidFill>
                  <a:srgbClr val="8FD19E"/>
                </a:solidFill>
                <a:latin typeface="Courier New" pitchFamily="34" charset="0"/>
                <a:ea typeface="Courier New" pitchFamily="34" charset="-122"/>
                <a:cs typeface="Courier New" pitchFamily="34" charset="-120"/>
              </a:rPr>
              <a:t>&lt;img </a:t>
            </a:r>
            <a:r>
              <a:rPr lang="en-US" sz="1900" dirty="0">
                <a:solidFill>
                  <a:srgbClr val="E0A020"/>
                </a:solidFill>
                <a:latin typeface="Courier New" pitchFamily="34" charset="0"/>
                <a:ea typeface="Courier New" pitchFamily="34" charset="-122"/>
                <a:cs typeface="Courier New" pitchFamily="34" charset="-120"/>
              </a:rPr>
              <a:t>src</a:t>
            </a:r>
            <a:r>
              <a:rPr lang="en-US" sz="1900" dirty="0">
                <a:solidFill>
                  <a:srgbClr val="E9EAEC"/>
                </a:solidFill>
                <a:latin typeface="Courier New" pitchFamily="34" charset="0"/>
                <a:ea typeface="Courier New" pitchFamily="34" charset="-122"/>
                <a:cs typeface="Courier New" pitchFamily="34" charset="-120"/>
              </a:rPr>
              <a:t>=</a:t>
            </a:r>
            <a:r>
              <a:rPr lang="en-US" sz="1900" dirty="0">
                <a:solidFill>
                  <a:srgbClr val="C9A0FF"/>
                </a:solidFill>
                <a:latin typeface="Courier New" pitchFamily="34" charset="0"/>
                <a:ea typeface="Courier New" pitchFamily="34" charset="-122"/>
                <a:cs typeface="Courier New" pitchFamily="34" charset="-120"/>
              </a:rPr>
              <a:t>"city-hall.jpg"</a:t>
            </a:r>
            <a:r>
              <a:rPr lang="en-US" sz="1900" dirty="0">
                <a:solidFill>
                  <a:srgbClr val="8FD19E"/>
                </a:solidFill>
                <a:latin typeface="Courier New" pitchFamily="34" charset="0"/>
                <a:ea typeface="Courier New" pitchFamily="34" charset="-122"/>
                <a:cs typeface="Courier New" pitchFamily="34" charset="-120"/>
              </a:rPr>
              <a:t>&gt;</a:t>
            </a:r>
            <a:endParaRPr lang="en-US" sz="1900" dirty="0"/>
          </a:p>
        </p:txBody>
      </p:sp>
      <p:sp>
        <p:nvSpPr>
          <p:cNvPr id="6" name="Text 4"/>
          <p:cNvSpPr/>
          <p:nvPr/>
        </p:nvSpPr>
        <p:spPr>
          <a:xfrm>
            <a:off x="1737360" y="2615184"/>
            <a:ext cx="2194560" cy="274320"/>
          </a:xfrm>
          <a:prstGeom prst="rect">
            <a:avLst/>
          </a:prstGeom>
          <a:noFill/>
          <a:ln/>
        </p:spPr>
        <p:txBody>
          <a:bodyPr wrap="square" lIns="0" tIns="0" rIns="0" bIns="0" rtlCol="0" anchor="ctr"/>
          <a:lstStyle/>
          <a:p>
            <a:pPr marL="0" indent="0">
              <a:buNone/>
            </a:pPr>
            <a:r>
              <a:rPr lang="en-US" sz="1100" i="1" dirty="0">
                <a:solidFill>
                  <a:srgbClr val="AC7708"/>
                </a:solidFill>
                <a:latin typeface="Calibri" pitchFamily="34" charset="0"/>
                <a:ea typeface="Calibri" pitchFamily="34" charset="-122"/>
                <a:cs typeface="Calibri" pitchFamily="34" charset="-120"/>
              </a:rPr>
              <a:t>attribute (which detail)</a:t>
            </a:r>
            <a:endParaRPr lang="en-US" sz="1100" dirty="0"/>
          </a:p>
        </p:txBody>
      </p:sp>
      <p:sp>
        <p:nvSpPr>
          <p:cNvPr id="7" name="Text 5"/>
          <p:cNvSpPr/>
          <p:nvPr/>
        </p:nvSpPr>
        <p:spPr>
          <a:xfrm>
            <a:off x="3520440" y="2615184"/>
            <a:ext cx="2377440" cy="274320"/>
          </a:xfrm>
          <a:prstGeom prst="rect">
            <a:avLst/>
          </a:prstGeom>
          <a:noFill/>
          <a:ln/>
        </p:spPr>
        <p:txBody>
          <a:bodyPr wrap="square" lIns="0" tIns="0" rIns="0" bIns="0" rtlCol="0" anchor="ctr"/>
          <a:lstStyle/>
          <a:p>
            <a:pPr marL="0" indent="0">
              <a:buNone/>
            </a:pPr>
            <a:r>
              <a:rPr lang="en-US" sz="1100" i="1" dirty="0">
                <a:solidFill>
                  <a:srgbClr val="AC7708"/>
                </a:solidFill>
                <a:latin typeface="Calibri" pitchFamily="34" charset="0"/>
                <a:ea typeface="Calibri" pitchFamily="34" charset="-122"/>
                <a:cs typeface="Calibri" pitchFamily="34" charset="-120"/>
              </a:rPr>
              <a:t>value (what it's set to)</a:t>
            </a:r>
            <a:endParaRPr lang="en-US" sz="1100" dirty="0"/>
          </a:p>
        </p:txBody>
      </p:sp>
      <p:sp>
        <p:nvSpPr>
          <p:cNvPr id="8" name="Shape 6"/>
          <p:cNvSpPr/>
          <p:nvPr/>
        </p:nvSpPr>
        <p:spPr>
          <a:xfrm>
            <a:off x="594360" y="3127248"/>
            <a:ext cx="384048" cy="38404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694212" y="3227100"/>
            <a:ext cx="184343" cy="184343"/>
          </a:xfrm>
          <a:prstGeom prst="rect">
            <a:avLst/>
          </a:prstGeom>
        </p:spPr>
      </p:pic>
      <p:sp>
        <p:nvSpPr>
          <p:cNvPr id="10" name="Text 7"/>
          <p:cNvSpPr/>
          <p:nvPr/>
        </p:nvSpPr>
        <p:spPr>
          <a:xfrm>
            <a:off x="1124712" y="3099816"/>
            <a:ext cx="7498080" cy="420624"/>
          </a:xfrm>
          <a:prstGeom prst="rect">
            <a:avLst/>
          </a:prstGeom>
          <a:noFill/>
          <a:ln/>
        </p:spPr>
        <p:txBody>
          <a:bodyPr wrap="square" lIns="0" tIns="0" rIns="0" bIns="0" rtlCol="0" anchor="ctr"/>
          <a:lstStyle/>
          <a:p>
            <a:pPr marL="0" indent="0">
              <a:buNone/>
            </a:pPr>
            <a:r>
              <a:rPr lang="en-US" sz="1300" b="1" dirty="0">
                <a:solidFill>
                  <a:srgbClr val="16181D"/>
                </a:solidFill>
                <a:latin typeface="Courier New" pitchFamily="34" charset="0"/>
                <a:ea typeface="Courier New" pitchFamily="34" charset="-122"/>
                <a:cs typeface="Courier New" pitchFamily="34" charset="-120"/>
              </a:rPr>
              <a:t>src   </a:t>
            </a:r>
            <a:r>
              <a:rPr lang="en-US" sz="1300" dirty="0">
                <a:solidFill>
                  <a:srgbClr val="353A45"/>
                </a:solidFill>
                <a:latin typeface="Calibri" pitchFamily="34" charset="0"/>
                <a:ea typeface="Calibri" pitchFamily="34" charset="-122"/>
                <a:cs typeface="Calibri" pitchFamily="34" charset="-120"/>
              </a:rPr>
              <a:t>Where the image lives — a filename or a web link.</a:t>
            </a:r>
            <a:endParaRPr lang="en-US" sz="1300" dirty="0"/>
          </a:p>
        </p:txBody>
      </p:sp>
      <p:sp>
        <p:nvSpPr>
          <p:cNvPr id="11" name="Shape 8"/>
          <p:cNvSpPr/>
          <p:nvPr/>
        </p:nvSpPr>
        <p:spPr>
          <a:xfrm>
            <a:off x="594360" y="3621024"/>
            <a:ext cx="384048" cy="38404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694212" y="3720876"/>
            <a:ext cx="184343" cy="184343"/>
          </a:xfrm>
          <a:prstGeom prst="rect">
            <a:avLst/>
          </a:prstGeom>
        </p:spPr>
      </p:pic>
      <p:sp>
        <p:nvSpPr>
          <p:cNvPr id="13" name="Text 9"/>
          <p:cNvSpPr/>
          <p:nvPr/>
        </p:nvSpPr>
        <p:spPr>
          <a:xfrm>
            <a:off x="1124712" y="3593592"/>
            <a:ext cx="7498080" cy="420624"/>
          </a:xfrm>
          <a:prstGeom prst="rect">
            <a:avLst/>
          </a:prstGeom>
          <a:noFill/>
          <a:ln/>
        </p:spPr>
        <p:txBody>
          <a:bodyPr wrap="square" lIns="0" tIns="0" rIns="0" bIns="0" rtlCol="0" anchor="ctr"/>
          <a:lstStyle/>
          <a:p>
            <a:pPr marL="0" indent="0">
              <a:buNone/>
            </a:pPr>
            <a:r>
              <a:rPr lang="en-US" sz="1300" b="1" dirty="0">
                <a:solidFill>
                  <a:srgbClr val="16181D"/>
                </a:solidFill>
                <a:latin typeface="Courier New" pitchFamily="34" charset="0"/>
                <a:ea typeface="Courier New" pitchFamily="34" charset="-122"/>
                <a:cs typeface="Courier New" pitchFamily="34" charset="-120"/>
              </a:rPr>
              <a:t>href   </a:t>
            </a:r>
            <a:r>
              <a:rPr lang="en-US" sz="1300" dirty="0">
                <a:solidFill>
                  <a:srgbClr val="353A45"/>
                </a:solidFill>
                <a:latin typeface="Calibri" pitchFamily="34" charset="0"/>
                <a:ea typeface="Calibri" pitchFamily="34" charset="-122"/>
                <a:cs typeface="Calibri" pitchFamily="34" charset="-120"/>
              </a:rPr>
              <a:t>Where a link goes — used on the &lt;a&gt; tag.</a:t>
            </a:r>
            <a:endParaRPr lang="en-US" sz="1300" dirty="0"/>
          </a:p>
        </p:txBody>
      </p:sp>
      <p:sp>
        <p:nvSpPr>
          <p:cNvPr id="14" name="Shape 10"/>
          <p:cNvSpPr/>
          <p:nvPr/>
        </p:nvSpPr>
        <p:spPr>
          <a:xfrm>
            <a:off x="594360" y="4114800"/>
            <a:ext cx="384048" cy="38404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5" name="Image 2" descr="preencoded.png"/>
          <p:cNvPicPr>
            <a:picLocks noChangeAspect="1"/>
          </p:cNvPicPr>
          <p:nvPr/>
        </p:nvPicPr>
        <p:blipFill>
          <a:blip r:embed="rId5"/>
          <a:stretch>
            <a:fillRect/>
          </a:stretch>
        </p:blipFill>
        <p:spPr>
          <a:xfrm>
            <a:off x="694212" y="4214652"/>
            <a:ext cx="184343" cy="184343"/>
          </a:xfrm>
          <a:prstGeom prst="rect">
            <a:avLst/>
          </a:prstGeom>
        </p:spPr>
      </p:pic>
      <p:sp>
        <p:nvSpPr>
          <p:cNvPr id="16" name="Text 11"/>
          <p:cNvSpPr/>
          <p:nvPr/>
        </p:nvSpPr>
        <p:spPr>
          <a:xfrm>
            <a:off x="1124712" y="4087368"/>
            <a:ext cx="7498080" cy="420624"/>
          </a:xfrm>
          <a:prstGeom prst="rect">
            <a:avLst/>
          </a:prstGeom>
          <a:noFill/>
          <a:ln/>
        </p:spPr>
        <p:txBody>
          <a:bodyPr wrap="square" lIns="0" tIns="0" rIns="0" bIns="0" rtlCol="0" anchor="ctr"/>
          <a:lstStyle/>
          <a:p>
            <a:pPr marL="0" indent="0">
              <a:buNone/>
            </a:pPr>
            <a:r>
              <a:rPr lang="en-US" sz="1300" b="1" dirty="0">
                <a:solidFill>
                  <a:srgbClr val="16181D"/>
                </a:solidFill>
                <a:latin typeface="Calibri" pitchFamily="34" charset="0"/>
                <a:ea typeface="Calibri" pitchFamily="34" charset="-122"/>
                <a:cs typeface="Calibri" pitchFamily="34" charset="-120"/>
              </a:rPr>
              <a:t>Some tags stand alone   </a:t>
            </a:r>
            <a:r>
              <a:rPr lang="en-US" sz="1300" dirty="0">
                <a:solidFill>
                  <a:srgbClr val="353A45"/>
                </a:solidFill>
                <a:latin typeface="Calibri" pitchFamily="34" charset="0"/>
                <a:ea typeface="Calibri" pitchFamily="34" charset="-122"/>
                <a:cs typeface="Calibri" pitchFamily="34" charset="-120"/>
              </a:rPr>
              <a:t>&lt;img&gt; has no closing tag — it's self-contained. Not every tag comes in a pair.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TWO MINUTES OF SETUP</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Set up your workspace</a:t>
            </a:r>
            <a:endParaRPr lang="en-US" sz="3300" dirty="0"/>
          </a:p>
        </p:txBody>
      </p:sp>
      <p:sp>
        <p:nvSpPr>
          <p:cNvPr id="4" name="Shape 2"/>
          <p:cNvSpPr/>
          <p:nvPr/>
        </p:nvSpPr>
        <p:spPr>
          <a:xfrm>
            <a:off x="502920" y="1691640"/>
            <a:ext cx="3977640" cy="1170432"/>
          </a:xfrm>
          <a:prstGeom prst="roundRect">
            <a:avLst>
              <a:gd name="adj" fmla="val 7031"/>
            </a:avLst>
          </a:prstGeom>
          <a:solidFill>
            <a:srgbClr val="F4F4F2"/>
          </a:solidFill>
          <a:ln/>
        </p:spPr>
        <p:txBody>
          <a:bodyPr/>
          <a:lstStyle/>
          <a:p>
            <a:endParaRPr lang="en-US"/>
          </a:p>
        </p:txBody>
      </p:sp>
      <p:sp>
        <p:nvSpPr>
          <p:cNvPr id="5" name="Shape 3"/>
          <p:cNvSpPr/>
          <p:nvPr/>
        </p:nvSpPr>
        <p:spPr>
          <a:xfrm>
            <a:off x="722376" y="1911096"/>
            <a:ext cx="548640" cy="54864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65022" y="2053742"/>
            <a:ext cx="263347" cy="263347"/>
          </a:xfrm>
          <a:prstGeom prst="rect">
            <a:avLst/>
          </a:prstGeom>
        </p:spPr>
      </p:pic>
      <p:sp>
        <p:nvSpPr>
          <p:cNvPr id="7" name="Text 4"/>
          <p:cNvSpPr/>
          <p:nvPr/>
        </p:nvSpPr>
        <p:spPr>
          <a:xfrm>
            <a:off x="1417320" y="1874520"/>
            <a:ext cx="2880360" cy="320040"/>
          </a:xfrm>
          <a:prstGeom prst="rect">
            <a:avLst/>
          </a:prstGeom>
          <a:noFill/>
          <a:ln/>
        </p:spPr>
        <p:txBody>
          <a:bodyPr wrap="square" lIns="0" tIns="0" rIns="0" bIns="0" rtlCol="0" anchor="ctr"/>
          <a:lstStyle/>
          <a:p>
            <a:pPr marL="0" indent="0">
              <a:buNone/>
            </a:pPr>
            <a:r>
              <a:rPr lang="en-US" sz="1500" b="1" dirty="0">
                <a:solidFill>
                  <a:srgbClr val="16181D"/>
                </a:solidFill>
                <a:latin typeface="Bookman Old Style" pitchFamily="34" charset="0"/>
                <a:ea typeface="Bookman Old Style" pitchFamily="34" charset="-122"/>
                <a:cs typeface="Bookman Old Style" pitchFamily="34" charset="-120"/>
              </a:rPr>
              <a:t>1.  Make a folder</a:t>
            </a:r>
            <a:endParaRPr lang="en-US" sz="1500" dirty="0"/>
          </a:p>
        </p:txBody>
      </p:sp>
      <p:sp>
        <p:nvSpPr>
          <p:cNvPr id="8" name="Text 5"/>
          <p:cNvSpPr/>
          <p:nvPr/>
        </p:nvSpPr>
        <p:spPr>
          <a:xfrm>
            <a:off x="1417320" y="2221992"/>
            <a:ext cx="2880360" cy="566928"/>
          </a:xfrm>
          <a:prstGeom prst="rect">
            <a:avLst/>
          </a:prstGeom>
          <a:noFill/>
          <a:ln/>
        </p:spPr>
        <p:txBody>
          <a:bodyPr wrap="square" lIns="0" tIns="0" rIns="0" bIns="0" rtlCol="0" anchor="ctr"/>
          <a:lstStyle/>
          <a:p>
            <a:pPr marL="0" indent="0">
              <a:lnSpc>
                <a:spcPct val="100000"/>
              </a:lnSpc>
              <a:buNone/>
            </a:pPr>
            <a:r>
              <a:rPr lang="en-US" sz="1150" dirty="0">
                <a:solidFill>
                  <a:srgbClr val="353A45"/>
                </a:solidFill>
                <a:latin typeface="Calibri" pitchFamily="34" charset="0"/>
                <a:ea typeface="Calibri" pitchFamily="34" charset="-122"/>
                <a:cs typeface="Calibri" pitchFamily="34" charset="-120"/>
              </a:rPr>
              <a:t>On your desktop, create a folder called Code, and inside it another called newsroom.</a:t>
            </a:r>
            <a:endParaRPr lang="en-US" sz="1150" dirty="0"/>
          </a:p>
        </p:txBody>
      </p:sp>
      <p:sp>
        <p:nvSpPr>
          <p:cNvPr id="9" name="Shape 6"/>
          <p:cNvSpPr/>
          <p:nvPr/>
        </p:nvSpPr>
        <p:spPr>
          <a:xfrm>
            <a:off x="4663440" y="1691640"/>
            <a:ext cx="3977640" cy="1170432"/>
          </a:xfrm>
          <a:prstGeom prst="roundRect">
            <a:avLst>
              <a:gd name="adj" fmla="val 7031"/>
            </a:avLst>
          </a:prstGeom>
          <a:solidFill>
            <a:srgbClr val="F4F4F2"/>
          </a:solidFill>
          <a:ln/>
        </p:spPr>
        <p:txBody>
          <a:bodyPr/>
          <a:lstStyle/>
          <a:p>
            <a:endParaRPr lang="en-US"/>
          </a:p>
        </p:txBody>
      </p:sp>
      <p:sp>
        <p:nvSpPr>
          <p:cNvPr id="10" name="Shape 7"/>
          <p:cNvSpPr/>
          <p:nvPr/>
        </p:nvSpPr>
        <p:spPr>
          <a:xfrm>
            <a:off x="4882896" y="1911096"/>
            <a:ext cx="548640" cy="54864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5025542" y="2053742"/>
            <a:ext cx="263347" cy="263347"/>
          </a:xfrm>
          <a:prstGeom prst="rect">
            <a:avLst/>
          </a:prstGeom>
        </p:spPr>
      </p:pic>
      <p:sp>
        <p:nvSpPr>
          <p:cNvPr id="12" name="Text 8"/>
          <p:cNvSpPr/>
          <p:nvPr/>
        </p:nvSpPr>
        <p:spPr>
          <a:xfrm>
            <a:off x="5577840" y="1874520"/>
            <a:ext cx="2880360" cy="320040"/>
          </a:xfrm>
          <a:prstGeom prst="rect">
            <a:avLst/>
          </a:prstGeom>
          <a:noFill/>
          <a:ln/>
        </p:spPr>
        <p:txBody>
          <a:bodyPr wrap="square" lIns="0" tIns="0" rIns="0" bIns="0" rtlCol="0" anchor="ctr"/>
          <a:lstStyle/>
          <a:p>
            <a:pPr marL="0" indent="0">
              <a:buNone/>
            </a:pPr>
            <a:r>
              <a:rPr lang="en-US" sz="1500" b="1" dirty="0">
                <a:solidFill>
                  <a:srgbClr val="16181D"/>
                </a:solidFill>
                <a:latin typeface="Bookman Old Style" pitchFamily="34" charset="0"/>
                <a:ea typeface="Bookman Old Style" pitchFamily="34" charset="-122"/>
                <a:cs typeface="Bookman Old Style" pitchFamily="34" charset="-120"/>
              </a:rPr>
              <a:t>2.  Open your editor</a:t>
            </a:r>
            <a:endParaRPr lang="en-US" sz="1500" dirty="0"/>
          </a:p>
        </p:txBody>
      </p:sp>
      <p:sp>
        <p:nvSpPr>
          <p:cNvPr id="13" name="Text 9"/>
          <p:cNvSpPr/>
          <p:nvPr/>
        </p:nvSpPr>
        <p:spPr>
          <a:xfrm>
            <a:off x="5577840" y="2221992"/>
            <a:ext cx="2880360" cy="566928"/>
          </a:xfrm>
          <a:prstGeom prst="rect">
            <a:avLst/>
          </a:prstGeom>
          <a:noFill/>
          <a:ln/>
        </p:spPr>
        <p:txBody>
          <a:bodyPr wrap="square" lIns="0" tIns="0" rIns="0" bIns="0" rtlCol="0" anchor="ctr"/>
          <a:lstStyle/>
          <a:p>
            <a:pPr marL="0" indent="0">
              <a:lnSpc>
                <a:spcPct val="100000"/>
              </a:lnSpc>
              <a:buNone/>
            </a:pPr>
            <a:r>
              <a:rPr lang="en-US" sz="1150" dirty="0">
                <a:solidFill>
                  <a:srgbClr val="353A45"/>
                </a:solidFill>
                <a:latin typeface="Calibri" pitchFamily="34" charset="0"/>
                <a:ea typeface="Calibri" pitchFamily="34" charset="-122"/>
                <a:cs typeface="Calibri" pitchFamily="34" charset="-120"/>
              </a:rPr>
              <a:t>Open the text editor we installed (VS Code / Sublime). This is where you'll write.</a:t>
            </a:r>
            <a:endParaRPr lang="en-US" sz="1150" dirty="0"/>
          </a:p>
        </p:txBody>
      </p:sp>
      <p:sp>
        <p:nvSpPr>
          <p:cNvPr id="14" name="Shape 10"/>
          <p:cNvSpPr/>
          <p:nvPr/>
        </p:nvSpPr>
        <p:spPr>
          <a:xfrm>
            <a:off x="502920" y="3008376"/>
            <a:ext cx="3977640" cy="1170432"/>
          </a:xfrm>
          <a:prstGeom prst="roundRect">
            <a:avLst>
              <a:gd name="adj" fmla="val 7031"/>
            </a:avLst>
          </a:prstGeom>
          <a:solidFill>
            <a:srgbClr val="F4F4F2"/>
          </a:solidFill>
          <a:ln/>
        </p:spPr>
        <p:txBody>
          <a:bodyPr/>
          <a:lstStyle/>
          <a:p>
            <a:endParaRPr lang="en-US"/>
          </a:p>
        </p:txBody>
      </p:sp>
      <p:sp>
        <p:nvSpPr>
          <p:cNvPr id="15" name="Shape 11"/>
          <p:cNvSpPr/>
          <p:nvPr/>
        </p:nvSpPr>
        <p:spPr>
          <a:xfrm>
            <a:off x="722376" y="3227832"/>
            <a:ext cx="548640" cy="54864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865022" y="3370478"/>
            <a:ext cx="263347" cy="263347"/>
          </a:xfrm>
          <a:prstGeom prst="rect">
            <a:avLst/>
          </a:prstGeom>
        </p:spPr>
      </p:pic>
      <p:sp>
        <p:nvSpPr>
          <p:cNvPr id="17" name="Text 12"/>
          <p:cNvSpPr/>
          <p:nvPr/>
        </p:nvSpPr>
        <p:spPr>
          <a:xfrm>
            <a:off x="1417320" y="3191256"/>
            <a:ext cx="2880360" cy="320040"/>
          </a:xfrm>
          <a:prstGeom prst="rect">
            <a:avLst/>
          </a:prstGeom>
          <a:noFill/>
          <a:ln/>
        </p:spPr>
        <p:txBody>
          <a:bodyPr wrap="square" lIns="0" tIns="0" rIns="0" bIns="0" rtlCol="0" anchor="ctr"/>
          <a:lstStyle/>
          <a:p>
            <a:pPr marL="0" indent="0">
              <a:buNone/>
            </a:pPr>
            <a:r>
              <a:rPr lang="en-US" sz="1500" b="1" dirty="0">
                <a:solidFill>
                  <a:srgbClr val="16181D"/>
                </a:solidFill>
                <a:latin typeface="Bookman Old Style" pitchFamily="34" charset="0"/>
                <a:ea typeface="Bookman Old Style" pitchFamily="34" charset="-122"/>
                <a:cs typeface="Bookman Old Style" pitchFamily="34" charset="-120"/>
              </a:rPr>
              <a:t>3.  Create the file</a:t>
            </a:r>
            <a:endParaRPr lang="en-US" sz="1500" dirty="0"/>
          </a:p>
        </p:txBody>
      </p:sp>
      <p:sp>
        <p:nvSpPr>
          <p:cNvPr id="18" name="Text 13"/>
          <p:cNvSpPr/>
          <p:nvPr/>
        </p:nvSpPr>
        <p:spPr>
          <a:xfrm>
            <a:off x="1417320" y="3538728"/>
            <a:ext cx="2880360" cy="566928"/>
          </a:xfrm>
          <a:prstGeom prst="rect">
            <a:avLst/>
          </a:prstGeom>
          <a:noFill/>
          <a:ln/>
        </p:spPr>
        <p:txBody>
          <a:bodyPr wrap="square" lIns="0" tIns="0" rIns="0" bIns="0" rtlCol="0" anchor="ctr"/>
          <a:lstStyle/>
          <a:p>
            <a:pPr marL="0" indent="0">
              <a:lnSpc>
                <a:spcPct val="100000"/>
              </a:lnSpc>
              <a:buNone/>
            </a:pPr>
            <a:r>
              <a:rPr lang="en-US" sz="1150" dirty="0">
                <a:solidFill>
                  <a:srgbClr val="353A45"/>
                </a:solidFill>
                <a:latin typeface="Calibri" pitchFamily="34" charset="0"/>
                <a:ea typeface="Calibri" pitchFamily="34" charset="-122"/>
                <a:cs typeface="Calibri" pitchFamily="34" charset="-120"/>
              </a:rPr>
              <a:t>In the newsroom folder, make a new file named practice.html.</a:t>
            </a:r>
            <a:endParaRPr lang="en-US" sz="1150" dirty="0"/>
          </a:p>
        </p:txBody>
      </p:sp>
      <p:sp>
        <p:nvSpPr>
          <p:cNvPr id="19" name="Shape 14"/>
          <p:cNvSpPr/>
          <p:nvPr/>
        </p:nvSpPr>
        <p:spPr>
          <a:xfrm>
            <a:off x="4663440" y="3008376"/>
            <a:ext cx="3977640" cy="1170432"/>
          </a:xfrm>
          <a:prstGeom prst="roundRect">
            <a:avLst>
              <a:gd name="adj" fmla="val 7031"/>
            </a:avLst>
          </a:prstGeom>
          <a:solidFill>
            <a:srgbClr val="F4F4F2"/>
          </a:solidFill>
          <a:ln/>
        </p:spPr>
        <p:txBody>
          <a:bodyPr/>
          <a:lstStyle/>
          <a:p>
            <a:endParaRPr lang="en-US"/>
          </a:p>
        </p:txBody>
      </p:sp>
      <p:sp>
        <p:nvSpPr>
          <p:cNvPr id="20" name="Shape 15"/>
          <p:cNvSpPr/>
          <p:nvPr/>
        </p:nvSpPr>
        <p:spPr>
          <a:xfrm>
            <a:off x="4882896" y="3227832"/>
            <a:ext cx="548640" cy="54864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21" name="Image 3" descr="preencoded.png"/>
          <p:cNvPicPr>
            <a:picLocks noChangeAspect="1"/>
          </p:cNvPicPr>
          <p:nvPr/>
        </p:nvPicPr>
        <p:blipFill>
          <a:blip r:embed="rId6"/>
          <a:stretch>
            <a:fillRect/>
          </a:stretch>
        </p:blipFill>
        <p:spPr>
          <a:xfrm>
            <a:off x="5025542" y="3370478"/>
            <a:ext cx="263347" cy="263347"/>
          </a:xfrm>
          <a:prstGeom prst="rect">
            <a:avLst/>
          </a:prstGeom>
        </p:spPr>
      </p:pic>
      <p:sp>
        <p:nvSpPr>
          <p:cNvPr id="22" name="Text 16"/>
          <p:cNvSpPr/>
          <p:nvPr/>
        </p:nvSpPr>
        <p:spPr>
          <a:xfrm>
            <a:off x="5577840" y="3191256"/>
            <a:ext cx="2880360" cy="320040"/>
          </a:xfrm>
          <a:prstGeom prst="rect">
            <a:avLst/>
          </a:prstGeom>
          <a:noFill/>
          <a:ln/>
        </p:spPr>
        <p:txBody>
          <a:bodyPr wrap="square" lIns="0" tIns="0" rIns="0" bIns="0" rtlCol="0" anchor="ctr"/>
          <a:lstStyle/>
          <a:p>
            <a:pPr marL="0" indent="0">
              <a:buNone/>
            </a:pPr>
            <a:r>
              <a:rPr lang="en-US" sz="1500" b="1" dirty="0">
                <a:solidFill>
                  <a:srgbClr val="16181D"/>
                </a:solidFill>
                <a:latin typeface="Bookman Old Style" pitchFamily="34" charset="0"/>
                <a:ea typeface="Bookman Old Style" pitchFamily="34" charset="-122"/>
                <a:cs typeface="Bookman Old Style" pitchFamily="34" charset="-120"/>
              </a:rPr>
              <a:t>4.  Open it two ways</a:t>
            </a:r>
            <a:endParaRPr lang="en-US" sz="1500" dirty="0"/>
          </a:p>
        </p:txBody>
      </p:sp>
      <p:sp>
        <p:nvSpPr>
          <p:cNvPr id="23" name="Text 17"/>
          <p:cNvSpPr/>
          <p:nvPr/>
        </p:nvSpPr>
        <p:spPr>
          <a:xfrm>
            <a:off x="5577840" y="3538728"/>
            <a:ext cx="2880360" cy="566928"/>
          </a:xfrm>
          <a:prstGeom prst="rect">
            <a:avLst/>
          </a:prstGeom>
          <a:noFill/>
          <a:ln/>
        </p:spPr>
        <p:txBody>
          <a:bodyPr wrap="square" lIns="0" tIns="0" rIns="0" bIns="0" rtlCol="0" anchor="ctr"/>
          <a:lstStyle/>
          <a:p>
            <a:pPr marL="0" indent="0">
              <a:lnSpc>
                <a:spcPct val="100000"/>
              </a:lnSpc>
              <a:buNone/>
            </a:pPr>
            <a:r>
              <a:rPr lang="en-US" sz="1150" dirty="0">
                <a:solidFill>
                  <a:srgbClr val="353A45"/>
                </a:solidFill>
                <a:latin typeface="Calibri" pitchFamily="34" charset="0"/>
                <a:ea typeface="Calibri" pitchFamily="34" charset="-122"/>
                <a:cs typeface="Calibri" pitchFamily="34" charset="-120"/>
              </a:rPr>
              <a:t>Keep it open in the editor to write and open the file in Chrome to see it.</a:t>
            </a:r>
            <a:endParaRPr lang="en-US" sz="1150" dirty="0"/>
          </a:p>
        </p:txBody>
      </p:sp>
      <p:sp>
        <p:nvSpPr>
          <p:cNvPr id="24" name="Text 18"/>
          <p:cNvSpPr/>
          <p:nvPr/>
        </p:nvSpPr>
        <p:spPr>
          <a:xfrm>
            <a:off x="502920" y="4526280"/>
            <a:ext cx="8138160" cy="365760"/>
          </a:xfrm>
          <a:prstGeom prst="rect">
            <a:avLst/>
          </a:prstGeom>
          <a:noFill/>
          <a:ln/>
        </p:spPr>
        <p:txBody>
          <a:bodyPr wrap="square" lIns="0" tIns="0" rIns="0" bIns="0" rtlCol="0" anchor="ctr"/>
          <a:lstStyle/>
          <a:p>
            <a:pPr marL="0" indent="0" algn="ctr">
              <a:buNone/>
            </a:pPr>
            <a:r>
              <a:rPr lang="en-US" sz="1300" i="1" dirty="0">
                <a:solidFill>
                  <a:srgbClr val="AC7708"/>
                </a:solidFill>
                <a:latin typeface="Calibri" pitchFamily="34" charset="0"/>
                <a:ea typeface="Calibri" pitchFamily="34" charset="-122"/>
                <a:cs typeface="Calibri" pitchFamily="34" charset="-120"/>
              </a:rPr>
              <a:t>The trick all day: editor on the left to write, Chrome on the right to see. Save, then refresh.</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92608"/>
          </a:xfrm>
          <a:prstGeom prst="rect">
            <a:avLst/>
          </a:prstGeom>
          <a:noFill/>
          <a:ln/>
        </p:spPr>
        <p:txBody>
          <a:bodyPr wrap="square" lIns="0" tIns="0" rIns="0" bIns="0" rtlCol="0" anchor="ctr"/>
          <a:lstStyle/>
          <a:p>
            <a:pPr marL="0" indent="0">
              <a:buNone/>
            </a:pPr>
            <a:r>
              <a:rPr lang="en-US" sz="1300" b="1" kern="0" spc="400" dirty="0">
                <a:solidFill>
                  <a:srgbClr val="E0A020"/>
                </a:solidFill>
                <a:latin typeface="Calibri" pitchFamily="34" charset="0"/>
                <a:ea typeface="Calibri" pitchFamily="34" charset="-122"/>
                <a:cs typeface="Calibri" pitchFamily="34" charset="-120"/>
              </a:rPr>
              <a:t>WORKSHOP 1   ·   Build  ·  45 min</a:t>
            </a:r>
            <a:endParaRPr lang="en-US" sz="1300" dirty="0"/>
          </a:p>
        </p:txBody>
      </p:sp>
      <p:sp>
        <p:nvSpPr>
          <p:cNvPr id="3" name="Text 1"/>
          <p:cNvSpPr/>
          <p:nvPr/>
        </p:nvSpPr>
        <p:spPr>
          <a:xfrm>
            <a:off x="502920" y="786384"/>
            <a:ext cx="6126480" cy="777240"/>
          </a:xfrm>
          <a:prstGeom prst="rect">
            <a:avLst/>
          </a:prstGeom>
          <a:noFill/>
          <a:ln/>
        </p:spPr>
        <p:txBody>
          <a:bodyPr wrap="square" lIns="0" tIns="0" rIns="0" bIns="0" rtlCol="0" anchor="ctr"/>
          <a:lstStyle/>
          <a:p>
            <a:pPr marL="0" indent="0">
              <a:lnSpc>
                <a:spcPct val="98000"/>
              </a:lnSpc>
              <a:buNone/>
            </a:pPr>
            <a:r>
              <a:rPr lang="en-US" sz="3000" b="1" dirty="0">
                <a:solidFill>
                  <a:srgbClr val="FFFFFF"/>
                </a:solidFill>
                <a:latin typeface="Bookman Old Style" pitchFamily="34" charset="0"/>
                <a:ea typeface="Bookman Old Style" pitchFamily="34" charset="-122"/>
                <a:cs typeface="Bookman Old Style" pitchFamily="34" charset="-120"/>
              </a:rPr>
              <a:t>Build your first page</a:t>
            </a:r>
            <a:endParaRPr lang="en-US" sz="3000" dirty="0"/>
          </a:p>
        </p:txBody>
      </p:sp>
      <p:sp>
        <p:nvSpPr>
          <p:cNvPr id="4" name="Shape 2"/>
          <p:cNvSpPr/>
          <p:nvPr/>
        </p:nvSpPr>
        <p:spPr>
          <a:xfrm>
            <a:off x="6720840" y="548640"/>
            <a:ext cx="1920240" cy="457200"/>
          </a:xfrm>
          <a:prstGeom prst="roundRect">
            <a:avLst>
              <a:gd name="adj" fmla="val 50000"/>
            </a:avLst>
          </a:prstGeom>
          <a:solidFill>
            <a:srgbClr val="23262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6858000" y="658368"/>
            <a:ext cx="237744" cy="237744"/>
          </a:xfrm>
          <a:prstGeom prst="rect">
            <a:avLst/>
          </a:prstGeom>
        </p:spPr>
      </p:pic>
      <p:sp>
        <p:nvSpPr>
          <p:cNvPr id="6" name="Text 3"/>
          <p:cNvSpPr/>
          <p:nvPr/>
        </p:nvSpPr>
        <p:spPr>
          <a:xfrm>
            <a:off x="7150608" y="548640"/>
            <a:ext cx="14173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With your neighbor</a:t>
            </a:r>
            <a:endParaRPr lang="en-US" sz="1050" dirty="0"/>
          </a:p>
        </p:txBody>
      </p:sp>
      <p:sp>
        <p:nvSpPr>
          <p:cNvPr id="7" name="Shape 4"/>
          <p:cNvSpPr/>
          <p:nvPr/>
        </p:nvSpPr>
        <p:spPr>
          <a:xfrm>
            <a:off x="6720840" y="1078992"/>
            <a:ext cx="1920240" cy="384048"/>
          </a:xfrm>
          <a:prstGeom prst="roundRect">
            <a:avLst>
              <a:gd name="adj" fmla="val 50000"/>
            </a:avLst>
          </a:prstGeom>
          <a:solidFill>
            <a:srgbClr val="E0A020"/>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6858000" y="1161288"/>
            <a:ext cx="219456" cy="219456"/>
          </a:xfrm>
          <a:prstGeom prst="rect">
            <a:avLst/>
          </a:prstGeom>
        </p:spPr>
      </p:pic>
      <p:sp>
        <p:nvSpPr>
          <p:cNvPr id="9" name="Text 5"/>
          <p:cNvSpPr/>
          <p:nvPr/>
        </p:nvSpPr>
        <p:spPr>
          <a:xfrm>
            <a:off x="7132320" y="1078992"/>
            <a:ext cx="1463040" cy="384048"/>
          </a:xfrm>
          <a:prstGeom prst="rect">
            <a:avLst/>
          </a:prstGeom>
          <a:noFill/>
          <a:ln/>
        </p:spPr>
        <p:txBody>
          <a:bodyPr wrap="square" lIns="0" tIns="0" rIns="0" bIns="0" rtlCol="0" anchor="ctr"/>
          <a:lstStyle/>
          <a:p>
            <a:pPr marL="0" indent="0">
              <a:buNone/>
            </a:pPr>
            <a:r>
              <a:rPr lang="en-US" sz="1100" b="1" dirty="0">
                <a:solidFill>
                  <a:srgbClr val="16181D"/>
                </a:solidFill>
                <a:latin typeface="Calibri" pitchFamily="34" charset="0"/>
                <a:ea typeface="Calibri" pitchFamily="34" charset="-122"/>
                <a:cs typeface="Calibri" pitchFamily="34" charset="-120"/>
              </a:rPr>
              <a:t>45 min</a:t>
            </a:r>
            <a:endParaRPr lang="en-US" sz="1100" dirty="0"/>
          </a:p>
        </p:txBody>
      </p:sp>
      <p:sp>
        <p:nvSpPr>
          <p:cNvPr id="10" name="Text 6"/>
          <p:cNvSpPr/>
          <p:nvPr/>
        </p:nvSpPr>
        <p:spPr>
          <a:xfrm>
            <a:off x="502920" y="1664208"/>
            <a:ext cx="8138160" cy="502920"/>
          </a:xfrm>
          <a:prstGeom prst="rect">
            <a:avLst/>
          </a:prstGeom>
          <a:noFill/>
          <a:ln/>
        </p:spPr>
        <p:txBody>
          <a:bodyPr wrap="square" lIns="0" tIns="0" rIns="0" bIns="0" rtlCol="0" anchor="ctr"/>
          <a:lstStyle/>
          <a:p>
            <a:pPr marL="0" indent="0">
              <a:lnSpc>
                <a:spcPct val="100000"/>
              </a:lnSpc>
              <a:buNone/>
            </a:pPr>
            <a:r>
              <a:rPr lang="en-US" sz="1450" b="1" dirty="0">
                <a:solidFill>
                  <a:srgbClr val="E0A020"/>
                </a:solidFill>
                <a:latin typeface="Calibri" pitchFamily="34" charset="0"/>
                <a:ea typeface="Calibri" pitchFamily="34" charset="-122"/>
                <a:cs typeface="Calibri" pitchFamily="34" charset="-120"/>
              </a:rPr>
              <a:t>Your task:  </a:t>
            </a:r>
            <a:r>
              <a:rPr lang="en-US" sz="1450" i="1" dirty="0">
                <a:solidFill>
                  <a:srgbClr val="E9EAEC"/>
                </a:solidFill>
                <a:latin typeface="Calibri" pitchFamily="34" charset="0"/>
                <a:ea typeface="Calibri" pitchFamily="34" charset="-122"/>
                <a:cs typeface="Calibri" pitchFamily="34" charset="-120"/>
              </a:rPr>
              <a:t>Turn an empty file into a real, structured news page — using only the six tags.</a:t>
            </a:r>
            <a:endParaRPr lang="en-US" sz="1450" dirty="0"/>
          </a:p>
        </p:txBody>
      </p:sp>
      <p:sp>
        <p:nvSpPr>
          <p:cNvPr id="11" name="Shape 7"/>
          <p:cNvSpPr/>
          <p:nvPr/>
        </p:nvSpPr>
        <p:spPr>
          <a:xfrm>
            <a:off x="502920" y="2286000"/>
            <a:ext cx="8138160" cy="1965960"/>
          </a:xfrm>
          <a:prstGeom prst="roundRect">
            <a:avLst>
              <a:gd name="adj" fmla="val 3721"/>
            </a:avLst>
          </a:prstGeom>
          <a:solidFill>
            <a:srgbClr val="23262F"/>
          </a:solidFill>
          <a:ln/>
        </p:spPr>
        <p:txBody>
          <a:bodyPr/>
          <a:lstStyle/>
          <a:p>
            <a:endParaRPr lang="en-US"/>
          </a:p>
        </p:txBody>
      </p:sp>
      <p:sp>
        <p:nvSpPr>
          <p:cNvPr id="12" name="Text 8"/>
          <p:cNvSpPr/>
          <p:nvPr/>
        </p:nvSpPr>
        <p:spPr>
          <a:xfrm>
            <a:off x="777240" y="2432304"/>
            <a:ext cx="2743200" cy="256032"/>
          </a:xfrm>
          <a:prstGeom prst="rect">
            <a:avLst/>
          </a:prstGeom>
          <a:noFill/>
          <a:ln/>
        </p:spPr>
        <p:txBody>
          <a:bodyPr wrap="square" lIns="0" tIns="0" rIns="0" bIns="0" rtlCol="0" anchor="ctr"/>
          <a:lstStyle/>
          <a:p>
            <a:pPr marL="0" indent="0">
              <a:buNone/>
            </a:pPr>
            <a:r>
              <a:rPr lang="en-US" sz="1100" b="1" kern="0" spc="200" dirty="0">
                <a:solidFill>
                  <a:srgbClr val="E0A020"/>
                </a:solidFill>
                <a:latin typeface="Calibri" pitchFamily="34" charset="0"/>
                <a:ea typeface="Calibri" pitchFamily="34" charset="-122"/>
                <a:cs typeface="Calibri" pitchFamily="34" charset="-120"/>
              </a:rPr>
              <a:t>STEPS</a:t>
            </a:r>
            <a:endParaRPr lang="en-US" sz="1100" dirty="0"/>
          </a:p>
        </p:txBody>
      </p:sp>
      <p:sp>
        <p:nvSpPr>
          <p:cNvPr id="13" name="Text 9"/>
          <p:cNvSpPr/>
          <p:nvPr/>
        </p:nvSpPr>
        <p:spPr>
          <a:xfrm>
            <a:off x="777240" y="27614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1</a:t>
            </a:r>
            <a:endParaRPr lang="en-US" sz="1300" dirty="0"/>
          </a:p>
        </p:txBody>
      </p:sp>
      <p:sp>
        <p:nvSpPr>
          <p:cNvPr id="14" name="Text 10"/>
          <p:cNvSpPr/>
          <p:nvPr/>
        </p:nvSpPr>
        <p:spPr>
          <a:xfrm>
            <a:off x="1088136" y="27340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In practice.html, add an &lt;h1&gt; headline for a made-up story.</a:t>
            </a:r>
            <a:endParaRPr lang="en-US" sz="1200" dirty="0"/>
          </a:p>
        </p:txBody>
      </p:sp>
      <p:sp>
        <p:nvSpPr>
          <p:cNvPr id="15" name="Text 11"/>
          <p:cNvSpPr/>
          <p:nvPr/>
        </p:nvSpPr>
        <p:spPr>
          <a:xfrm>
            <a:off x="777240" y="32186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2</a:t>
            </a:r>
            <a:endParaRPr lang="en-US" sz="1300" dirty="0"/>
          </a:p>
        </p:txBody>
      </p:sp>
      <p:sp>
        <p:nvSpPr>
          <p:cNvPr id="16" name="Text 12"/>
          <p:cNvSpPr/>
          <p:nvPr/>
        </p:nvSpPr>
        <p:spPr>
          <a:xfrm>
            <a:off x="1088136" y="31912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Add two &lt;p&gt; paragraphs of body text below it.</a:t>
            </a:r>
            <a:endParaRPr lang="en-US" sz="1200" dirty="0"/>
          </a:p>
        </p:txBody>
      </p:sp>
      <p:sp>
        <p:nvSpPr>
          <p:cNvPr id="17" name="Text 13"/>
          <p:cNvSpPr/>
          <p:nvPr/>
        </p:nvSpPr>
        <p:spPr>
          <a:xfrm>
            <a:off x="777240" y="36758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3</a:t>
            </a:r>
            <a:endParaRPr lang="en-US" sz="1300" dirty="0"/>
          </a:p>
        </p:txBody>
      </p:sp>
      <p:sp>
        <p:nvSpPr>
          <p:cNvPr id="18" name="Text 14"/>
          <p:cNvSpPr/>
          <p:nvPr/>
        </p:nvSpPr>
        <p:spPr>
          <a:xfrm>
            <a:off x="1088136" y="36484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Add an &lt;img&gt; with a src (any image link works).</a:t>
            </a:r>
            <a:endParaRPr lang="en-US" sz="1200" dirty="0"/>
          </a:p>
        </p:txBody>
      </p:sp>
      <p:sp>
        <p:nvSpPr>
          <p:cNvPr id="19" name="Text 15"/>
          <p:cNvSpPr/>
          <p:nvPr/>
        </p:nvSpPr>
        <p:spPr>
          <a:xfrm>
            <a:off x="4754880" y="27614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4</a:t>
            </a:r>
            <a:endParaRPr lang="en-US" sz="1300" dirty="0"/>
          </a:p>
        </p:txBody>
      </p:sp>
      <p:sp>
        <p:nvSpPr>
          <p:cNvPr id="20" name="Text 16"/>
          <p:cNvSpPr/>
          <p:nvPr/>
        </p:nvSpPr>
        <p:spPr>
          <a:xfrm>
            <a:off x="5065776" y="27340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Add an &lt;a&gt; link to a real source or document.</a:t>
            </a:r>
            <a:endParaRPr lang="en-US" sz="1200" dirty="0"/>
          </a:p>
        </p:txBody>
      </p:sp>
      <p:sp>
        <p:nvSpPr>
          <p:cNvPr id="21" name="Text 17"/>
          <p:cNvSpPr/>
          <p:nvPr/>
        </p:nvSpPr>
        <p:spPr>
          <a:xfrm>
            <a:off x="4754880" y="32186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5</a:t>
            </a:r>
            <a:endParaRPr lang="en-US" sz="1300" dirty="0"/>
          </a:p>
        </p:txBody>
      </p:sp>
      <p:sp>
        <p:nvSpPr>
          <p:cNvPr id="22" name="Text 18"/>
          <p:cNvSpPr/>
          <p:nvPr/>
        </p:nvSpPr>
        <p:spPr>
          <a:xfrm>
            <a:off x="5065776" y="31912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Save, refresh Chrome, and read your page together.</a:t>
            </a:r>
            <a:endParaRPr lang="en-US" sz="1200" dirty="0"/>
          </a:p>
        </p:txBody>
      </p:sp>
      <p:sp>
        <p:nvSpPr>
          <p:cNvPr id="23" name="Text 19"/>
          <p:cNvSpPr/>
          <p:nvPr/>
        </p:nvSpPr>
        <p:spPr>
          <a:xfrm>
            <a:off x="4754880" y="36758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6</a:t>
            </a:r>
            <a:endParaRPr lang="en-US" sz="1300" dirty="0"/>
          </a:p>
        </p:txBody>
      </p:sp>
      <p:sp>
        <p:nvSpPr>
          <p:cNvPr id="24" name="Text 20"/>
          <p:cNvSpPr/>
          <p:nvPr/>
        </p:nvSpPr>
        <p:spPr>
          <a:xfrm>
            <a:off x="5065776" y="36484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Break it: delete one &lt;/p&gt; — refresh — then put it back.</a:t>
            </a:r>
            <a:endParaRPr lang="en-US" sz="1200" dirty="0"/>
          </a:p>
        </p:txBody>
      </p:sp>
      <p:sp>
        <p:nvSpPr>
          <p:cNvPr id="25" name="Shape 21"/>
          <p:cNvSpPr/>
          <p:nvPr/>
        </p:nvSpPr>
        <p:spPr>
          <a:xfrm>
            <a:off x="502920" y="4370832"/>
            <a:ext cx="8138160" cy="548640"/>
          </a:xfrm>
          <a:prstGeom prst="roundRect">
            <a:avLst>
              <a:gd name="adj" fmla="val 11667"/>
            </a:avLst>
          </a:prstGeom>
          <a:solidFill>
            <a:srgbClr val="FBF2DC"/>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722376" y="4507992"/>
            <a:ext cx="256032" cy="256032"/>
          </a:xfrm>
          <a:prstGeom prst="rect">
            <a:avLst/>
          </a:prstGeom>
        </p:spPr>
      </p:pic>
      <p:sp>
        <p:nvSpPr>
          <p:cNvPr id="27" name="Text 22"/>
          <p:cNvSpPr/>
          <p:nvPr/>
        </p:nvSpPr>
        <p:spPr>
          <a:xfrm>
            <a:off x="1069848" y="4370832"/>
            <a:ext cx="7406640" cy="548640"/>
          </a:xfrm>
          <a:prstGeom prst="rect">
            <a:avLst/>
          </a:prstGeom>
          <a:noFill/>
          <a:ln/>
        </p:spPr>
        <p:txBody>
          <a:bodyPr wrap="square" lIns="0" tIns="0" rIns="0" bIns="0" rtlCol="0" anchor="ctr"/>
          <a:lstStyle/>
          <a:p>
            <a:pPr marL="0" indent="0">
              <a:buNone/>
            </a:pPr>
            <a:r>
              <a:rPr lang="en-US" sz="1250" b="1" dirty="0">
                <a:solidFill>
                  <a:srgbClr val="AC7708"/>
                </a:solidFill>
                <a:latin typeface="Calibri" pitchFamily="34" charset="0"/>
                <a:ea typeface="Calibri" pitchFamily="34" charset="-122"/>
                <a:cs typeface="Calibri" pitchFamily="34" charset="-120"/>
              </a:rPr>
              <a:t>Stretch goal:  </a:t>
            </a:r>
            <a:r>
              <a:rPr lang="en-US" sz="1250" dirty="0">
                <a:solidFill>
                  <a:srgbClr val="353A45"/>
                </a:solidFill>
                <a:latin typeface="Calibri" pitchFamily="34" charset="0"/>
                <a:ea typeface="Calibri" pitchFamily="34" charset="-122"/>
                <a:cs typeface="Calibri" pitchFamily="34" charset="-120"/>
              </a:rPr>
              <a:t>Add a &lt;ul&gt; list of three bullet points, and make one word &lt;strong&gt;.</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1874520"/>
            <a:ext cx="4572000" cy="320040"/>
          </a:xfrm>
          <a:prstGeom prst="rect">
            <a:avLst/>
          </a:prstGeom>
          <a:noFill/>
          <a:ln/>
        </p:spPr>
        <p:txBody>
          <a:bodyPr wrap="square" lIns="0" tIns="0" rIns="0" bIns="0" rtlCol="0" anchor="ctr"/>
          <a:lstStyle/>
          <a:p>
            <a:pPr marL="0" indent="0">
              <a:buNone/>
            </a:pPr>
            <a:r>
              <a:rPr lang="en-US" sz="1400" b="1" kern="0" spc="500" dirty="0">
                <a:solidFill>
                  <a:srgbClr val="E0A020"/>
                </a:solidFill>
                <a:latin typeface="Calibri" pitchFamily="34" charset="0"/>
                <a:ea typeface="Calibri" pitchFamily="34" charset="-122"/>
                <a:cs typeface="Calibri" pitchFamily="34" charset="-120"/>
              </a:rPr>
              <a:t>PART 4</a:t>
            </a:r>
            <a:endParaRPr lang="en-US" sz="1400" dirty="0"/>
          </a:p>
        </p:txBody>
      </p:sp>
      <p:sp>
        <p:nvSpPr>
          <p:cNvPr id="3" name="Text 1"/>
          <p:cNvSpPr/>
          <p:nvPr/>
        </p:nvSpPr>
        <p:spPr>
          <a:xfrm>
            <a:off x="502920" y="2240280"/>
            <a:ext cx="6949440" cy="1188720"/>
          </a:xfrm>
          <a:prstGeom prst="rect">
            <a:avLst/>
          </a:prstGeom>
          <a:noFill/>
          <a:ln/>
        </p:spPr>
        <p:txBody>
          <a:bodyPr wrap="square" lIns="0" tIns="0" rIns="0" bIns="0" rtlCol="0" anchor="ctr"/>
          <a:lstStyle/>
          <a:p>
            <a:pPr marL="0" indent="0">
              <a:lnSpc>
                <a:spcPct val="100000"/>
              </a:lnSpc>
              <a:buNone/>
            </a:pPr>
            <a:r>
              <a:rPr lang="en-US" sz="3800" b="1" dirty="0">
                <a:solidFill>
                  <a:srgbClr val="FFFFFF"/>
                </a:solidFill>
                <a:latin typeface="Bookman Old Style" pitchFamily="34" charset="0"/>
                <a:ea typeface="Bookman Old Style" pitchFamily="34" charset="-122"/>
                <a:cs typeface="Bookman Old Style" pitchFamily="34" charset="-120"/>
              </a:rPr>
              <a:t>CSS — the style</a:t>
            </a:r>
            <a:endParaRPr lang="en-US" sz="3800" dirty="0"/>
          </a:p>
        </p:txBody>
      </p:sp>
      <p:sp>
        <p:nvSpPr>
          <p:cNvPr id="4" name="Text 2"/>
          <p:cNvSpPr/>
          <p:nvPr/>
        </p:nvSpPr>
        <p:spPr>
          <a:xfrm>
            <a:off x="502920" y="3456432"/>
            <a:ext cx="6766560" cy="457200"/>
          </a:xfrm>
          <a:prstGeom prst="rect">
            <a:avLst/>
          </a:prstGeom>
          <a:noFill/>
          <a:ln/>
        </p:spPr>
        <p:txBody>
          <a:bodyPr wrap="square" lIns="0" tIns="0" rIns="0" bIns="0" rtlCol="0" anchor="ctr"/>
          <a:lstStyle/>
          <a:p>
            <a:pPr marL="0" indent="0">
              <a:buNone/>
            </a:pPr>
            <a:r>
              <a:rPr lang="en-US" sz="1500" i="1" dirty="0">
                <a:solidFill>
                  <a:srgbClr val="AAB0BB"/>
                </a:solidFill>
                <a:latin typeface="Calibri" pitchFamily="34" charset="0"/>
                <a:ea typeface="Calibri" pitchFamily="34" charset="-122"/>
                <a:cs typeface="Calibri" pitchFamily="34" charset="-120"/>
              </a:rPr>
              <a:t>Same HTML, restyled: colors, fonts, spacing, and layout.</a:t>
            </a:r>
            <a:endParaRPr lang="en-US" sz="1500" dirty="0"/>
          </a:p>
        </p:txBody>
      </p:sp>
      <p:sp>
        <p:nvSpPr>
          <p:cNvPr id="5" name="Shape 3"/>
          <p:cNvSpPr/>
          <p:nvPr/>
        </p:nvSpPr>
        <p:spPr>
          <a:xfrm>
            <a:off x="7360920" y="1965960"/>
            <a:ext cx="1234440" cy="123444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726680" y="2331720"/>
            <a:ext cx="502920" cy="5029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WHAT CSS DOES</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CSS is how the page looks</a:t>
            </a:r>
            <a:endParaRPr lang="en-US" sz="3300" dirty="0"/>
          </a:p>
        </p:txBody>
      </p:sp>
      <p:sp>
        <p:nvSpPr>
          <p:cNvPr id="4" name="Shape 2"/>
          <p:cNvSpPr/>
          <p:nvPr/>
        </p:nvSpPr>
        <p:spPr>
          <a:xfrm>
            <a:off x="502920" y="1737360"/>
            <a:ext cx="3931920" cy="2331720"/>
          </a:xfrm>
          <a:prstGeom prst="roundRect">
            <a:avLst>
              <a:gd name="adj" fmla="val 3922"/>
            </a:avLst>
          </a:prstGeom>
          <a:solidFill>
            <a:srgbClr val="F4F4F2"/>
          </a:solidFill>
          <a:ln/>
        </p:spPr>
        <p:txBody>
          <a:bodyPr/>
          <a:lstStyle/>
          <a:p>
            <a:endParaRPr lang="en-US"/>
          </a:p>
        </p:txBody>
      </p:sp>
      <p:sp>
        <p:nvSpPr>
          <p:cNvPr id="5" name="Text 3"/>
          <p:cNvSpPr/>
          <p:nvPr/>
        </p:nvSpPr>
        <p:spPr>
          <a:xfrm>
            <a:off x="777240" y="1956816"/>
            <a:ext cx="3383280" cy="274320"/>
          </a:xfrm>
          <a:prstGeom prst="rect">
            <a:avLst/>
          </a:prstGeom>
          <a:noFill/>
          <a:ln/>
        </p:spPr>
        <p:txBody>
          <a:bodyPr wrap="square" lIns="0" tIns="0" rIns="0" bIns="0" rtlCol="0" anchor="ctr"/>
          <a:lstStyle/>
          <a:p>
            <a:pPr marL="0" indent="0">
              <a:buNone/>
            </a:pPr>
            <a:r>
              <a:rPr lang="en-US" sz="1100" b="1" kern="0" spc="200" dirty="0">
                <a:solidFill>
                  <a:srgbClr val="6B7280"/>
                </a:solidFill>
                <a:latin typeface="Calibri" pitchFamily="34" charset="0"/>
                <a:ea typeface="Calibri" pitchFamily="34" charset="-122"/>
                <a:cs typeface="Calibri" pitchFamily="34" charset="-120"/>
              </a:rPr>
              <a:t>HTML ALONE</a:t>
            </a:r>
            <a:endParaRPr lang="en-US" sz="1100" dirty="0"/>
          </a:p>
        </p:txBody>
      </p:sp>
      <p:sp>
        <p:nvSpPr>
          <p:cNvPr id="6" name="Text 4"/>
          <p:cNvSpPr/>
          <p:nvPr/>
        </p:nvSpPr>
        <p:spPr>
          <a:xfrm>
            <a:off x="777240" y="2340864"/>
            <a:ext cx="3383280" cy="548640"/>
          </a:xfrm>
          <a:prstGeom prst="rect">
            <a:avLst/>
          </a:prstGeom>
          <a:noFill/>
          <a:ln/>
        </p:spPr>
        <p:txBody>
          <a:bodyPr wrap="square" lIns="0" tIns="0" rIns="0" bIns="0" rtlCol="0" anchor="ctr"/>
          <a:lstStyle/>
          <a:p>
            <a:pPr marL="0" indent="0">
              <a:lnSpc>
                <a:spcPct val="95000"/>
              </a:lnSpc>
              <a:buNone/>
            </a:pPr>
            <a:r>
              <a:rPr lang="en-US" sz="1800" b="1" dirty="0">
                <a:solidFill>
                  <a:srgbClr val="16181D"/>
                </a:solidFill>
                <a:latin typeface="Times New Roman" pitchFamily="34" charset="0"/>
                <a:ea typeface="Times New Roman" pitchFamily="34" charset="-122"/>
                <a:cs typeface="Times New Roman" pitchFamily="34" charset="-120"/>
              </a:rPr>
              <a:t>Records reveal permit backlog</a:t>
            </a:r>
            <a:endParaRPr lang="en-US" sz="1800" dirty="0"/>
          </a:p>
        </p:txBody>
      </p:sp>
      <p:sp>
        <p:nvSpPr>
          <p:cNvPr id="7" name="Text 5"/>
          <p:cNvSpPr/>
          <p:nvPr/>
        </p:nvSpPr>
        <p:spPr>
          <a:xfrm>
            <a:off x="777240" y="3108960"/>
            <a:ext cx="3383280" cy="822960"/>
          </a:xfrm>
          <a:prstGeom prst="rect">
            <a:avLst/>
          </a:prstGeom>
          <a:noFill/>
          <a:ln/>
        </p:spPr>
        <p:txBody>
          <a:bodyPr wrap="square" lIns="0" tIns="0" rIns="0" bIns="0" rtlCol="0" anchor="ctr"/>
          <a:lstStyle/>
          <a:p>
            <a:pPr marL="0" indent="0">
              <a:lnSpc>
                <a:spcPct val="100000"/>
              </a:lnSpc>
              <a:buNone/>
            </a:pPr>
            <a:r>
              <a:rPr lang="en-US" sz="1250" dirty="0">
                <a:solidFill>
                  <a:srgbClr val="16181D"/>
                </a:solidFill>
                <a:latin typeface="Times New Roman" pitchFamily="34" charset="0"/>
                <a:ea typeface="Times New Roman" pitchFamily="34" charset="-122"/>
                <a:cs typeface="Times New Roman" pitchFamily="34" charset="-120"/>
              </a:rPr>
              <a:t>A six-month review of city files found hundreds of permits stalled past the legal deadline.</a:t>
            </a:r>
            <a:endParaRPr lang="en-US" sz="1250" dirty="0"/>
          </a:p>
        </p:txBody>
      </p:sp>
      <p:sp>
        <p:nvSpPr>
          <p:cNvPr id="8" name="Shape 6"/>
          <p:cNvSpPr/>
          <p:nvPr/>
        </p:nvSpPr>
        <p:spPr>
          <a:xfrm>
            <a:off x="4800600" y="1737360"/>
            <a:ext cx="3931920" cy="2331720"/>
          </a:xfrm>
          <a:prstGeom prst="roundRect">
            <a:avLst>
              <a:gd name="adj" fmla="val 3922"/>
            </a:avLst>
          </a:prstGeom>
          <a:solidFill>
            <a:srgbClr val="2B2E37"/>
          </a:solidFill>
          <a:ln/>
          <a:effectLst>
            <a:outerShdw blurRad="88900" dist="38100" dir="5400000" algn="bl" rotWithShape="0">
              <a:srgbClr val="000000">
                <a:alpha val="10000"/>
              </a:srgbClr>
            </a:outerShdw>
          </a:effectLst>
        </p:spPr>
        <p:txBody>
          <a:bodyPr/>
          <a:lstStyle/>
          <a:p>
            <a:endParaRPr lang="en-US"/>
          </a:p>
        </p:txBody>
      </p:sp>
      <p:sp>
        <p:nvSpPr>
          <p:cNvPr id="9" name="Text 7"/>
          <p:cNvSpPr/>
          <p:nvPr/>
        </p:nvSpPr>
        <p:spPr>
          <a:xfrm>
            <a:off x="5074920" y="1956816"/>
            <a:ext cx="3383280" cy="274320"/>
          </a:xfrm>
          <a:prstGeom prst="rect">
            <a:avLst/>
          </a:prstGeom>
          <a:noFill/>
          <a:ln/>
        </p:spPr>
        <p:txBody>
          <a:bodyPr wrap="square" lIns="0" tIns="0" rIns="0" bIns="0" rtlCol="0" anchor="ctr"/>
          <a:lstStyle/>
          <a:p>
            <a:pPr marL="0" indent="0">
              <a:buNone/>
            </a:pPr>
            <a:r>
              <a:rPr lang="en-US" sz="1100" b="1" kern="0" spc="200" dirty="0">
                <a:solidFill>
                  <a:srgbClr val="E0A020"/>
                </a:solidFill>
                <a:latin typeface="Calibri" pitchFamily="34" charset="0"/>
                <a:ea typeface="Calibri" pitchFamily="34" charset="-122"/>
                <a:cs typeface="Calibri" pitchFamily="34" charset="-120"/>
              </a:rPr>
              <a:t>WITH CSS</a:t>
            </a:r>
            <a:endParaRPr lang="en-US" sz="1100" dirty="0"/>
          </a:p>
        </p:txBody>
      </p:sp>
      <p:sp>
        <p:nvSpPr>
          <p:cNvPr id="10" name="Text 8"/>
          <p:cNvSpPr/>
          <p:nvPr/>
        </p:nvSpPr>
        <p:spPr>
          <a:xfrm>
            <a:off x="5074920" y="2377440"/>
            <a:ext cx="3383280" cy="640080"/>
          </a:xfrm>
          <a:prstGeom prst="rect">
            <a:avLst/>
          </a:prstGeom>
          <a:noFill/>
          <a:ln/>
        </p:spPr>
        <p:txBody>
          <a:bodyPr wrap="square" lIns="0" tIns="0" rIns="0" bIns="0" rtlCol="0" anchor="ctr"/>
          <a:lstStyle/>
          <a:p>
            <a:pPr marL="0" indent="0" algn="ctr">
              <a:lnSpc>
                <a:spcPct val="95000"/>
              </a:lnSpc>
              <a:buNone/>
            </a:pPr>
            <a:r>
              <a:rPr lang="en-US" sz="1900" b="1" dirty="0">
                <a:solidFill>
                  <a:srgbClr val="FFFFFF"/>
                </a:solidFill>
                <a:latin typeface="Bookman Old Style" pitchFamily="34" charset="0"/>
                <a:ea typeface="Bookman Old Style" pitchFamily="34" charset="-122"/>
                <a:cs typeface="Bookman Old Style" pitchFamily="34" charset="-120"/>
              </a:rPr>
              <a:t>Records reveal permit backlog</a:t>
            </a:r>
            <a:endParaRPr lang="en-US" sz="1900" dirty="0"/>
          </a:p>
        </p:txBody>
      </p:sp>
      <p:sp>
        <p:nvSpPr>
          <p:cNvPr id="11" name="Text 9"/>
          <p:cNvSpPr/>
          <p:nvPr/>
        </p:nvSpPr>
        <p:spPr>
          <a:xfrm>
            <a:off x="5212080" y="3200400"/>
            <a:ext cx="3108960" cy="822960"/>
          </a:xfrm>
          <a:prstGeom prst="rect">
            <a:avLst/>
          </a:prstGeom>
          <a:noFill/>
          <a:ln/>
        </p:spPr>
        <p:txBody>
          <a:bodyPr wrap="square" lIns="0" tIns="0" rIns="0" bIns="0" rtlCol="0" anchor="ctr"/>
          <a:lstStyle/>
          <a:p>
            <a:pPr marL="0" indent="0" algn="ctr">
              <a:lnSpc>
                <a:spcPct val="105000"/>
              </a:lnSpc>
              <a:buNone/>
            </a:pPr>
            <a:r>
              <a:rPr lang="en-US" sz="1200" i="1" dirty="0">
                <a:solidFill>
                  <a:srgbClr val="D7DAE0"/>
                </a:solidFill>
                <a:latin typeface="Calibri" pitchFamily="34" charset="0"/>
                <a:ea typeface="Calibri" pitchFamily="34" charset="-122"/>
                <a:cs typeface="Calibri" pitchFamily="34" charset="-120"/>
              </a:rPr>
              <a:t>A six-month review of city files found hundreds of permits stalled past the legal deadline.</a:t>
            </a:r>
            <a:endParaRPr lang="en-US" sz="1200" dirty="0"/>
          </a:p>
        </p:txBody>
      </p:sp>
      <p:sp>
        <p:nvSpPr>
          <p:cNvPr id="12" name="Text 10"/>
          <p:cNvSpPr/>
          <p:nvPr/>
        </p:nvSpPr>
        <p:spPr>
          <a:xfrm>
            <a:off x="502920" y="4315968"/>
            <a:ext cx="8138160" cy="365760"/>
          </a:xfrm>
          <a:prstGeom prst="rect">
            <a:avLst/>
          </a:prstGeom>
          <a:noFill/>
          <a:ln/>
        </p:spPr>
        <p:txBody>
          <a:bodyPr wrap="square" lIns="0" tIns="0" rIns="0" bIns="0"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Exact same words and tags. CSS only changed the colors, fonts, spacing, and alignment.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THE CLICK THAT MAKES CSS MAKE SENSE</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CSS points at your HTML tags by name</a:t>
            </a:r>
            <a:endParaRPr lang="en-US" sz="3300" dirty="0"/>
          </a:p>
        </p:txBody>
      </p:sp>
      <p:sp>
        <p:nvSpPr>
          <p:cNvPr id="4" name="Text 2"/>
          <p:cNvSpPr/>
          <p:nvPr/>
        </p:nvSpPr>
        <p:spPr>
          <a:xfrm>
            <a:off x="502920" y="1645920"/>
            <a:ext cx="8138160" cy="548640"/>
          </a:xfrm>
          <a:prstGeom prst="rect">
            <a:avLst/>
          </a:prstGeom>
          <a:noFill/>
          <a:ln/>
        </p:spPr>
        <p:txBody>
          <a:bodyPr wrap="square" lIns="0" tIns="0" rIns="0" bIns="0" rtlCol="0" anchor="ctr"/>
          <a:lstStyle/>
          <a:p>
            <a:pPr marL="0" indent="0">
              <a:lnSpc>
                <a:spcPct val="105000"/>
              </a:lnSpc>
              <a:buNone/>
            </a:pPr>
            <a:r>
              <a:rPr lang="en-US" sz="1450" dirty="0">
                <a:solidFill>
                  <a:srgbClr val="353A45"/>
                </a:solidFill>
                <a:latin typeface="Calibri" pitchFamily="34" charset="0"/>
                <a:ea typeface="Calibri" pitchFamily="34" charset="-122"/>
                <a:cs typeface="Calibri" pitchFamily="34" charset="-120"/>
              </a:rPr>
              <a:t>A CSS rule starts by naming the tag it wants to style</a:t>
            </a:r>
            <a:r>
              <a:rPr lang="en-US" sz="1450" b="1" dirty="0">
                <a:solidFill>
                  <a:srgbClr val="16181D"/>
                </a:solidFill>
                <a:latin typeface="Calibri" pitchFamily="34" charset="0"/>
                <a:ea typeface="Calibri" pitchFamily="34" charset="-122"/>
                <a:cs typeface="Calibri" pitchFamily="34" charset="-120"/>
              </a:rPr>
              <a:t> — the same tag names from your HTML, just without the angle brackets.</a:t>
            </a:r>
            <a:endParaRPr lang="en-US" sz="1450" dirty="0"/>
          </a:p>
        </p:txBody>
      </p:sp>
      <p:sp>
        <p:nvSpPr>
          <p:cNvPr id="5" name="Shape 3"/>
          <p:cNvSpPr/>
          <p:nvPr/>
        </p:nvSpPr>
        <p:spPr>
          <a:xfrm>
            <a:off x="502920" y="2377440"/>
            <a:ext cx="1947672" cy="1737360"/>
          </a:xfrm>
          <a:prstGeom prst="roundRect">
            <a:avLst>
              <a:gd name="adj" fmla="val 4737"/>
            </a:avLst>
          </a:prstGeom>
          <a:solidFill>
            <a:srgbClr val="F4F4F2"/>
          </a:solidFill>
          <a:ln/>
        </p:spPr>
        <p:txBody>
          <a:bodyPr/>
          <a:lstStyle/>
          <a:p>
            <a:endParaRPr lang="en-US"/>
          </a:p>
        </p:txBody>
      </p:sp>
      <p:sp>
        <p:nvSpPr>
          <p:cNvPr id="6" name="Text 4"/>
          <p:cNvSpPr/>
          <p:nvPr/>
        </p:nvSpPr>
        <p:spPr>
          <a:xfrm>
            <a:off x="685800" y="2542032"/>
            <a:ext cx="1581912" cy="228600"/>
          </a:xfrm>
          <a:prstGeom prst="rect">
            <a:avLst/>
          </a:prstGeom>
          <a:noFill/>
          <a:ln/>
        </p:spPr>
        <p:txBody>
          <a:bodyPr wrap="square" lIns="0" tIns="0" rIns="0" bIns="0" rtlCol="0" anchor="ctr"/>
          <a:lstStyle/>
          <a:p>
            <a:pPr marL="0" indent="0">
              <a:buNone/>
            </a:pPr>
            <a:r>
              <a:rPr lang="en-US" sz="950" b="1" kern="0" spc="150" dirty="0">
                <a:solidFill>
                  <a:srgbClr val="6B7280"/>
                </a:solidFill>
                <a:latin typeface="Calibri" pitchFamily="34" charset="0"/>
                <a:ea typeface="Calibri" pitchFamily="34" charset="-122"/>
                <a:cs typeface="Calibri" pitchFamily="34" charset="-120"/>
              </a:rPr>
              <a:t>HTML</a:t>
            </a:r>
            <a:endParaRPr lang="en-US" sz="950" dirty="0"/>
          </a:p>
        </p:txBody>
      </p:sp>
      <p:sp>
        <p:nvSpPr>
          <p:cNvPr id="7" name="Text 5"/>
          <p:cNvSpPr/>
          <p:nvPr/>
        </p:nvSpPr>
        <p:spPr>
          <a:xfrm>
            <a:off x="685800" y="2761488"/>
            <a:ext cx="1581912" cy="365760"/>
          </a:xfrm>
          <a:prstGeom prst="rect">
            <a:avLst/>
          </a:prstGeom>
          <a:noFill/>
          <a:ln/>
        </p:spPr>
        <p:txBody>
          <a:bodyPr wrap="square" lIns="0" tIns="0" rIns="0" bIns="0" rtlCol="0" anchor="ctr"/>
          <a:lstStyle/>
          <a:p>
            <a:pPr marL="0" indent="0">
              <a:buNone/>
            </a:pPr>
            <a:r>
              <a:rPr lang="en-US" sz="1600" b="1" dirty="0">
                <a:solidFill>
                  <a:srgbClr val="16181D"/>
                </a:solidFill>
                <a:latin typeface="Courier New" pitchFamily="34" charset="0"/>
                <a:ea typeface="Courier New" pitchFamily="34" charset="-122"/>
                <a:cs typeface="Courier New" pitchFamily="34" charset="-120"/>
              </a:rPr>
              <a:t>&lt;body&gt;</a:t>
            </a:r>
            <a:endParaRPr lang="en-US" sz="1600" dirty="0"/>
          </a:p>
        </p:txBody>
      </p:sp>
      <p:pic>
        <p:nvPicPr>
          <p:cNvPr id="8" name="Image 0" descr="preencoded.png"/>
          <p:cNvPicPr>
            <a:picLocks noChangeAspect="1"/>
          </p:cNvPicPr>
          <p:nvPr/>
        </p:nvPicPr>
        <p:blipFill>
          <a:blip r:embed="rId3"/>
          <a:stretch>
            <a:fillRect/>
          </a:stretch>
        </p:blipFill>
        <p:spPr>
          <a:xfrm>
            <a:off x="1376172" y="3200400"/>
            <a:ext cx="201168" cy="201168"/>
          </a:xfrm>
          <a:prstGeom prst="rect">
            <a:avLst/>
          </a:prstGeom>
        </p:spPr>
      </p:pic>
      <p:sp>
        <p:nvSpPr>
          <p:cNvPr id="9" name="Text 6"/>
          <p:cNvSpPr/>
          <p:nvPr/>
        </p:nvSpPr>
        <p:spPr>
          <a:xfrm>
            <a:off x="685800" y="3438144"/>
            <a:ext cx="1581912" cy="228600"/>
          </a:xfrm>
          <a:prstGeom prst="rect">
            <a:avLst/>
          </a:prstGeom>
          <a:noFill/>
          <a:ln/>
        </p:spPr>
        <p:txBody>
          <a:bodyPr wrap="square" lIns="0" tIns="0" rIns="0" bIns="0" rtlCol="0" anchor="ctr"/>
          <a:lstStyle/>
          <a:p>
            <a:pPr marL="0" indent="0">
              <a:buNone/>
            </a:pPr>
            <a:r>
              <a:rPr lang="en-US" sz="950" b="1" kern="0" spc="100" dirty="0">
                <a:solidFill>
                  <a:srgbClr val="AC7708"/>
                </a:solidFill>
                <a:latin typeface="Calibri" pitchFamily="34" charset="0"/>
                <a:ea typeface="Calibri" pitchFamily="34" charset="-122"/>
                <a:cs typeface="Calibri" pitchFamily="34" charset="-120"/>
              </a:rPr>
              <a:t>CSS SELECTOR</a:t>
            </a:r>
            <a:endParaRPr lang="en-US" sz="950" dirty="0"/>
          </a:p>
        </p:txBody>
      </p:sp>
      <p:sp>
        <p:nvSpPr>
          <p:cNvPr id="10" name="Text 7"/>
          <p:cNvSpPr/>
          <p:nvPr/>
        </p:nvSpPr>
        <p:spPr>
          <a:xfrm>
            <a:off x="685800" y="3657600"/>
            <a:ext cx="1581912" cy="365760"/>
          </a:xfrm>
          <a:prstGeom prst="rect">
            <a:avLst/>
          </a:prstGeom>
          <a:noFill/>
          <a:ln/>
        </p:spPr>
        <p:txBody>
          <a:bodyPr wrap="square" lIns="0" tIns="0" rIns="0" bIns="0" rtlCol="0" anchor="ctr"/>
          <a:lstStyle/>
          <a:p>
            <a:pPr marL="0" indent="0">
              <a:buNone/>
            </a:pPr>
            <a:r>
              <a:rPr lang="en-US" sz="1600" b="1" dirty="0">
                <a:solidFill>
                  <a:srgbClr val="AC7708"/>
                </a:solidFill>
                <a:latin typeface="Courier New" pitchFamily="34" charset="0"/>
                <a:ea typeface="Courier New" pitchFamily="34" charset="-122"/>
                <a:cs typeface="Courier New" pitchFamily="34" charset="-120"/>
              </a:rPr>
              <a:t>body</a:t>
            </a:r>
            <a:endParaRPr lang="en-US" sz="1600" dirty="0"/>
          </a:p>
        </p:txBody>
      </p:sp>
      <p:sp>
        <p:nvSpPr>
          <p:cNvPr id="11" name="Shape 8"/>
          <p:cNvSpPr/>
          <p:nvPr/>
        </p:nvSpPr>
        <p:spPr>
          <a:xfrm>
            <a:off x="2578608" y="2377440"/>
            <a:ext cx="1947672" cy="1737360"/>
          </a:xfrm>
          <a:prstGeom prst="roundRect">
            <a:avLst>
              <a:gd name="adj" fmla="val 4737"/>
            </a:avLst>
          </a:prstGeom>
          <a:solidFill>
            <a:srgbClr val="F4F4F2"/>
          </a:solidFill>
          <a:ln/>
        </p:spPr>
        <p:txBody>
          <a:bodyPr/>
          <a:lstStyle/>
          <a:p>
            <a:endParaRPr lang="en-US"/>
          </a:p>
        </p:txBody>
      </p:sp>
      <p:sp>
        <p:nvSpPr>
          <p:cNvPr id="12" name="Text 9"/>
          <p:cNvSpPr/>
          <p:nvPr/>
        </p:nvSpPr>
        <p:spPr>
          <a:xfrm>
            <a:off x="2761488" y="2542032"/>
            <a:ext cx="1581912" cy="228600"/>
          </a:xfrm>
          <a:prstGeom prst="rect">
            <a:avLst/>
          </a:prstGeom>
          <a:noFill/>
          <a:ln/>
        </p:spPr>
        <p:txBody>
          <a:bodyPr wrap="square" lIns="0" tIns="0" rIns="0" bIns="0" rtlCol="0" anchor="ctr"/>
          <a:lstStyle/>
          <a:p>
            <a:pPr marL="0" indent="0">
              <a:buNone/>
            </a:pPr>
            <a:r>
              <a:rPr lang="en-US" sz="950" b="1" kern="0" spc="150" dirty="0">
                <a:solidFill>
                  <a:srgbClr val="6B7280"/>
                </a:solidFill>
                <a:latin typeface="Calibri" pitchFamily="34" charset="0"/>
                <a:ea typeface="Calibri" pitchFamily="34" charset="-122"/>
                <a:cs typeface="Calibri" pitchFamily="34" charset="-120"/>
              </a:rPr>
              <a:t>HTML</a:t>
            </a:r>
            <a:endParaRPr lang="en-US" sz="950" dirty="0"/>
          </a:p>
        </p:txBody>
      </p:sp>
      <p:sp>
        <p:nvSpPr>
          <p:cNvPr id="13" name="Text 10"/>
          <p:cNvSpPr/>
          <p:nvPr/>
        </p:nvSpPr>
        <p:spPr>
          <a:xfrm>
            <a:off x="2761488" y="2761488"/>
            <a:ext cx="1581912" cy="365760"/>
          </a:xfrm>
          <a:prstGeom prst="rect">
            <a:avLst/>
          </a:prstGeom>
          <a:noFill/>
          <a:ln/>
        </p:spPr>
        <p:txBody>
          <a:bodyPr wrap="square" lIns="0" tIns="0" rIns="0" bIns="0" rtlCol="0" anchor="ctr"/>
          <a:lstStyle/>
          <a:p>
            <a:pPr marL="0" indent="0">
              <a:buNone/>
            </a:pPr>
            <a:r>
              <a:rPr lang="en-US" sz="1600" b="1" dirty="0">
                <a:solidFill>
                  <a:srgbClr val="16181D"/>
                </a:solidFill>
                <a:latin typeface="Courier New" pitchFamily="34" charset="0"/>
                <a:ea typeface="Courier New" pitchFamily="34" charset="-122"/>
                <a:cs typeface="Courier New" pitchFamily="34" charset="-120"/>
              </a:rPr>
              <a:t>&lt;h1&gt;</a:t>
            </a:r>
            <a:endParaRPr lang="en-US" sz="1600" dirty="0"/>
          </a:p>
        </p:txBody>
      </p:sp>
      <p:pic>
        <p:nvPicPr>
          <p:cNvPr id="14" name="Image 1" descr="preencoded.png"/>
          <p:cNvPicPr>
            <a:picLocks noChangeAspect="1"/>
          </p:cNvPicPr>
          <p:nvPr/>
        </p:nvPicPr>
        <p:blipFill>
          <a:blip r:embed="rId3"/>
          <a:stretch>
            <a:fillRect/>
          </a:stretch>
        </p:blipFill>
        <p:spPr>
          <a:xfrm>
            <a:off x="3451860" y="3200400"/>
            <a:ext cx="201168" cy="201168"/>
          </a:xfrm>
          <a:prstGeom prst="rect">
            <a:avLst/>
          </a:prstGeom>
        </p:spPr>
      </p:pic>
      <p:sp>
        <p:nvSpPr>
          <p:cNvPr id="15" name="Text 11"/>
          <p:cNvSpPr/>
          <p:nvPr/>
        </p:nvSpPr>
        <p:spPr>
          <a:xfrm>
            <a:off x="2761488" y="3438144"/>
            <a:ext cx="1581912" cy="228600"/>
          </a:xfrm>
          <a:prstGeom prst="rect">
            <a:avLst/>
          </a:prstGeom>
          <a:noFill/>
          <a:ln/>
        </p:spPr>
        <p:txBody>
          <a:bodyPr wrap="square" lIns="0" tIns="0" rIns="0" bIns="0" rtlCol="0" anchor="ctr"/>
          <a:lstStyle/>
          <a:p>
            <a:pPr marL="0" indent="0">
              <a:buNone/>
            </a:pPr>
            <a:r>
              <a:rPr lang="en-US" sz="950" b="1" kern="0" spc="100" dirty="0">
                <a:solidFill>
                  <a:srgbClr val="AC7708"/>
                </a:solidFill>
                <a:latin typeface="Calibri" pitchFamily="34" charset="0"/>
                <a:ea typeface="Calibri" pitchFamily="34" charset="-122"/>
                <a:cs typeface="Calibri" pitchFamily="34" charset="-120"/>
              </a:rPr>
              <a:t>CSS SELECTOR</a:t>
            </a:r>
            <a:endParaRPr lang="en-US" sz="950" dirty="0"/>
          </a:p>
        </p:txBody>
      </p:sp>
      <p:sp>
        <p:nvSpPr>
          <p:cNvPr id="16" name="Text 12"/>
          <p:cNvSpPr/>
          <p:nvPr/>
        </p:nvSpPr>
        <p:spPr>
          <a:xfrm>
            <a:off x="2761488" y="3657600"/>
            <a:ext cx="1581912" cy="365760"/>
          </a:xfrm>
          <a:prstGeom prst="rect">
            <a:avLst/>
          </a:prstGeom>
          <a:noFill/>
          <a:ln/>
        </p:spPr>
        <p:txBody>
          <a:bodyPr wrap="square" lIns="0" tIns="0" rIns="0" bIns="0" rtlCol="0" anchor="ctr"/>
          <a:lstStyle/>
          <a:p>
            <a:pPr marL="0" indent="0">
              <a:buNone/>
            </a:pPr>
            <a:r>
              <a:rPr lang="en-US" sz="1600" b="1" dirty="0">
                <a:solidFill>
                  <a:srgbClr val="AC7708"/>
                </a:solidFill>
                <a:latin typeface="Courier New" pitchFamily="34" charset="0"/>
                <a:ea typeface="Courier New" pitchFamily="34" charset="-122"/>
                <a:cs typeface="Courier New" pitchFamily="34" charset="-120"/>
              </a:rPr>
              <a:t>h1</a:t>
            </a:r>
            <a:endParaRPr lang="en-US" sz="1600" dirty="0"/>
          </a:p>
        </p:txBody>
      </p:sp>
      <p:sp>
        <p:nvSpPr>
          <p:cNvPr id="17" name="Shape 13"/>
          <p:cNvSpPr/>
          <p:nvPr/>
        </p:nvSpPr>
        <p:spPr>
          <a:xfrm>
            <a:off x="4654296" y="2377440"/>
            <a:ext cx="1947672" cy="1737360"/>
          </a:xfrm>
          <a:prstGeom prst="roundRect">
            <a:avLst>
              <a:gd name="adj" fmla="val 4737"/>
            </a:avLst>
          </a:prstGeom>
          <a:solidFill>
            <a:srgbClr val="F4F4F2"/>
          </a:solidFill>
          <a:ln/>
        </p:spPr>
        <p:txBody>
          <a:bodyPr/>
          <a:lstStyle/>
          <a:p>
            <a:endParaRPr lang="en-US"/>
          </a:p>
        </p:txBody>
      </p:sp>
      <p:sp>
        <p:nvSpPr>
          <p:cNvPr id="18" name="Text 14"/>
          <p:cNvSpPr/>
          <p:nvPr/>
        </p:nvSpPr>
        <p:spPr>
          <a:xfrm>
            <a:off x="4837176" y="2542032"/>
            <a:ext cx="1581912" cy="228600"/>
          </a:xfrm>
          <a:prstGeom prst="rect">
            <a:avLst/>
          </a:prstGeom>
          <a:noFill/>
          <a:ln/>
        </p:spPr>
        <p:txBody>
          <a:bodyPr wrap="square" lIns="0" tIns="0" rIns="0" bIns="0" rtlCol="0" anchor="ctr"/>
          <a:lstStyle/>
          <a:p>
            <a:pPr marL="0" indent="0">
              <a:buNone/>
            </a:pPr>
            <a:r>
              <a:rPr lang="en-US" sz="950" b="1" kern="0" spc="150" dirty="0">
                <a:solidFill>
                  <a:srgbClr val="6B7280"/>
                </a:solidFill>
                <a:latin typeface="Calibri" pitchFamily="34" charset="0"/>
                <a:ea typeface="Calibri" pitchFamily="34" charset="-122"/>
                <a:cs typeface="Calibri" pitchFamily="34" charset="-120"/>
              </a:rPr>
              <a:t>HTML</a:t>
            </a:r>
            <a:endParaRPr lang="en-US" sz="950" dirty="0"/>
          </a:p>
        </p:txBody>
      </p:sp>
      <p:sp>
        <p:nvSpPr>
          <p:cNvPr id="19" name="Text 15"/>
          <p:cNvSpPr/>
          <p:nvPr/>
        </p:nvSpPr>
        <p:spPr>
          <a:xfrm>
            <a:off x="4837176" y="2761488"/>
            <a:ext cx="1581912" cy="365760"/>
          </a:xfrm>
          <a:prstGeom prst="rect">
            <a:avLst/>
          </a:prstGeom>
          <a:noFill/>
          <a:ln/>
        </p:spPr>
        <p:txBody>
          <a:bodyPr wrap="square" lIns="0" tIns="0" rIns="0" bIns="0" rtlCol="0" anchor="ctr"/>
          <a:lstStyle/>
          <a:p>
            <a:pPr marL="0" indent="0">
              <a:buNone/>
            </a:pPr>
            <a:r>
              <a:rPr lang="en-US" sz="1600" b="1" dirty="0">
                <a:solidFill>
                  <a:srgbClr val="16181D"/>
                </a:solidFill>
                <a:latin typeface="Courier New" pitchFamily="34" charset="0"/>
                <a:ea typeface="Courier New" pitchFamily="34" charset="-122"/>
                <a:cs typeface="Courier New" pitchFamily="34" charset="-120"/>
              </a:rPr>
              <a:t>&lt;p&gt;</a:t>
            </a:r>
            <a:endParaRPr lang="en-US" sz="1600" dirty="0"/>
          </a:p>
        </p:txBody>
      </p:sp>
      <p:pic>
        <p:nvPicPr>
          <p:cNvPr id="20" name="Image 2" descr="preencoded.png"/>
          <p:cNvPicPr>
            <a:picLocks noChangeAspect="1"/>
          </p:cNvPicPr>
          <p:nvPr/>
        </p:nvPicPr>
        <p:blipFill>
          <a:blip r:embed="rId3"/>
          <a:stretch>
            <a:fillRect/>
          </a:stretch>
        </p:blipFill>
        <p:spPr>
          <a:xfrm>
            <a:off x="5527548" y="3200400"/>
            <a:ext cx="201168" cy="201168"/>
          </a:xfrm>
          <a:prstGeom prst="rect">
            <a:avLst/>
          </a:prstGeom>
        </p:spPr>
      </p:pic>
      <p:sp>
        <p:nvSpPr>
          <p:cNvPr id="21" name="Text 16"/>
          <p:cNvSpPr/>
          <p:nvPr/>
        </p:nvSpPr>
        <p:spPr>
          <a:xfrm>
            <a:off x="4837176" y="3438144"/>
            <a:ext cx="1581912" cy="228600"/>
          </a:xfrm>
          <a:prstGeom prst="rect">
            <a:avLst/>
          </a:prstGeom>
          <a:noFill/>
          <a:ln/>
        </p:spPr>
        <p:txBody>
          <a:bodyPr wrap="square" lIns="0" tIns="0" rIns="0" bIns="0" rtlCol="0" anchor="ctr"/>
          <a:lstStyle/>
          <a:p>
            <a:pPr marL="0" indent="0">
              <a:buNone/>
            </a:pPr>
            <a:r>
              <a:rPr lang="en-US" sz="950" b="1" kern="0" spc="100" dirty="0">
                <a:solidFill>
                  <a:srgbClr val="AC7708"/>
                </a:solidFill>
                <a:latin typeface="Calibri" pitchFamily="34" charset="0"/>
                <a:ea typeface="Calibri" pitchFamily="34" charset="-122"/>
                <a:cs typeface="Calibri" pitchFamily="34" charset="-120"/>
              </a:rPr>
              <a:t>CSS SELECTOR</a:t>
            </a:r>
            <a:endParaRPr lang="en-US" sz="950" dirty="0"/>
          </a:p>
        </p:txBody>
      </p:sp>
      <p:sp>
        <p:nvSpPr>
          <p:cNvPr id="22" name="Text 17"/>
          <p:cNvSpPr/>
          <p:nvPr/>
        </p:nvSpPr>
        <p:spPr>
          <a:xfrm>
            <a:off x="4837176" y="3657600"/>
            <a:ext cx="1581912" cy="365760"/>
          </a:xfrm>
          <a:prstGeom prst="rect">
            <a:avLst/>
          </a:prstGeom>
          <a:noFill/>
          <a:ln/>
        </p:spPr>
        <p:txBody>
          <a:bodyPr wrap="square" lIns="0" tIns="0" rIns="0" bIns="0" rtlCol="0" anchor="ctr"/>
          <a:lstStyle/>
          <a:p>
            <a:pPr marL="0" indent="0">
              <a:buNone/>
            </a:pPr>
            <a:r>
              <a:rPr lang="en-US" sz="1600" b="1" dirty="0">
                <a:solidFill>
                  <a:srgbClr val="AC7708"/>
                </a:solidFill>
                <a:latin typeface="Courier New" pitchFamily="34" charset="0"/>
                <a:ea typeface="Courier New" pitchFamily="34" charset="-122"/>
                <a:cs typeface="Courier New" pitchFamily="34" charset="-120"/>
              </a:rPr>
              <a:t>p</a:t>
            </a:r>
            <a:endParaRPr lang="en-US" sz="1600" dirty="0"/>
          </a:p>
        </p:txBody>
      </p:sp>
      <p:sp>
        <p:nvSpPr>
          <p:cNvPr id="23" name="Shape 18"/>
          <p:cNvSpPr/>
          <p:nvPr/>
        </p:nvSpPr>
        <p:spPr>
          <a:xfrm>
            <a:off x="6729984" y="2377440"/>
            <a:ext cx="1947672" cy="1737360"/>
          </a:xfrm>
          <a:prstGeom prst="roundRect">
            <a:avLst>
              <a:gd name="adj" fmla="val 4737"/>
            </a:avLst>
          </a:prstGeom>
          <a:solidFill>
            <a:srgbClr val="F4F4F2"/>
          </a:solidFill>
          <a:ln/>
        </p:spPr>
        <p:txBody>
          <a:bodyPr/>
          <a:lstStyle/>
          <a:p>
            <a:endParaRPr lang="en-US"/>
          </a:p>
        </p:txBody>
      </p:sp>
      <p:sp>
        <p:nvSpPr>
          <p:cNvPr id="24" name="Text 19"/>
          <p:cNvSpPr/>
          <p:nvPr/>
        </p:nvSpPr>
        <p:spPr>
          <a:xfrm>
            <a:off x="6912864" y="2542032"/>
            <a:ext cx="1581912" cy="228600"/>
          </a:xfrm>
          <a:prstGeom prst="rect">
            <a:avLst/>
          </a:prstGeom>
          <a:noFill/>
          <a:ln/>
        </p:spPr>
        <p:txBody>
          <a:bodyPr wrap="square" lIns="0" tIns="0" rIns="0" bIns="0" rtlCol="0" anchor="ctr"/>
          <a:lstStyle/>
          <a:p>
            <a:pPr marL="0" indent="0">
              <a:buNone/>
            </a:pPr>
            <a:r>
              <a:rPr lang="en-US" sz="950" b="1" kern="0" spc="150" dirty="0">
                <a:solidFill>
                  <a:srgbClr val="6B7280"/>
                </a:solidFill>
                <a:latin typeface="Calibri" pitchFamily="34" charset="0"/>
                <a:ea typeface="Calibri" pitchFamily="34" charset="-122"/>
                <a:cs typeface="Calibri" pitchFamily="34" charset="-120"/>
              </a:rPr>
              <a:t>HTML</a:t>
            </a:r>
            <a:endParaRPr lang="en-US" sz="950" dirty="0"/>
          </a:p>
        </p:txBody>
      </p:sp>
      <p:sp>
        <p:nvSpPr>
          <p:cNvPr id="25" name="Text 20"/>
          <p:cNvSpPr/>
          <p:nvPr/>
        </p:nvSpPr>
        <p:spPr>
          <a:xfrm>
            <a:off x="6912864" y="2761488"/>
            <a:ext cx="1581912" cy="365760"/>
          </a:xfrm>
          <a:prstGeom prst="rect">
            <a:avLst/>
          </a:prstGeom>
          <a:noFill/>
          <a:ln/>
        </p:spPr>
        <p:txBody>
          <a:bodyPr wrap="square" lIns="0" tIns="0" rIns="0" bIns="0" rtlCol="0" anchor="ctr"/>
          <a:lstStyle/>
          <a:p>
            <a:pPr marL="0" indent="0">
              <a:buNone/>
            </a:pPr>
            <a:r>
              <a:rPr lang="en-US" sz="1600" b="1" dirty="0">
                <a:solidFill>
                  <a:srgbClr val="16181D"/>
                </a:solidFill>
                <a:latin typeface="Courier New" pitchFamily="34" charset="0"/>
                <a:ea typeface="Courier New" pitchFamily="34" charset="-122"/>
                <a:cs typeface="Courier New" pitchFamily="34" charset="-120"/>
              </a:rPr>
              <a:t>&lt;img&gt;</a:t>
            </a:r>
            <a:endParaRPr lang="en-US" sz="1600" dirty="0"/>
          </a:p>
        </p:txBody>
      </p:sp>
      <p:pic>
        <p:nvPicPr>
          <p:cNvPr id="26" name="Image 3" descr="preencoded.png"/>
          <p:cNvPicPr>
            <a:picLocks noChangeAspect="1"/>
          </p:cNvPicPr>
          <p:nvPr/>
        </p:nvPicPr>
        <p:blipFill>
          <a:blip r:embed="rId3"/>
          <a:stretch>
            <a:fillRect/>
          </a:stretch>
        </p:blipFill>
        <p:spPr>
          <a:xfrm>
            <a:off x="7603236" y="3200400"/>
            <a:ext cx="201168" cy="201168"/>
          </a:xfrm>
          <a:prstGeom prst="rect">
            <a:avLst/>
          </a:prstGeom>
        </p:spPr>
      </p:pic>
      <p:sp>
        <p:nvSpPr>
          <p:cNvPr id="27" name="Text 21"/>
          <p:cNvSpPr/>
          <p:nvPr/>
        </p:nvSpPr>
        <p:spPr>
          <a:xfrm>
            <a:off x="6912864" y="3438144"/>
            <a:ext cx="1581912" cy="228600"/>
          </a:xfrm>
          <a:prstGeom prst="rect">
            <a:avLst/>
          </a:prstGeom>
          <a:noFill/>
          <a:ln/>
        </p:spPr>
        <p:txBody>
          <a:bodyPr wrap="square" lIns="0" tIns="0" rIns="0" bIns="0" rtlCol="0" anchor="ctr"/>
          <a:lstStyle/>
          <a:p>
            <a:pPr marL="0" indent="0">
              <a:buNone/>
            </a:pPr>
            <a:r>
              <a:rPr lang="en-US" sz="950" b="1" kern="0" spc="100" dirty="0">
                <a:solidFill>
                  <a:srgbClr val="AC7708"/>
                </a:solidFill>
                <a:latin typeface="Calibri" pitchFamily="34" charset="0"/>
                <a:ea typeface="Calibri" pitchFamily="34" charset="-122"/>
                <a:cs typeface="Calibri" pitchFamily="34" charset="-120"/>
              </a:rPr>
              <a:t>CSS SELECTOR</a:t>
            </a:r>
            <a:endParaRPr lang="en-US" sz="950" dirty="0"/>
          </a:p>
        </p:txBody>
      </p:sp>
      <p:sp>
        <p:nvSpPr>
          <p:cNvPr id="28" name="Text 22"/>
          <p:cNvSpPr/>
          <p:nvPr/>
        </p:nvSpPr>
        <p:spPr>
          <a:xfrm>
            <a:off x="6912864" y="3657600"/>
            <a:ext cx="1581912" cy="365760"/>
          </a:xfrm>
          <a:prstGeom prst="rect">
            <a:avLst/>
          </a:prstGeom>
          <a:noFill/>
          <a:ln/>
        </p:spPr>
        <p:txBody>
          <a:bodyPr wrap="square" lIns="0" tIns="0" rIns="0" bIns="0" rtlCol="0" anchor="ctr"/>
          <a:lstStyle/>
          <a:p>
            <a:pPr marL="0" indent="0">
              <a:buNone/>
            </a:pPr>
            <a:r>
              <a:rPr lang="en-US" sz="1600" b="1" dirty="0">
                <a:solidFill>
                  <a:srgbClr val="AC7708"/>
                </a:solidFill>
                <a:latin typeface="Courier New" pitchFamily="34" charset="0"/>
                <a:ea typeface="Courier New" pitchFamily="34" charset="-122"/>
                <a:cs typeface="Courier New" pitchFamily="34" charset="-120"/>
              </a:rPr>
              <a:t>img</a:t>
            </a:r>
            <a:endParaRPr lang="en-US" sz="1600" dirty="0"/>
          </a:p>
        </p:txBody>
      </p:sp>
      <p:sp>
        <p:nvSpPr>
          <p:cNvPr id="29" name="Text 23"/>
          <p:cNvSpPr/>
          <p:nvPr/>
        </p:nvSpPr>
        <p:spPr>
          <a:xfrm>
            <a:off x="502920" y="4343400"/>
            <a:ext cx="8138160" cy="457200"/>
          </a:xfrm>
          <a:prstGeom prst="rect">
            <a:avLst/>
          </a:prstGeom>
          <a:noFill/>
          <a:ln/>
        </p:spPr>
        <p:txBody>
          <a:bodyPr wrap="square" lIns="0" tIns="0" rIns="0" bIns="0"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So “style every paragraph” is just:  p { … }.  If you know your HTML tags, you already know your CSS selectors.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THE SHAPE OF EVERY CSS RULE</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Selector, property, value</a:t>
            </a:r>
            <a:endParaRPr lang="en-US" sz="3300" dirty="0"/>
          </a:p>
        </p:txBody>
      </p:sp>
      <p:sp>
        <p:nvSpPr>
          <p:cNvPr id="4" name="Shape 2"/>
          <p:cNvSpPr/>
          <p:nvPr/>
        </p:nvSpPr>
        <p:spPr>
          <a:xfrm>
            <a:off x="502920" y="1737360"/>
            <a:ext cx="8138160" cy="1783080"/>
          </a:xfrm>
          <a:prstGeom prst="roundRect">
            <a:avLst>
              <a:gd name="adj" fmla="val 4103"/>
            </a:avLst>
          </a:prstGeom>
          <a:solidFill>
            <a:srgbClr val="1B1E26"/>
          </a:solidFill>
          <a:ln/>
          <a:effectLst>
            <a:outerShdw blurRad="88900" dist="38100" dir="5400000" algn="bl" rotWithShape="0">
              <a:srgbClr val="000000">
                <a:alpha val="10000"/>
              </a:srgbClr>
            </a:outerShdw>
          </a:effectLst>
        </p:spPr>
        <p:txBody>
          <a:bodyPr/>
          <a:lstStyle/>
          <a:p>
            <a:endParaRPr lang="en-US"/>
          </a:p>
        </p:txBody>
      </p:sp>
      <p:sp>
        <p:nvSpPr>
          <p:cNvPr id="5" name="Text 3"/>
          <p:cNvSpPr/>
          <p:nvPr/>
        </p:nvSpPr>
        <p:spPr>
          <a:xfrm>
            <a:off x="822960" y="1874520"/>
            <a:ext cx="7315200" cy="365760"/>
          </a:xfrm>
          <a:prstGeom prst="rect">
            <a:avLst/>
          </a:prstGeom>
          <a:noFill/>
          <a:ln/>
        </p:spPr>
        <p:txBody>
          <a:bodyPr wrap="square" lIns="0" tIns="0" rIns="0" bIns="0" rtlCol="0" anchor="ctr"/>
          <a:lstStyle/>
          <a:p>
            <a:pPr marL="0" indent="0">
              <a:buNone/>
            </a:pPr>
            <a:r>
              <a:rPr lang="en-US" sz="1800" b="1" dirty="0">
                <a:solidFill>
                  <a:srgbClr val="E0A020"/>
                </a:solidFill>
                <a:latin typeface="Courier New" pitchFamily="34" charset="0"/>
                <a:ea typeface="Courier New" pitchFamily="34" charset="-122"/>
                <a:cs typeface="Courier New" pitchFamily="34" charset="-120"/>
              </a:rPr>
              <a:t>p</a:t>
            </a:r>
            <a:r>
              <a:rPr lang="en-US" sz="1800" dirty="0">
                <a:solidFill>
                  <a:srgbClr val="E9EAEC"/>
                </a:solidFill>
                <a:latin typeface="Courier New" pitchFamily="34" charset="0"/>
                <a:ea typeface="Courier New" pitchFamily="34" charset="-122"/>
                <a:cs typeface="Courier New" pitchFamily="34" charset="-120"/>
              </a:rPr>
              <a:t> {</a:t>
            </a:r>
            <a:endParaRPr lang="en-US" sz="1800" dirty="0"/>
          </a:p>
        </p:txBody>
      </p:sp>
      <p:sp>
        <p:nvSpPr>
          <p:cNvPr id="6" name="Text 4"/>
          <p:cNvSpPr/>
          <p:nvPr/>
        </p:nvSpPr>
        <p:spPr>
          <a:xfrm>
            <a:off x="822960" y="2286000"/>
            <a:ext cx="7315200" cy="365760"/>
          </a:xfrm>
          <a:prstGeom prst="rect">
            <a:avLst/>
          </a:prstGeom>
          <a:noFill/>
          <a:ln/>
        </p:spPr>
        <p:txBody>
          <a:bodyPr wrap="square" lIns="0" tIns="0" rIns="0" bIns="0" rtlCol="0" anchor="ctr"/>
          <a:lstStyle/>
          <a:p>
            <a:pPr marL="0" indent="0">
              <a:buNone/>
            </a:pPr>
            <a:r>
              <a:rPr lang="en-US" sz="1800" dirty="0">
                <a:solidFill>
                  <a:srgbClr val="8FD19E"/>
                </a:solidFill>
                <a:latin typeface="Courier New" pitchFamily="34" charset="0"/>
                <a:ea typeface="Courier New" pitchFamily="34" charset="-122"/>
                <a:cs typeface="Courier New" pitchFamily="34" charset="-120"/>
              </a:rPr>
              <a:t>  text-align</a:t>
            </a:r>
            <a:r>
              <a:rPr lang="en-US" sz="1800" dirty="0">
                <a:solidFill>
                  <a:srgbClr val="E9EAEC"/>
                </a:solidFill>
                <a:latin typeface="Courier New" pitchFamily="34" charset="0"/>
                <a:ea typeface="Courier New" pitchFamily="34" charset="-122"/>
                <a:cs typeface="Courier New" pitchFamily="34" charset="-120"/>
              </a:rPr>
              <a:t>: </a:t>
            </a:r>
            <a:r>
              <a:rPr lang="en-US" sz="1800" dirty="0">
                <a:solidFill>
                  <a:srgbClr val="C9A0FF"/>
                </a:solidFill>
                <a:latin typeface="Courier New" pitchFamily="34" charset="0"/>
                <a:ea typeface="Courier New" pitchFamily="34" charset="-122"/>
                <a:cs typeface="Courier New" pitchFamily="34" charset="-120"/>
              </a:rPr>
              <a:t>center</a:t>
            </a:r>
            <a:r>
              <a:rPr lang="en-US" sz="1800" dirty="0">
                <a:solidFill>
                  <a:srgbClr val="E9EAEC"/>
                </a:solidFill>
                <a:latin typeface="Courier New" pitchFamily="34" charset="0"/>
                <a:ea typeface="Courier New" pitchFamily="34" charset="-122"/>
                <a:cs typeface="Courier New" pitchFamily="34" charset="-120"/>
              </a:rPr>
              <a:t>;</a:t>
            </a:r>
            <a:endParaRPr lang="en-US" sz="1800" dirty="0"/>
          </a:p>
        </p:txBody>
      </p:sp>
      <p:sp>
        <p:nvSpPr>
          <p:cNvPr id="7" name="Text 5"/>
          <p:cNvSpPr/>
          <p:nvPr/>
        </p:nvSpPr>
        <p:spPr>
          <a:xfrm>
            <a:off x="822960" y="2697480"/>
            <a:ext cx="7315200" cy="365760"/>
          </a:xfrm>
          <a:prstGeom prst="rect">
            <a:avLst/>
          </a:prstGeom>
          <a:noFill/>
          <a:ln/>
        </p:spPr>
        <p:txBody>
          <a:bodyPr wrap="square" lIns="0" tIns="0" rIns="0" bIns="0" rtlCol="0" anchor="ctr"/>
          <a:lstStyle/>
          <a:p>
            <a:pPr marL="0" indent="0">
              <a:buNone/>
            </a:pPr>
            <a:r>
              <a:rPr lang="en-US" sz="1800" dirty="0">
                <a:solidFill>
                  <a:srgbClr val="8FD19E"/>
                </a:solidFill>
                <a:latin typeface="Courier New" pitchFamily="34" charset="0"/>
                <a:ea typeface="Courier New" pitchFamily="34" charset="-122"/>
                <a:cs typeface="Courier New" pitchFamily="34" charset="-120"/>
              </a:rPr>
              <a:t>  color</a:t>
            </a:r>
            <a:r>
              <a:rPr lang="en-US" sz="1800" dirty="0">
                <a:solidFill>
                  <a:srgbClr val="E9EAEC"/>
                </a:solidFill>
                <a:latin typeface="Courier New" pitchFamily="34" charset="0"/>
                <a:ea typeface="Courier New" pitchFamily="34" charset="-122"/>
                <a:cs typeface="Courier New" pitchFamily="34" charset="-120"/>
              </a:rPr>
              <a:t>: </a:t>
            </a:r>
            <a:r>
              <a:rPr lang="en-US" sz="1800" dirty="0">
                <a:solidFill>
                  <a:srgbClr val="C9A0FF"/>
                </a:solidFill>
                <a:latin typeface="Courier New" pitchFamily="34" charset="0"/>
                <a:ea typeface="Courier New" pitchFamily="34" charset="-122"/>
                <a:cs typeface="Courier New" pitchFamily="34" charset="-120"/>
              </a:rPr>
              <a:t>white</a:t>
            </a:r>
            <a:r>
              <a:rPr lang="en-US" sz="1800" dirty="0">
                <a:solidFill>
                  <a:srgbClr val="E9EAEC"/>
                </a:solidFill>
                <a:latin typeface="Courier New" pitchFamily="34" charset="0"/>
                <a:ea typeface="Courier New" pitchFamily="34" charset="-122"/>
                <a:cs typeface="Courier New" pitchFamily="34" charset="-120"/>
              </a:rPr>
              <a:t>;</a:t>
            </a:r>
            <a:endParaRPr lang="en-US" sz="1800" dirty="0"/>
          </a:p>
        </p:txBody>
      </p:sp>
      <p:sp>
        <p:nvSpPr>
          <p:cNvPr id="8" name="Text 6"/>
          <p:cNvSpPr/>
          <p:nvPr/>
        </p:nvSpPr>
        <p:spPr>
          <a:xfrm>
            <a:off x="822960" y="3108960"/>
            <a:ext cx="7315200" cy="365760"/>
          </a:xfrm>
          <a:prstGeom prst="rect">
            <a:avLst/>
          </a:prstGeom>
          <a:noFill/>
          <a:ln/>
        </p:spPr>
        <p:txBody>
          <a:bodyPr wrap="square" lIns="0" tIns="0" rIns="0" bIns="0" rtlCol="0" anchor="ctr"/>
          <a:lstStyle/>
          <a:p>
            <a:pPr marL="0" indent="0">
              <a:buNone/>
            </a:pPr>
            <a:r>
              <a:rPr lang="en-US" sz="1800" dirty="0">
                <a:solidFill>
                  <a:srgbClr val="E9EAEC"/>
                </a:solidFill>
                <a:latin typeface="Courier New" pitchFamily="34" charset="0"/>
                <a:ea typeface="Courier New" pitchFamily="34" charset="-122"/>
                <a:cs typeface="Courier New" pitchFamily="34" charset="-120"/>
              </a:rPr>
              <a:t>}</a:t>
            </a:r>
            <a:endParaRPr lang="en-US" sz="1800" dirty="0"/>
          </a:p>
        </p:txBody>
      </p:sp>
      <p:sp>
        <p:nvSpPr>
          <p:cNvPr id="9" name="Shape 7"/>
          <p:cNvSpPr/>
          <p:nvPr/>
        </p:nvSpPr>
        <p:spPr>
          <a:xfrm>
            <a:off x="502920" y="3794760"/>
            <a:ext cx="2587752" cy="868680"/>
          </a:xfrm>
          <a:prstGeom prst="roundRect">
            <a:avLst>
              <a:gd name="adj" fmla="val 8421"/>
            </a:avLst>
          </a:prstGeom>
          <a:solidFill>
            <a:srgbClr val="F4F4F2"/>
          </a:solidFill>
          <a:ln/>
        </p:spPr>
        <p:txBody>
          <a:bodyPr/>
          <a:lstStyle/>
          <a:p>
            <a:endParaRPr lang="en-US"/>
          </a:p>
        </p:txBody>
      </p:sp>
      <p:sp>
        <p:nvSpPr>
          <p:cNvPr id="10" name="Shape 8"/>
          <p:cNvSpPr/>
          <p:nvPr/>
        </p:nvSpPr>
        <p:spPr>
          <a:xfrm>
            <a:off x="704088" y="4105656"/>
            <a:ext cx="237744" cy="237744"/>
          </a:xfrm>
          <a:prstGeom prst="ellipse">
            <a:avLst/>
          </a:prstGeom>
          <a:solidFill>
            <a:srgbClr val="AC7708"/>
          </a:solidFill>
          <a:ln/>
        </p:spPr>
        <p:txBody>
          <a:bodyPr/>
          <a:lstStyle/>
          <a:p>
            <a:endParaRPr lang="en-US"/>
          </a:p>
        </p:txBody>
      </p:sp>
      <p:sp>
        <p:nvSpPr>
          <p:cNvPr id="11" name="Text 9"/>
          <p:cNvSpPr/>
          <p:nvPr/>
        </p:nvSpPr>
        <p:spPr>
          <a:xfrm>
            <a:off x="1051560" y="3941064"/>
            <a:ext cx="1947672" cy="292608"/>
          </a:xfrm>
          <a:prstGeom prst="rect">
            <a:avLst/>
          </a:prstGeom>
          <a:noFill/>
          <a:ln/>
        </p:spPr>
        <p:txBody>
          <a:bodyPr wrap="square" lIns="0" tIns="0" rIns="0" bIns="0" rtlCol="0" anchor="ctr"/>
          <a:lstStyle/>
          <a:p>
            <a:pPr marL="0" indent="0">
              <a:buNone/>
            </a:pPr>
            <a:r>
              <a:rPr lang="en-US" sz="1400" b="1" dirty="0">
                <a:solidFill>
                  <a:srgbClr val="16181D"/>
                </a:solidFill>
                <a:latin typeface="Courier New" pitchFamily="34" charset="0"/>
                <a:ea typeface="Courier New" pitchFamily="34" charset="-122"/>
                <a:cs typeface="Courier New" pitchFamily="34" charset="-120"/>
              </a:rPr>
              <a:t>selector</a:t>
            </a:r>
            <a:endParaRPr lang="en-US" sz="1400" dirty="0"/>
          </a:p>
        </p:txBody>
      </p:sp>
      <p:sp>
        <p:nvSpPr>
          <p:cNvPr id="12" name="Text 10"/>
          <p:cNvSpPr/>
          <p:nvPr/>
        </p:nvSpPr>
        <p:spPr>
          <a:xfrm>
            <a:off x="1051560" y="4251960"/>
            <a:ext cx="1947672" cy="320040"/>
          </a:xfrm>
          <a:prstGeom prst="rect">
            <a:avLst/>
          </a:prstGeom>
          <a:noFill/>
          <a:ln/>
        </p:spPr>
        <p:txBody>
          <a:bodyPr wrap="square" lIns="0" tIns="0" rIns="0" bIns="0" rtlCol="0" anchor="ctr"/>
          <a:lstStyle/>
          <a:p>
            <a:pPr marL="0" indent="0">
              <a:buNone/>
            </a:pPr>
            <a:r>
              <a:rPr lang="en-US" sz="1100" dirty="0">
                <a:solidFill>
                  <a:srgbClr val="353A45"/>
                </a:solidFill>
                <a:latin typeface="Calibri" pitchFamily="34" charset="0"/>
                <a:ea typeface="Calibri" pitchFamily="34" charset="-122"/>
                <a:cs typeface="Calibri" pitchFamily="34" charset="-120"/>
              </a:rPr>
              <a:t>which tag to style  (p)</a:t>
            </a:r>
            <a:endParaRPr lang="en-US" sz="1100" dirty="0"/>
          </a:p>
        </p:txBody>
      </p:sp>
      <p:sp>
        <p:nvSpPr>
          <p:cNvPr id="13" name="Shape 11"/>
          <p:cNvSpPr/>
          <p:nvPr/>
        </p:nvSpPr>
        <p:spPr>
          <a:xfrm>
            <a:off x="3273552" y="3794760"/>
            <a:ext cx="2587752" cy="868680"/>
          </a:xfrm>
          <a:prstGeom prst="roundRect">
            <a:avLst>
              <a:gd name="adj" fmla="val 8421"/>
            </a:avLst>
          </a:prstGeom>
          <a:solidFill>
            <a:srgbClr val="F4F4F2"/>
          </a:solidFill>
          <a:ln/>
        </p:spPr>
        <p:txBody>
          <a:bodyPr/>
          <a:lstStyle/>
          <a:p>
            <a:endParaRPr lang="en-US"/>
          </a:p>
        </p:txBody>
      </p:sp>
      <p:sp>
        <p:nvSpPr>
          <p:cNvPr id="14" name="Shape 12"/>
          <p:cNvSpPr/>
          <p:nvPr/>
        </p:nvSpPr>
        <p:spPr>
          <a:xfrm>
            <a:off x="3474720" y="4105656"/>
            <a:ext cx="237744" cy="237744"/>
          </a:xfrm>
          <a:prstGeom prst="ellipse">
            <a:avLst/>
          </a:prstGeom>
          <a:solidFill>
            <a:srgbClr val="4E8A5B"/>
          </a:solidFill>
          <a:ln/>
        </p:spPr>
        <p:txBody>
          <a:bodyPr/>
          <a:lstStyle/>
          <a:p>
            <a:endParaRPr lang="en-US"/>
          </a:p>
        </p:txBody>
      </p:sp>
      <p:sp>
        <p:nvSpPr>
          <p:cNvPr id="15" name="Text 13"/>
          <p:cNvSpPr/>
          <p:nvPr/>
        </p:nvSpPr>
        <p:spPr>
          <a:xfrm>
            <a:off x="3822192" y="3941064"/>
            <a:ext cx="1947672" cy="292608"/>
          </a:xfrm>
          <a:prstGeom prst="rect">
            <a:avLst/>
          </a:prstGeom>
          <a:noFill/>
          <a:ln/>
        </p:spPr>
        <p:txBody>
          <a:bodyPr wrap="square" lIns="0" tIns="0" rIns="0" bIns="0" rtlCol="0" anchor="ctr"/>
          <a:lstStyle/>
          <a:p>
            <a:pPr marL="0" indent="0">
              <a:buNone/>
            </a:pPr>
            <a:r>
              <a:rPr lang="en-US" sz="1400" b="1" dirty="0">
                <a:solidFill>
                  <a:srgbClr val="16181D"/>
                </a:solidFill>
                <a:latin typeface="Courier New" pitchFamily="34" charset="0"/>
                <a:ea typeface="Courier New" pitchFamily="34" charset="-122"/>
                <a:cs typeface="Courier New" pitchFamily="34" charset="-120"/>
              </a:rPr>
              <a:t>property</a:t>
            </a:r>
            <a:endParaRPr lang="en-US" sz="1400" dirty="0"/>
          </a:p>
        </p:txBody>
      </p:sp>
      <p:sp>
        <p:nvSpPr>
          <p:cNvPr id="16" name="Text 14"/>
          <p:cNvSpPr/>
          <p:nvPr/>
        </p:nvSpPr>
        <p:spPr>
          <a:xfrm>
            <a:off x="3822192" y="4251960"/>
            <a:ext cx="1947672" cy="320040"/>
          </a:xfrm>
          <a:prstGeom prst="rect">
            <a:avLst/>
          </a:prstGeom>
          <a:noFill/>
          <a:ln/>
        </p:spPr>
        <p:txBody>
          <a:bodyPr wrap="square" lIns="0" tIns="0" rIns="0" bIns="0" rtlCol="0" anchor="ctr"/>
          <a:lstStyle/>
          <a:p>
            <a:pPr marL="0" indent="0">
              <a:buNone/>
            </a:pPr>
            <a:r>
              <a:rPr lang="en-US" sz="1100" dirty="0">
                <a:solidFill>
                  <a:srgbClr val="353A45"/>
                </a:solidFill>
                <a:latin typeface="Calibri" pitchFamily="34" charset="0"/>
                <a:ea typeface="Calibri" pitchFamily="34" charset="-122"/>
                <a:cs typeface="Calibri" pitchFamily="34" charset="-120"/>
              </a:rPr>
              <a:t>what to change  (color)</a:t>
            </a:r>
            <a:endParaRPr lang="en-US" sz="1100" dirty="0"/>
          </a:p>
        </p:txBody>
      </p:sp>
      <p:sp>
        <p:nvSpPr>
          <p:cNvPr id="17" name="Shape 15"/>
          <p:cNvSpPr/>
          <p:nvPr/>
        </p:nvSpPr>
        <p:spPr>
          <a:xfrm>
            <a:off x="6044184" y="3794760"/>
            <a:ext cx="2587752" cy="868680"/>
          </a:xfrm>
          <a:prstGeom prst="roundRect">
            <a:avLst>
              <a:gd name="adj" fmla="val 8421"/>
            </a:avLst>
          </a:prstGeom>
          <a:solidFill>
            <a:srgbClr val="F4F4F2"/>
          </a:solidFill>
          <a:ln/>
        </p:spPr>
        <p:txBody>
          <a:bodyPr/>
          <a:lstStyle/>
          <a:p>
            <a:endParaRPr lang="en-US"/>
          </a:p>
        </p:txBody>
      </p:sp>
      <p:sp>
        <p:nvSpPr>
          <p:cNvPr id="18" name="Shape 16"/>
          <p:cNvSpPr/>
          <p:nvPr/>
        </p:nvSpPr>
        <p:spPr>
          <a:xfrm>
            <a:off x="6245352" y="4105656"/>
            <a:ext cx="237744" cy="237744"/>
          </a:xfrm>
          <a:prstGeom prst="ellipse">
            <a:avLst/>
          </a:prstGeom>
          <a:solidFill>
            <a:srgbClr val="7A5CB0"/>
          </a:solidFill>
          <a:ln/>
        </p:spPr>
        <p:txBody>
          <a:bodyPr/>
          <a:lstStyle/>
          <a:p>
            <a:endParaRPr lang="en-US"/>
          </a:p>
        </p:txBody>
      </p:sp>
      <p:sp>
        <p:nvSpPr>
          <p:cNvPr id="19" name="Text 17"/>
          <p:cNvSpPr/>
          <p:nvPr/>
        </p:nvSpPr>
        <p:spPr>
          <a:xfrm>
            <a:off x="6592824" y="3941064"/>
            <a:ext cx="1947672" cy="292608"/>
          </a:xfrm>
          <a:prstGeom prst="rect">
            <a:avLst/>
          </a:prstGeom>
          <a:noFill/>
          <a:ln/>
        </p:spPr>
        <p:txBody>
          <a:bodyPr wrap="square" lIns="0" tIns="0" rIns="0" bIns="0" rtlCol="0" anchor="ctr"/>
          <a:lstStyle/>
          <a:p>
            <a:pPr marL="0" indent="0">
              <a:buNone/>
            </a:pPr>
            <a:r>
              <a:rPr lang="en-US" sz="1400" b="1" dirty="0">
                <a:solidFill>
                  <a:srgbClr val="16181D"/>
                </a:solidFill>
                <a:latin typeface="Courier New" pitchFamily="34" charset="0"/>
                <a:ea typeface="Courier New" pitchFamily="34" charset="-122"/>
                <a:cs typeface="Courier New" pitchFamily="34" charset="-120"/>
              </a:rPr>
              <a:t>value</a:t>
            </a:r>
            <a:endParaRPr lang="en-US" sz="1400" dirty="0"/>
          </a:p>
        </p:txBody>
      </p:sp>
      <p:sp>
        <p:nvSpPr>
          <p:cNvPr id="20" name="Text 18"/>
          <p:cNvSpPr/>
          <p:nvPr/>
        </p:nvSpPr>
        <p:spPr>
          <a:xfrm>
            <a:off x="6592824" y="4251960"/>
            <a:ext cx="1947672" cy="320040"/>
          </a:xfrm>
          <a:prstGeom prst="rect">
            <a:avLst/>
          </a:prstGeom>
          <a:noFill/>
          <a:ln/>
        </p:spPr>
        <p:txBody>
          <a:bodyPr wrap="square" lIns="0" tIns="0" rIns="0" bIns="0" rtlCol="0" anchor="ctr"/>
          <a:lstStyle/>
          <a:p>
            <a:pPr marL="0" indent="0">
              <a:buNone/>
            </a:pPr>
            <a:r>
              <a:rPr lang="en-US" sz="1100" dirty="0">
                <a:solidFill>
                  <a:srgbClr val="353A45"/>
                </a:solidFill>
                <a:latin typeface="Calibri" pitchFamily="34" charset="0"/>
                <a:ea typeface="Calibri" pitchFamily="34" charset="-122"/>
                <a:cs typeface="Calibri" pitchFamily="34" charset="-120"/>
              </a:rPr>
              <a:t>what to set it to  (white)</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YOUR STARTER PALETTE</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The properties you'll reach for first</a:t>
            </a:r>
            <a:endParaRPr lang="en-US" sz="3300" dirty="0"/>
          </a:p>
        </p:txBody>
      </p:sp>
      <p:sp>
        <p:nvSpPr>
          <p:cNvPr id="4" name="Shape 2"/>
          <p:cNvSpPr/>
          <p:nvPr/>
        </p:nvSpPr>
        <p:spPr>
          <a:xfrm>
            <a:off x="502920" y="1691640"/>
            <a:ext cx="2587752" cy="1060704"/>
          </a:xfrm>
          <a:prstGeom prst="roundRect">
            <a:avLst>
              <a:gd name="adj" fmla="val 7759"/>
            </a:avLst>
          </a:prstGeom>
          <a:solidFill>
            <a:srgbClr val="F4F4F2"/>
          </a:solidFill>
          <a:ln/>
        </p:spPr>
        <p:txBody>
          <a:bodyPr/>
          <a:lstStyle/>
          <a:p>
            <a:endParaRPr lang="en-US"/>
          </a:p>
        </p:txBody>
      </p:sp>
      <p:sp>
        <p:nvSpPr>
          <p:cNvPr id="5" name="Shape 3"/>
          <p:cNvSpPr/>
          <p:nvPr/>
        </p:nvSpPr>
        <p:spPr>
          <a:xfrm>
            <a:off x="704088" y="1984248"/>
            <a:ext cx="475488" cy="47548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27715" y="2107875"/>
            <a:ext cx="228234" cy="228234"/>
          </a:xfrm>
          <a:prstGeom prst="rect">
            <a:avLst/>
          </a:prstGeom>
        </p:spPr>
      </p:pic>
      <p:sp>
        <p:nvSpPr>
          <p:cNvPr id="7" name="Text 4"/>
          <p:cNvSpPr/>
          <p:nvPr/>
        </p:nvSpPr>
        <p:spPr>
          <a:xfrm>
            <a:off x="1289304" y="1892808"/>
            <a:ext cx="1673352" cy="365760"/>
          </a:xfrm>
          <a:prstGeom prst="rect">
            <a:avLst/>
          </a:prstGeom>
          <a:noFill/>
          <a:ln/>
        </p:spPr>
        <p:txBody>
          <a:bodyPr wrap="square" lIns="0" tIns="0" rIns="0" bIns="0" rtlCol="0" anchor="ctr"/>
          <a:lstStyle/>
          <a:p>
            <a:pPr marL="0" indent="0">
              <a:buNone/>
            </a:pPr>
            <a:r>
              <a:rPr lang="en-US" sz="1350" b="1" dirty="0">
                <a:solidFill>
                  <a:srgbClr val="16181D"/>
                </a:solidFill>
                <a:latin typeface="Courier New" pitchFamily="34" charset="0"/>
                <a:ea typeface="Courier New" pitchFamily="34" charset="-122"/>
                <a:cs typeface="Courier New" pitchFamily="34" charset="-120"/>
              </a:rPr>
              <a:t>color</a:t>
            </a:r>
            <a:endParaRPr lang="en-US" sz="1350" dirty="0"/>
          </a:p>
        </p:txBody>
      </p:sp>
      <p:sp>
        <p:nvSpPr>
          <p:cNvPr id="8" name="Text 5"/>
          <p:cNvSpPr/>
          <p:nvPr/>
        </p:nvSpPr>
        <p:spPr>
          <a:xfrm>
            <a:off x="1289304" y="2276856"/>
            <a:ext cx="1673352" cy="365760"/>
          </a:xfrm>
          <a:prstGeom prst="rect">
            <a:avLst/>
          </a:prstGeom>
          <a:noFill/>
          <a:ln/>
        </p:spPr>
        <p:txBody>
          <a:bodyPr wrap="square" lIns="0" tIns="0" rIns="0" bIns="0" rtlCol="0" anchor="ctr"/>
          <a:lstStyle/>
          <a:p>
            <a:pPr marL="0" indent="0">
              <a:buNone/>
            </a:pPr>
            <a:r>
              <a:rPr lang="en-US" sz="1150" dirty="0">
                <a:solidFill>
                  <a:srgbClr val="353A45"/>
                </a:solidFill>
                <a:latin typeface="Calibri" pitchFamily="34" charset="0"/>
                <a:ea typeface="Calibri" pitchFamily="34" charset="-122"/>
                <a:cs typeface="Calibri" pitchFamily="34" charset="-120"/>
              </a:rPr>
              <a:t>Text color</a:t>
            </a:r>
            <a:endParaRPr lang="en-US" sz="1150" dirty="0"/>
          </a:p>
        </p:txBody>
      </p:sp>
      <p:sp>
        <p:nvSpPr>
          <p:cNvPr id="9" name="Shape 6"/>
          <p:cNvSpPr/>
          <p:nvPr/>
        </p:nvSpPr>
        <p:spPr>
          <a:xfrm>
            <a:off x="3273552" y="1691640"/>
            <a:ext cx="2587752" cy="1060704"/>
          </a:xfrm>
          <a:prstGeom prst="roundRect">
            <a:avLst>
              <a:gd name="adj" fmla="val 7759"/>
            </a:avLst>
          </a:prstGeom>
          <a:solidFill>
            <a:srgbClr val="F4F4F2"/>
          </a:solidFill>
          <a:ln/>
        </p:spPr>
        <p:txBody>
          <a:bodyPr/>
          <a:lstStyle/>
          <a:p>
            <a:endParaRPr lang="en-US"/>
          </a:p>
        </p:txBody>
      </p:sp>
      <p:sp>
        <p:nvSpPr>
          <p:cNvPr id="10" name="Shape 7"/>
          <p:cNvSpPr/>
          <p:nvPr/>
        </p:nvSpPr>
        <p:spPr>
          <a:xfrm>
            <a:off x="3474720" y="1984248"/>
            <a:ext cx="475488" cy="47548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3598347" y="2107875"/>
            <a:ext cx="228234" cy="228234"/>
          </a:xfrm>
          <a:prstGeom prst="rect">
            <a:avLst/>
          </a:prstGeom>
        </p:spPr>
      </p:pic>
      <p:sp>
        <p:nvSpPr>
          <p:cNvPr id="12" name="Text 8"/>
          <p:cNvSpPr/>
          <p:nvPr/>
        </p:nvSpPr>
        <p:spPr>
          <a:xfrm>
            <a:off x="4059936" y="1892808"/>
            <a:ext cx="1673352" cy="365760"/>
          </a:xfrm>
          <a:prstGeom prst="rect">
            <a:avLst/>
          </a:prstGeom>
          <a:noFill/>
          <a:ln/>
        </p:spPr>
        <p:txBody>
          <a:bodyPr wrap="square" lIns="0" tIns="0" rIns="0" bIns="0" rtlCol="0" anchor="ctr"/>
          <a:lstStyle/>
          <a:p>
            <a:pPr marL="0" indent="0">
              <a:buNone/>
            </a:pPr>
            <a:r>
              <a:rPr lang="en-US" sz="1350" b="1" dirty="0">
                <a:solidFill>
                  <a:srgbClr val="16181D"/>
                </a:solidFill>
                <a:latin typeface="Courier New" pitchFamily="34" charset="0"/>
                <a:ea typeface="Courier New" pitchFamily="34" charset="-122"/>
                <a:cs typeface="Courier New" pitchFamily="34" charset="-120"/>
              </a:rPr>
              <a:t>background-color</a:t>
            </a:r>
            <a:endParaRPr lang="en-US" sz="1350" dirty="0"/>
          </a:p>
        </p:txBody>
      </p:sp>
      <p:sp>
        <p:nvSpPr>
          <p:cNvPr id="13" name="Text 9"/>
          <p:cNvSpPr/>
          <p:nvPr/>
        </p:nvSpPr>
        <p:spPr>
          <a:xfrm>
            <a:off x="4059936" y="2276856"/>
            <a:ext cx="1673352" cy="365760"/>
          </a:xfrm>
          <a:prstGeom prst="rect">
            <a:avLst/>
          </a:prstGeom>
          <a:noFill/>
          <a:ln/>
        </p:spPr>
        <p:txBody>
          <a:bodyPr wrap="square" lIns="0" tIns="0" rIns="0" bIns="0" rtlCol="0" anchor="ctr"/>
          <a:lstStyle/>
          <a:p>
            <a:pPr marL="0" indent="0">
              <a:buNone/>
            </a:pPr>
            <a:r>
              <a:rPr lang="en-US" sz="1150" dirty="0">
                <a:solidFill>
                  <a:srgbClr val="353A45"/>
                </a:solidFill>
                <a:latin typeface="Calibri" pitchFamily="34" charset="0"/>
                <a:ea typeface="Calibri" pitchFamily="34" charset="-122"/>
                <a:cs typeface="Calibri" pitchFamily="34" charset="-120"/>
              </a:rPr>
              <a:t>Background fill</a:t>
            </a:r>
            <a:endParaRPr lang="en-US" sz="1150" dirty="0"/>
          </a:p>
        </p:txBody>
      </p:sp>
      <p:sp>
        <p:nvSpPr>
          <p:cNvPr id="14" name="Shape 10"/>
          <p:cNvSpPr/>
          <p:nvPr/>
        </p:nvSpPr>
        <p:spPr>
          <a:xfrm>
            <a:off x="6044184" y="1691640"/>
            <a:ext cx="2587752" cy="1060704"/>
          </a:xfrm>
          <a:prstGeom prst="roundRect">
            <a:avLst>
              <a:gd name="adj" fmla="val 7759"/>
            </a:avLst>
          </a:prstGeom>
          <a:solidFill>
            <a:srgbClr val="F4F4F2"/>
          </a:solidFill>
          <a:ln/>
        </p:spPr>
        <p:txBody>
          <a:bodyPr/>
          <a:lstStyle/>
          <a:p>
            <a:endParaRPr lang="en-US"/>
          </a:p>
        </p:txBody>
      </p:sp>
      <p:sp>
        <p:nvSpPr>
          <p:cNvPr id="15" name="Shape 11"/>
          <p:cNvSpPr/>
          <p:nvPr/>
        </p:nvSpPr>
        <p:spPr>
          <a:xfrm>
            <a:off x="6245352" y="1984248"/>
            <a:ext cx="475488" cy="47548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6368979" y="2107875"/>
            <a:ext cx="228234" cy="228234"/>
          </a:xfrm>
          <a:prstGeom prst="rect">
            <a:avLst/>
          </a:prstGeom>
        </p:spPr>
      </p:pic>
      <p:sp>
        <p:nvSpPr>
          <p:cNvPr id="17" name="Text 12"/>
          <p:cNvSpPr/>
          <p:nvPr/>
        </p:nvSpPr>
        <p:spPr>
          <a:xfrm>
            <a:off x="6830568" y="1892808"/>
            <a:ext cx="1673352" cy="365760"/>
          </a:xfrm>
          <a:prstGeom prst="rect">
            <a:avLst/>
          </a:prstGeom>
          <a:noFill/>
          <a:ln/>
        </p:spPr>
        <p:txBody>
          <a:bodyPr wrap="square" lIns="0" tIns="0" rIns="0" bIns="0" rtlCol="0" anchor="ctr"/>
          <a:lstStyle/>
          <a:p>
            <a:pPr marL="0" indent="0">
              <a:buNone/>
            </a:pPr>
            <a:r>
              <a:rPr lang="en-US" sz="1350" b="1" dirty="0">
                <a:solidFill>
                  <a:srgbClr val="16181D"/>
                </a:solidFill>
                <a:latin typeface="Courier New" pitchFamily="34" charset="0"/>
                <a:ea typeface="Courier New" pitchFamily="34" charset="-122"/>
                <a:cs typeface="Courier New" pitchFamily="34" charset="-120"/>
              </a:rPr>
              <a:t>font-size</a:t>
            </a:r>
            <a:endParaRPr lang="en-US" sz="1350" dirty="0"/>
          </a:p>
        </p:txBody>
      </p:sp>
      <p:sp>
        <p:nvSpPr>
          <p:cNvPr id="18" name="Text 13"/>
          <p:cNvSpPr/>
          <p:nvPr/>
        </p:nvSpPr>
        <p:spPr>
          <a:xfrm>
            <a:off x="6830568" y="2276856"/>
            <a:ext cx="1673352" cy="365760"/>
          </a:xfrm>
          <a:prstGeom prst="rect">
            <a:avLst/>
          </a:prstGeom>
          <a:noFill/>
          <a:ln/>
        </p:spPr>
        <p:txBody>
          <a:bodyPr wrap="square" lIns="0" tIns="0" rIns="0" bIns="0" rtlCol="0" anchor="ctr"/>
          <a:lstStyle/>
          <a:p>
            <a:pPr marL="0" indent="0">
              <a:buNone/>
            </a:pPr>
            <a:r>
              <a:rPr lang="en-US" sz="1150" dirty="0">
                <a:solidFill>
                  <a:srgbClr val="353A45"/>
                </a:solidFill>
                <a:latin typeface="Calibri" pitchFamily="34" charset="0"/>
                <a:ea typeface="Calibri" pitchFamily="34" charset="-122"/>
                <a:cs typeface="Calibri" pitchFamily="34" charset="-120"/>
              </a:rPr>
              <a:t>How big the text is</a:t>
            </a:r>
            <a:endParaRPr lang="en-US" sz="1150" dirty="0"/>
          </a:p>
        </p:txBody>
      </p:sp>
      <p:sp>
        <p:nvSpPr>
          <p:cNvPr id="19" name="Shape 14"/>
          <p:cNvSpPr/>
          <p:nvPr/>
        </p:nvSpPr>
        <p:spPr>
          <a:xfrm>
            <a:off x="502920" y="2898648"/>
            <a:ext cx="2587752" cy="1060704"/>
          </a:xfrm>
          <a:prstGeom prst="roundRect">
            <a:avLst>
              <a:gd name="adj" fmla="val 7759"/>
            </a:avLst>
          </a:prstGeom>
          <a:solidFill>
            <a:srgbClr val="F4F4F2"/>
          </a:solidFill>
          <a:ln/>
        </p:spPr>
        <p:txBody>
          <a:bodyPr/>
          <a:lstStyle/>
          <a:p>
            <a:endParaRPr lang="en-US"/>
          </a:p>
        </p:txBody>
      </p:sp>
      <p:sp>
        <p:nvSpPr>
          <p:cNvPr id="20" name="Shape 15"/>
          <p:cNvSpPr/>
          <p:nvPr/>
        </p:nvSpPr>
        <p:spPr>
          <a:xfrm>
            <a:off x="704088" y="3191256"/>
            <a:ext cx="475488" cy="47548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21" name="Image 3" descr="preencoded.png"/>
          <p:cNvPicPr>
            <a:picLocks noChangeAspect="1"/>
          </p:cNvPicPr>
          <p:nvPr/>
        </p:nvPicPr>
        <p:blipFill>
          <a:blip r:embed="rId6"/>
          <a:stretch>
            <a:fillRect/>
          </a:stretch>
        </p:blipFill>
        <p:spPr>
          <a:xfrm>
            <a:off x="827715" y="3314883"/>
            <a:ext cx="228234" cy="228234"/>
          </a:xfrm>
          <a:prstGeom prst="rect">
            <a:avLst/>
          </a:prstGeom>
        </p:spPr>
      </p:pic>
      <p:sp>
        <p:nvSpPr>
          <p:cNvPr id="22" name="Text 16"/>
          <p:cNvSpPr/>
          <p:nvPr/>
        </p:nvSpPr>
        <p:spPr>
          <a:xfrm>
            <a:off x="1289304" y="3099816"/>
            <a:ext cx="1673352" cy="365760"/>
          </a:xfrm>
          <a:prstGeom prst="rect">
            <a:avLst/>
          </a:prstGeom>
          <a:noFill/>
          <a:ln/>
        </p:spPr>
        <p:txBody>
          <a:bodyPr wrap="square" lIns="0" tIns="0" rIns="0" bIns="0" rtlCol="0" anchor="ctr"/>
          <a:lstStyle/>
          <a:p>
            <a:pPr marL="0" indent="0">
              <a:buNone/>
            </a:pPr>
            <a:r>
              <a:rPr lang="en-US" sz="1350" b="1" dirty="0">
                <a:solidFill>
                  <a:srgbClr val="16181D"/>
                </a:solidFill>
                <a:latin typeface="Courier New" pitchFamily="34" charset="0"/>
                <a:ea typeface="Courier New" pitchFamily="34" charset="-122"/>
                <a:cs typeface="Courier New" pitchFamily="34" charset="-120"/>
              </a:rPr>
              <a:t>text-align</a:t>
            </a:r>
            <a:endParaRPr lang="en-US" sz="1350" dirty="0"/>
          </a:p>
        </p:txBody>
      </p:sp>
      <p:sp>
        <p:nvSpPr>
          <p:cNvPr id="23" name="Text 17"/>
          <p:cNvSpPr/>
          <p:nvPr/>
        </p:nvSpPr>
        <p:spPr>
          <a:xfrm>
            <a:off x="1289304" y="3483864"/>
            <a:ext cx="1673352" cy="365760"/>
          </a:xfrm>
          <a:prstGeom prst="rect">
            <a:avLst/>
          </a:prstGeom>
          <a:noFill/>
          <a:ln/>
        </p:spPr>
        <p:txBody>
          <a:bodyPr wrap="square" lIns="0" tIns="0" rIns="0" bIns="0" rtlCol="0" anchor="ctr"/>
          <a:lstStyle/>
          <a:p>
            <a:pPr marL="0" indent="0">
              <a:buNone/>
            </a:pPr>
            <a:r>
              <a:rPr lang="en-US" sz="1150" dirty="0">
                <a:solidFill>
                  <a:srgbClr val="353A45"/>
                </a:solidFill>
                <a:latin typeface="Calibri" pitchFamily="34" charset="0"/>
                <a:ea typeface="Calibri" pitchFamily="34" charset="-122"/>
                <a:cs typeface="Calibri" pitchFamily="34" charset="-120"/>
              </a:rPr>
              <a:t>Left, center, right</a:t>
            </a:r>
            <a:endParaRPr lang="en-US" sz="1150" dirty="0"/>
          </a:p>
        </p:txBody>
      </p:sp>
      <p:sp>
        <p:nvSpPr>
          <p:cNvPr id="24" name="Shape 18"/>
          <p:cNvSpPr/>
          <p:nvPr/>
        </p:nvSpPr>
        <p:spPr>
          <a:xfrm>
            <a:off x="3273552" y="2898648"/>
            <a:ext cx="2587752" cy="1060704"/>
          </a:xfrm>
          <a:prstGeom prst="roundRect">
            <a:avLst>
              <a:gd name="adj" fmla="val 7759"/>
            </a:avLst>
          </a:prstGeom>
          <a:solidFill>
            <a:srgbClr val="F4F4F2"/>
          </a:solidFill>
          <a:ln/>
        </p:spPr>
        <p:txBody>
          <a:bodyPr/>
          <a:lstStyle/>
          <a:p>
            <a:endParaRPr lang="en-US"/>
          </a:p>
        </p:txBody>
      </p:sp>
      <p:sp>
        <p:nvSpPr>
          <p:cNvPr id="25" name="Shape 19"/>
          <p:cNvSpPr/>
          <p:nvPr/>
        </p:nvSpPr>
        <p:spPr>
          <a:xfrm>
            <a:off x="3474720" y="3191256"/>
            <a:ext cx="475488" cy="47548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26" name="Image 4" descr="preencoded.png"/>
          <p:cNvPicPr>
            <a:picLocks noChangeAspect="1"/>
          </p:cNvPicPr>
          <p:nvPr/>
        </p:nvPicPr>
        <p:blipFill>
          <a:blip r:embed="rId7"/>
          <a:stretch>
            <a:fillRect/>
          </a:stretch>
        </p:blipFill>
        <p:spPr>
          <a:xfrm>
            <a:off x="3598347" y="3314883"/>
            <a:ext cx="228234" cy="228234"/>
          </a:xfrm>
          <a:prstGeom prst="rect">
            <a:avLst/>
          </a:prstGeom>
        </p:spPr>
      </p:pic>
      <p:sp>
        <p:nvSpPr>
          <p:cNvPr id="27" name="Text 20"/>
          <p:cNvSpPr/>
          <p:nvPr/>
        </p:nvSpPr>
        <p:spPr>
          <a:xfrm>
            <a:off x="4059936" y="3099816"/>
            <a:ext cx="1673352" cy="365760"/>
          </a:xfrm>
          <a:prstGeom prst="rect">
            <a:avLst/>
          </a:prstGeom>
          <a:noFill/>
          <a:ln/>
        </p:spPr>
        <p:txBody>
          <a:bodyPr wrap="square" lIns="0" tIns="0" rIns="0" bIns="0" rtlCol="0" anchor="ctr"/>
          <a:lstStyle/>
          <a:p>
            <a:pPr marL="0" indent="0">
              <a:buNone/>
            </a:pPr>
            <a:r>
              <a:rPr lang="en-US" sz="1350" b="1" dirty="0">
                <a:solidFill>
                  <a:srgbClr val="16181D"/>
                </a:solidFill>
                <a:latin typeface="Courier New" pitchFamily="34" charset="0"/>
                <a:ea typeface="Courier New" pitchFamily="34" charset="-122"/>
                <a:cs typeface="Courier New" pitchFamily="34" charset="-120"/>
              </a:rPr>
              <a:t>margin  ·  padding</a:t>
            </a:r>
            <a:endParaRPr lang="en-US" sz="1350" dirty="0"/>
          </a:p>
        </p:txBody>
      </p:sp>
      <p:sp>
        <p:nvSpPr>
          <p:cNvPr id="28" name="Text 21"/>
          <p:cNvSpPr/>
          <p:nvPr/>
        </p:nvSpPr>
        <p:spPr>
          <a:xfrm>
            <a:off x="4059936" y="3483864"/>
            <a:ext cx="1673352" cy="365760"/>
          </a:xfrm>
          <a:prstGeom prst="rect">
            <a:avLst/>
          </a:prstGeom>
          <a:noFill/>
          <a:ln/>
        </p:spPr>
        <p:txBody>
          <a:bodyPr wrap="square" lIns="0" tIns="0" rIns="0" bIns="0" rtlCol="0" anchor="ctr"/>
          <a:lstStyle/>
          <a:p>
            <a:pPr marL="0" indent="0">
              <a:buNone/>
            </a:pPr>
            <a:r>
              <a:rPr lang="en-US" sz="1150" dirty="0">
                <a:solidFill>
                  <a:srgbClr val="353A45"/>
                </a:solidFill>
                <a:latin typeface="Calibri" pitchFamily="34" charset="0"/>
                <a:ea typeface="Calibri" pitchFamily="34" charset="-122"/>
                <a:cs typeface="Calibri" pitchFamily="34" charset="-120"/>
              </a:rPr>
              <a:t>Space around &amp; inside</a:t>
            </a:r>
            <a:endParaRPr lang="en-US" sz="1150" dirty="0"/>
          </a:p>
        </p:txBody>
      </p:sp>
      <p:sp>
        <p:nvSpPr>
          <p:cNvPr id="29" name="Shape 22"/>
          <p:cNvSpPr/>
          <p:nvPr/>
        </p:nvSpPr>
        <p:spPr>
          <a:xfrm>
            <a:off x="6044184" y="2898648"/>
            <a:ext cx="2587752" cy="1060704"/>
          </a:xfrm>
          <a:prstGeom prst="roundRect">
            <a:avLst>
              <a:gd name="adj" fmla="val 7759"/>
            </a:avLst>
          </a:prstGeom>
          <a:solidFill>
            <a:srgbClr val="F4F4F2"/>
          </a:solidFill>
          <a:ln/>
        </p:spPr>
        <p:txBody>
          <a:bodyPr/>
          <a:lstStyle/>
          <a:p>
            <a:endParaRPr lang="en-US"/>
          </a:p>
        </p:txBody>
      </p:sp>
      <p:sp>
        <p:nvSpPr>
          <p:cNvPr id="30" name="Shape 23"/>
          <p:cNvSpPr/>
          <p:nvPr/>
        </p:nvSpPr>
        <p:spPr>
          <a:xfrm>
            <a:off x="6245352" y="3191256"/>
            <a:ext cx="475488" cy="475488"/>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31" name="Image 5" descr="preencoded.png"/>
          <p:cNvPicPr>
            <a:picLocks noChangeAspect="1"/>
          </p:cNvPicPr>
          <p:nvPr/>
        </p:nvPicPr>
        <p:blipFill>
          <a:blip r:embed="rId8"/>
          <a:stretch>
            <a:fillRect/>
          </a:stretch>
        </p:blipFill>
        <p:spPr>
          <a:xfrm>
            <a:off x="6368979" y="3314883"/>
            <a:ext cx="228234" cy="228234"/>
          </a:xfrm>
          <a:prstGeom prst="rect">
            <a:avLst/>
          </a:prstGeom>
        </p:spPr>
      </p:pic>
      <p:sp>
        <p:nvSpPr>
          <p:cNvPr id="32" name="Text 24"/>
          <p:cNvSpPr/>
          <p:nvPr/>
        </p:nvSpPr>
        <p:spPr>
          <a:xfrm>
            <a:off x="6830568" y="3099816"/>
            <a:ext cx="1673352" cy="365760"/>
          </a:xfrm>
          <a:prstGeom prst="rect">
            <a:avLst/>
          </a:prstGeom>
          <a:noFill/>
          <a:ln/>
        </p:spPr>
        <p:txBody>
          <a:bodyPr wrap="square" lIns="0" tIns="0" rIns="0" bIns="0" rtlCol="0" anchor="ctr"/>
          <a:lstStyle/>
          <a:p>
            <a:pPr marL="0" indent="0">
              <a:buNone/>
            </a:pPr>
            <a:r>
              <a:rPr lang="en-US" sz="1350" b="1" dirty="0">
                <a:solidFill>
                  <a:srgbClr val="16181D"/>
                </a:solidFill>
                <a:latin typeface="Courier New" pitchFamily="34" charset="0"/>
                <a:ea typeface="Courier New" pitchFamily="34" charset="-122"/>
                <a:cs typeface="Courier New" pitchFamily="34" charset="-120"/>
              </a:rPr>
              <a:t>border</a:t>
            </a:r>
            <a:endParaRPr lang="en-US" sz="1350" dirty="0"/>
          </a:p>
        </p:txBody>
      </p:sp>
      <p:sp>
        <p:nvSpPr>
          <p:cNvPr id="33" name="Text 25"/>
          <p:cNvSpPr/>
          <p:nvPr/>
        </p:nvSpPr>
        <p:spPr>
          <a:xfrm>
            <a:off x="6830568" y="3483864"/>
            <a:ext cx="1673352" cy="365760"/>
          </a:xfrm>
          <a:prstGeom prst="rect">
            <a:avLst/>
          </a:prstGeom>
          <a:noFill/>
          <a:ln/>
        </p:spPr>
        <p:txBody>
          <a:bodyPr wrap="square" lIns="0" tIns="0" rIns="0" bIns="0" rtlCol="0" anchor="ctr"/>
          <a:lstStyle/>
          <a:p>
            <a:pPr marL="0" indent="0">
              <a:buNone/>
            </a:pPr>
            <a:r>
              <a:rPr lang="en-US" sz="1150" dirty="0">
                <a:solidFill>
                  <a:srgbClr val="353A45"/>
                </a:solidFill>
                <a:latin typeface="Calibri" pitchFamily="34" charset="0"/>
                <a:ea typeface="Calibri" pitchFamily="34" charset="-122"/>
                <a:cs typeface="Calibri" pitchFamily="34" charset="-120"/>
              </a:rPr>
              <a:t>A line around a box</a:t>
            </a:r>
            <a:endParaRPr lang="en-US" sz="1150" dirty="0"/>
          </a:p>
        </p:txBody>
      </p:sp>
      <p:sp>
        <p:nvSpPr>
          <p:cNvPr id="34" name="Text 26"/>
          <p:cNvSpPr/>
          <p:nvPr/>
        </p:nvSpPr>
        <p:spPr>
          <a:xfrm>
            <a:off x="502920" y="4526280"/>
            <a:ext cx="8138160" cy="365760"/>
          </a:xfrm>
          <a:prstGeom prst="rect">
            <a:avLst/>
          </a:prstGeom>
          <a:noFill/>
          <a:ln/>
        </p:spPr>
        <p:txBody>
          <a:bodyPr wrap="square" lIns="0" tIns="0" rIns="0" bIns="0"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Colors can be names (white, navy) or hex codes (#16181D). You'll use both in the next workshop.</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WIRING THE TWO FILES TOGETHER</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Connect your CSS to your page</a:t>
            </a:r>
            <a:endParaRPr lang="en-US" sz="3300" dirty="0"/>
          </a:p>
        </p:txBody>
      </p:sp>
      <p:sp>
        <p:nvSpPr>
          <p:cNvPr id="4" name="Shape 2"/>
          <p:cNvSpPr/>
          <p:nvPr/>
        </p:nvSpPr>
        <p:spPr>
          <a:xfrm>
            <a:off x="502920" y="1664208"/>
            <a:ext cx="3977640" cy="1060704"/>
          </a:xfrm>
          <a:prstGeom prst="roundRect">
            <a:avLst>
              <a:gd name="adj" fmla="val 7759"/>
            </a:avLst>
          </a:prstGeom>
          <a:solidFill>
            <a:srgbClr val="F4F4F2"/>
          </a:solidFill>
          <a:ln/>
        </p:spPr>
        <p:txBody>
          <a:bodyPr/>
          <a:lstStyle/>
          <a:p>
            <a:endParaRPr lang="en-US"/>
          </a:p>
        </p:txBody>
      </p:sp>
      <p:sp>
        <p:nvSpPr>
          <p:cNvPr id="5" name="Shape 3"/>
          <p:cNvSpPr/>
          <p:nvPr/>
        </p:nvSpPr>
        <p:spPr>
          <a:xfrm>
            <a:off x="704088" y="1938528"/>
            <a:ext cx="512064" cy="51206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37225" y="2071665"/>
            <a:ext cx="245791" cy="245791"/>
          </a:xfrm>
          <a:prstGeom prst="rect">
            <a:avLst/>
          </a:prstGeom>
        </p:spPr>
      </p:pic>
      <p:sp>
        <p:nvSpPr>
          <p:cNvPr id="7" name="Text 4"/>
          <p:cNvSpPr/>
          <p:nvPr/>
        </p:nvSpPr>
        <p:spPr>
          <a:xfrm>
            <a:off x="1344168" y="1847088"/>
            <a:ext cx="2971800" cy="320040"/>
          </a:xfrm>
          <a:prstGeom prst="rect">
            <a:avLst/>
          </a:prstGeom>
          <a:noFill/>
          <a:ln/>
        </p:spPr>
        <p:txBody>
          <a:bodyPr wrap="square" lIns="0" tIns="0" rIns="0" bIns="0" rtlCol="0" anchor="ctr"/>
          <a:lstStyle/>
          <a:p>
            <a:pPr marL="0" indent="0">
              <a:buNone/>
            </a:pPr>
            <a:r>
              <a:rPr lang="en-US" sz="1450" b="1" dirty="0">
                <a:solidFill>
                  <a:srgbClr val="16181D"/>
                </a:solidFill>
                <a:latin typeface="Bookman Old Style" pitchFamily="34" charset="0"/>
                <a:ea typeface="Bookman Old Style" pitchFamily="34" charset="-122"/>
                <a:cs typeface="Bookman Old Style" pitchFamily="34" charset="-120"/>
              </a:rPr>
              <a:t>1.  Make style.css</a:t>
            </a:r>
            <a:endParaRPr lang="en-US" sz="1450" dirty="0"/>
          </a:p>
        </p:txBody>
      </p:sp>
      <p:sp>
        <p:nvSpPr>
          <p:cNvPr id="8" name="Text 5"/>
          <p:cNvSpPr/>
          <p:nvPr/>
        </p:nvSpPr>
        <p:spPr>
          <a:xfrm>
            <a:off x="1344168" y="2176272"/>
            <a:ext cx="2971800" cy="457200"/>
          </a:xfrm>
          <a:prstGeom prst="rect">
            <a:avLst/>
          </a:prstGeom>
          <a:noFill/>
          <a:ln/>
        </p:spPr>
        <p:txBody>
          <a:bodyPr wrap="square" lIns="0" tIns="0" rIns="0" bIns="0" rtlCol="0" anchor="ctr"/>
          <a:lstStyle/>
          <a:p>
            <a:pPr marL="0" indent="0">
              <a:lnSpc>
                <a:spcPct val="98000"/>
              </a:lnSpc>
              <a:buNone/>
            </a:pPr>
            <a:r>
              <a:rPr lang="en-US" sz="1100" dirty="0">
                <a:solidFill>
                  <a:srgbClr val="353A45"/>
                </a:solidFill>
                <a:latin typeface="Calibri" pitchFamily="34" charset="0"/>
                <a:ea typeface="Calibri" pitchFamily="34" charset="-122"/>
                <a:cs typeface="Calibri" pitchFamily="34" charset="-120"/>
              </a:rPr>
              <a:t>In the same newsroom folder, create a file called style.css.</a:t>
            </a:r>
            <a:endParaRPr lang="en-US" sz="1100" dirty="0"/>
          </a:p>
        </p:txBody>
      </p:sp>
      <p:sp>
        <p:nvSpPr>
          <p:cNvPr id="9" name="Shape 6"/>
          <p:cNvSpPr/>
          <p:nvPr/>
        </p:nvSpPr>
        <p:spPr>
          <a:xfrm>
            <a:off x="4663440" y="1664208"/>
            <a:ext cx="3977640" cy="1060704"/>
          </a:xfrm>
          <a:prstGeom prst="roundRect">
            <a:avLst>
              <a:gd name="adj" fmla="val 7759"/>
            </a:avLst>
          </a:prstGeom>
          <a:solidFill>
            <a:srgbClr val="F4F4F2"/>
          </a:solidFill>
          <a:ln/>
        </p:spPr>
        <p:txBody>
          <a:bodyPr/>
          <a:lstStyle/>
          <a:p>
            <a:endParaRPr lang="en-US"/>
          </a:p>
        </p:txBody>
      </p:sp>
      <p:sp>
        <p:nvSpPr>
          <p:cNvPr id="10" name="Shape 7"/>
          <p:cNvSpPr/>
          <p:nvPr/>
        </p:nvSpPr>
        <p:spPr>
          <a:xfrm>
            <a:off x="4864608" y="1938528"/>
            <a:ext cx="512064" cy="51206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4997745" y="2071665"/>
            <a:ext cx="245791" cy="245791"/>
          </a:xfrm>
          <a:prstGeom prst="rect">
            <a:avLst/>
          </a:prstGeom>
        </p:spPr>
      </p:pic>
      <p:sp>
        <p:nvSpPr>
          <p:cNvPr id="12" name="Text 8"/>
          <p:cNvSpPr/>
          <p:nvPr/>
        </p:nvSpPr>
        <p:spPr>
          <a:xfrm>
            <a:off x="5504688" y="1847088"/>
            <a:ext cx="2971800" cy="320040"/>
          </a:xfrm>
          <a:prstGeom prst="rect">
            <a:avLst/>
          </a:prstGeom>
          <a:noFill/>
          <a:ln/>
        </p:spPr>
        <p:txBody>
          <a:bodyPr wrap="square" lIns="0" tIns="0" rIns="0" bIns="0" rtlCol="0" anchor="ctr"/>
          <a:lstStyle/>
          <a:p>
            <a:pPr marL="0" indent="0">
              <a:buNone/>
            </a:pPr>
            <a:r>
              <a:rPr lang="en-US" sz="1450" b="1" dirty="0">
                <a:solidFill>
                  <a:srgbClr val="16181D"/>
                </a:solidFill>
                <a:latin typeface="Bookman Old Style" pitchFamily="34" charset="0"/>
                <a:ea typeface="Bookman Old Style" pitchFamily="34" charset="-122"/>
                <a:cs typeface="Bookman Old Style" pitchFamily="34" charset="-120"/>
              </a:rPr>
              <a:t>2.  Link it in your HTML</a:t>
            </a:r>
            <a:endParaRPr lang="en-US" sz="1450" dirty="0"/>
          </a:p>
        </p:txBody>
      </p:sp>
      <p:sp>
        <p:nvSpPr>
          <p:cNvPr id="13" name="Text 9"/>
          <p:cNvSpPr/>
          <p:nvPr/>
        </p:nvSpPr>
        <p:spPr>
          <a:xfrm>
            <a:off x="5504688" y="2176272"/>
            <a:ext cx="2971800" cy="457200"/>
          </a:xfrm>
          <a:prstGeom prst="rect">
            <a:avLst/>
          </a:prstGeom>
          <a:noFill/>
          <a:ln/>
        </p:spPr>
        <p:txBody>
          <a:bodyPr wrap="square" lIns="0" tIns="0" rIns="0" bIns="0" rtlCol="0" anchor="ctr"/>
          <a:lstStyle/>
          <a:p>
            <a:pPr marL="0" indent="0">
              <a:lnSpc>
                <a:spcPct val="98000"/>
              </a:lnSpc>
              <a:buNone/>
            </a:pPr>
            <a:r>
              <a:rPr lang="en-US" sz="1100" dirty="0">
                <a:solidFill>
                  <a:srgbClr val="353A45"/>
                </a:solidFill>
                <a:latin typeface="Calibri" pitchFamily="34" charset="0"/>
                <a:ea typeface="Calibri" pitchFamily="34" charset="-122"/>
                <a:cs typeface="Calibri" pitchFamily="34" charset="-120"/>
              </a:rPr>
              <a:t>Add one line inside your page so it knows to load the styles.</a:t>
            </a:r>
            <a:endParaRPr lang="en-US" sz="1100" dirty="0"/>
          </a:p>
        </p:txBody>
      </p:sp>
      <p:sp>
        <p:nvSpPr>
          <p:cNvPr id="14" name="Shape 10"/>
          <p:cNvSpPr/>
          <p:nvPr/>
        </p:nvSpPr>
        <p:spPr>
          <a:xfrm>
            <a:off x="502920" y="2852928"/>
            <a:ext cx="3977640" cy="1060704"/>
          </a:xfrm>
          <a:prstGeom prst="roundRect">
            <a:avLst>
              <a:gd name="adj" fmla="val 7759"/>
            </a:avLst>
          </a:prstGeom>
          <a:solidFill>
            <a:srgbClr val="F4F4F2"/>
          </a:solidFill>
          <a:ln/>
        </p:spPr>
        <p:txBody>
          <a:bodyPr/>
          <a:lstStyle/>
          <a:p>
            <a:endParaRPr lang="en-US"/>
          </a:p>
        </p:txBody>
      </p:sp>
      <p:sp>
        <p:nvSpPr>
          <p:cNvPr id="15" name="Shape 11"/>
          <p:cNvSpPr/>
          <p:nvPr/>
        </p:nvSpPr>
        <p:spPr>
          <a:xfrm>
            <a:off x="704088" y="3127248"/>
            <a:ext cx="512064" cy="51206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837225" y="3260385"/>
            <a:ext cx="245791" cy="245791"/>
          </a:xfrm>
          <a:prstGeom prst="rect">
            <a:avLst/>
          </a:prstGeom>
        </p:spPr>
      </p:pic>
      <p:sp>
        <p:nvSpPr>
          <p:cNvPr id="17" name="Text 12"/>
          <p:cNvSpPr/>
          <p:nvPr/>
        </p:nvSpPr>
        <p:spPr>
          <a:xfrm>
            <a:off x="1344168" y="3035808"/>
            <a:ext cx="2971800" cy="320040"/>
          </a:xfrm>
          <a:prstGeom prst="rect">
            <a:avLst/>
          </a:prstGeom>
          <a:noFill/>
          <a:ln/>
        </p:spPr>
        <p:txBody>
          <a:bodyPr wrap="square" lIns="0" tIns="0" rIns="0" bIns="0" rtlCol="0" anchor="ctr"/>
          <a:lstStyle/>
          <a:p>
            <a:pPr marL="0" indent="0">
              <a:buNone/>
            </a:pPr>
            <a:r>
              <a:rPr lang="en-US" sz="1450" b="1" dirty="0">
                <a:solidFill>
                  <a:srgbClr val="16181D"/>
                </a:solidFill>
                <a:latin typeface="Bookman Old Style" pitchFamily="34" charset="0"/>
                <a:ea typeface="Bookman Old Style" pitchFamily="34" charset="-122"/>
                <a:cs typeface="Bookman Old Style" pitchFamily="34" charset="-120"/>
              </a:rPr>
              <a:t>3.  Write a rule</a:t>
            </a:r>
            <a:endParaRPr lang="en-US" sz="1450" dirty="0"/>
          </a:p>
        </p:txBody>
      </p:sp>
      <p:sp>
        <p:nvSpPr>
          <p:cNvPr id="18" name="Text 13"/>
          <p:cNvSpPr/>
          <p:nvPr/>
        </p:nvSpPr>
        <p:spPr>
          <a:xfrm>
            <a:off x="1344168" y="3364992"/>
            <a:ext cx="2971800" cy="457200"/>
          </a:xfrm>
          <a:prstGeom prst="rect">
            <a:avLst/>
          </a:prstGeom>
          <a:noFill/>
          <a:ln/>
        </p:spPr>
        <p:txBody>
          <a:bodyPr wrap="square" lIns="0" tIns="0" rIns="0" bIns="0" rtlCol="0" anchor="ctr"/>
          <a:lstStyle/>
          <a:p>
            <a:pPr marL="0" indent="0">
              <a:lnSpc>
                <a:spcPct val="98000"/>
              </a:lnSpc>
              <a:buNone/>
            </a:pPr>
            <a:r>
              <a:rPr lang="en-US" sz="1100" dirty="0">
                <a:solidFill>
                  <a:srgbClr val="353A45"/>
                </a:solidFill>
                <a:latin typeface="Calibri" pitchFamily="34" charset="0"/>
                <a:ea typeface="Calibri" pitchFamily="34" charset="-122"/>
                <a:cs typeface="Calibri" pitchFamily="34" charset="-120"/>
              </a:rPr>
              <a:t>Add body { background-color: #2B2E37; } and save both files.</a:t>
            </a:r>
            <a:endParaRPr lang="en-US" sz="1100" dirty="0"/>
          </a:p>
        </p:txBody>
      </p:sp>
      <p:sp>
        <p:nvSpPr>
          <p:cNvPr id="19" name="Shape 14"/>
          <p:cNvSpPr/>
          <p:nvPr/>
        </p:nvSpPr>
        <p:spPr>
          <a:xfrm>
            <a:off x="4663440" y="2852928"/>
            <a:ext cx="3977640" cy="1060704"/>
          </a:xfrm>
          <a:prstGeom prst="roundRect">
            <a:avLst>
              <a:gd name="adj" fmla="val 7759"/>
            </a:avLst>
          </a:prstGeom>
          <a:solidFill>
            <a:srgbClr val="F4F4F2"/>
          </a:solidFill>
          <a:ln/>
        </p:spPr>
        <p:txBody>
          <a:bodyPr/>
          <a:lstStyle/>
          <a:p>
            <a:endParaRPr lang="en-US"/>
          </a:p>
        </p:txBody>
      </p:sp>
      <p:sp>
        <p:nvSpPr>
          <p:cNvPr id="20" name="Shape 15"/>
          <p:cNvSpPr/>
          <p:nvPr/>
        </p:nvSpPr>
        <p:spPr>
          <a:xfrm>
            <a:off x="4864608" y="3127248"/>
            <a:ext cx="512064" cy="51206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21" name="Image 3" descr="preencoded.png"/>
          <p:cNvPicPr>
            <a:picLocks noChangeAspect="1"/>
          </p:cNvPicPr>
          <p:nvPr/>
        </p:nvPicPr>
        <p:blipFill>
          <a:blip r:embed="rId6"/>
          <a:stretch>
            <a:fillRect/>
          </a:stretch>
        </p:blipFill>
        <p:spPr>
          <a:xfrm>
            <a:off x="4997745" y="3260385"/>
            <a:ext cx="245791" cy="245791"/>
          </a:xfrm>
          <a:prstGeom prst="rect">
            <a:avLst/>
          </a:prstGeom>
        </p:spPr>
      </p:pic>
      <p:sp>
        <p:nvSpPr>
          <p:cNvPr id="22" name="Text 16"/>
          <p:cNvSpPr/>
          <p:nvPr/>
        </p:nvSpPr>
        <p:spPr>
          <a:xfrm>
            <a:off x="5504688" y="3035808"/>
            <a:ext cx="2971800" cy="320040"/>
          </a:xfrm>
          <a:prstGeom prst="rect">
            <a:avLst/>
          </a:prstGeom>
          <a:noFill/>
          <a:ln/>
        </p:spPr>
        <p:txBody>
          <a:bodyPr wrap="square" lIns="0" tIns="0" rIns="0" bIns="0" rtlCol="0" anchor="ctr"/>
          <a:lstStyle/>
          <a:p>
            <a:pPr marL="0" indent="0">
              <a:buNone/>
            </a:pPr>
            <a:r>
              <a:rPr lang="en-US" sz="1450" b="1" dirty="0">
                <a:solidFill>
                  <a:srgbClr val="16181D"/>
                </a:solidFill>
                <a:latin typeface="Bookman Old Style" pitchFamily="34" charset="0"/>
                <a:ea typeface="Bookman Old Style" pitchFamily="34" charset="-122"/>
                <a:cs typeface="Bookman Old Style" pitchFamily="34" charset="-120"/>
              </a:rPr>
              <a:t>4.  Refresh &amp; see it</a:t>
            </a:r>
            <a:endParaRPr lang="en-US" sz="1450" dirty="0"/>
          </a:p>
        </p:txBody>
      </p:sp>
      <p:sp>
        <p:nvSpPr>
          <p:cNvPr id="23" name="Text 17"/>
          <p:cNvSpPr/>
          <p:nvPr/>
        </p:nvSpPr>
        <p:spPr>
          <a:xfrm>
            <a:off x="5504688" y="3364992"/>
            <a:ext cx="2971800" cy="457200"/>
          </a:xfrm>
          <a:prstGeom prst="rect">
            <a:avLst/>
          </a:prstGeom>
          <a:noFill/>
          <a:ln/>
        </p:spPr>
        <p:txBody>
          <a:bodyPr wrap="square" lIns="0" tIns="0" rIns="0" bIns="0" rtlCol="0" anchor="ctr"/>
          <a:lstStyle/>
          <a:p>
            <a:pPr marL="0" indent="0">
              <a:lnSpc>
                <a:spcPct val="98000"/>
              </a:lnSpc>
              <a:buNone/>
            </a:pPr>
            <a:r>
              <a:rPr lang="en-US" sz="1100" dirty="0">
                <a:solidFill>
                  <a:srgbClr val="353A45"/>
                </a:solidFill>
                <a:latin typeface="Calibri" pitchFamily="34" charset="0"/>
                <a:ea typeface="Calibri" pitchFamily="34" charset="-122"/>
                <a:cs typeface="Calibri" pitchFamily="34" charset="-120"/>
              </a:rPr>
              <a:t>Reload Chrome — your background changes. You're styling now.</a:t>
            </a:r>
            <a:endParaRPr lang="en-US" sz="1100" dirty="0"/>
          </a:p>
        </p:txBody>
      </p:sp>
      <p:sp>
        <p:nvSpPr>
          <p:cNvPr id="24" name="Shape 18"/>
          <p:cNvSpPr/>
          <p:nvPr/>
        </p:nvSpPr>
        <p:spPr>
          <a:xfrm>
            <a:off x="502920" y="4160520"/>
            <a:ext cx="8138160" cy="658368"/>
          </a:xfrm>
          <a:prstGeom prst="roundRect">
            <a:avLst>
              <a:gd name="adj" fmla="val 9722"/>
            </a:avLst>
          </a:prstGeom>
          <a:solidFill>
            <a:srgbClr val="1B1E26"/>
          </a:solidFill>
          <a:ln/>
        </p:spPr>
        <p:txBody>
          <a:bodyPr/>
          <a:lstStyle/>
          <a:p>
            <a:endParaRPr lang="en-US"/>
          </a:p>
        </p:txBody>
      </p:sp>
      <p:sp>
        <p:nvSpPr>
          <p:cNvPr id="25" name="Text 19"/>
          <p:cNvSpPr/>
          <p:nvPr/>
        </p:nvSpPr>
        <p:spPr>
          <a:xfrm>
            <a:off x="777240" y="4160520"/>
            <a:ext cx="7589520" cy="658368"/>
          </a:xfrm>
          <a:prstGeom prst="rect">
            <a:avLst/>
          </a:prstGeom>
          <a:noFill/>
          <a:ln/>
        </p:spPr>
        <p:txBody>
          <a:bodyPr wrap="square" lIns="0" tIns="0" rIns="0" bIns="0" rtlCol="0" anchor="ctr"/>
          <a:lstStyle/>
          <a:p>
            <a:pPr marL="0" indent="0">
              <a:buNone/>
            </a:pPr>
            <a:r>
              <a:rPr lang="en-US" sz="1300" dirty="0">
                <a:solidFill>
                  <a:srgbClr val="AAB0BB"/>
                </a:solidFill>
                <a:latin typeface="Calibri" pitchFamily="34" charset="0"/>
                <a:ea typeface="Calibri" pitchFamily="34" charset="-122"/>
                <a:cs typeface="Calibri" pitchFamily="34" charset="-120"/>
              </a:rPr>
              <a:t>The link line:   </a:t>
            </a:r>
            <a:r>
              <a:rPr lang="en-US" sz="1300" dirty="0">
                <a:solidFill>
                  <a:srgbClr val="8FD19E"/>
                </a:solidFill>
                <a:latin typeface="Courier New" pitchFamily="34" charset="0"/>
                <a:ea typeface="Courier New" pitchFamily="34" charset="-122"/>
                <a:cs typeface="Courier New" pitchFamily="34" charset="-120"/>
              </a:rPr>
              <a:t>&lt;link rel="stylesheet" href="style.css"&gt;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92608"/>
          </a:xfrm>
          <a:prstGeom prst="rect">
            <a:avLst/>
          </a:prstGeom>
          <a:noFill/>
          <a:ln/>
        </p:spPr>
        <p:txBody>
          <a:bodyPr wrap="square" lIns="0" tIns="0" rIns="0" bIns="0" rtlCol="0" anchor="ctr"/>
          <a:lstStyle/>
          <a:p>
            <a:pPr marL="0" indent="0">
              <a:buNone/>
            </a:pPr>
            <a:r>
              <a:rPr lang="en-US" sz="1300" b="1" kern="0" spc="400" dirty="0">
                <a:solidFill>
                  <a:srgbClr val="E0A020"/>
                </a:solidFill>
                <a:latin typeface="Calibri" pitchFamily="34" charset="0"/>
                <a:ea typeface="Calibri" pitchFamily="34" charset="-122"/>
                <a:cs typeface="Calibri" pitchFamily="34" charset="-120"/>
              </a:rPr>
              <a:t>WORKSHOP 2   ·   Style  ·  55 min</a:t>
            </a:r>
            <a:endParaRPr lang="en-US" sz="1300" dirty="0"/>
          </a:p>
        </p:txBody>
      </p:sp>
      <p:sp>
        <p:nvSpPr>
          <p:cNvPr id="3" name="Text 1"/>
          <p:cNvSpPr/>
          <p:nvPr/>
        </p:nvSpPr>
        <p:spPr>
          <a:xfrm>
            <a:off x="502920" y="786384"/>
            <a:ext cx="6126480" cy="777240"/>
          </a:xfrm>
          <a:prstGeom prst="rect">
            <a:avLst/>
          </a:prstGeom>
          <a:noFill/>
          <a:ln/>
        </p:spPr>
        <p:txBody>
          <a:bodyPr wrap="square" lIns="0" tIns="0" rIns="0" bIns="0" rtlCol="0" anchor="ctr"/>
          <a:lstStyle/>
          <a:p>
            <a:pPr marL="0" indent="0">
              <a:lnSpc>
                <a:spcPct val="98000"/>
              </a:lnSpc>
              <a:buNone/>
            </a:pPr>
            <a:r>
              <a:rPr lang="en-US" sz="3000" b="1" dirty="0">
                <a:solidFill>
                  <a:srgbClr val="FFFFFF"/>
                </a:solidFill>
                <a:latin typeface="Bookman Old Style" pitchFamily="34" charset="0"/>
                <a:ea typeface="Bookman Old Style" pitchFamily="34" charset="-122"/>
                <a:cs typeface="Bookman Old Style" pitchFamily="34" charset="-120"/>
              </a:rPr>
              <a:t>Style your page</a:t>
            </a:r>
            <a:endParaRPr lang="en-US" sz="3000" dirty="0"/>
          </a:p>
        </p:txBody>
      </p:sp>
      <p:sp>
        <p:nvSpPr>
          <p:cNvPr id="4" name="Shape 2"/>
          <p:cNvSpPr/>
          <p:nvPr/>
        </p:nvSpPr>
        <p:spPr>
          <a:xfrm>
            <a:off x="6720840" y="548640"/>
            <a:ext cx="1920240" cy="457200"/>
          </a:xfrm>
          <a:prstGeom prst="roundRect">
            <a:avLst>
              <a:gd name="adj" fmla="val 50000"/>
            </a:avLst>
          </a:prstGeom>
          <a:solidFill>
            <a:srgbClr val="23262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6858000" y="658368"/>
            <a:ext cx="237744" cy="237744"/>
          </a:xfrm>
          <a:prstGeom prst="rect">
            <a:avLst/>
          </a:prstGeom>
        </p:spPr>
      </p:pic>
      <p:sp>
        <p:nvSpPr>
          <p:cNvPr id="6" name="Text 3"/>
          <p:cNvSpPr/>
          <p:nvPr/>
        </p:nvSpPr>
        <p:spPr>
          <a:xfrm>
            <a:off x="7150608" y="548640"/>
            <a:ext cx="14173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With your neighbor</a:t>
            </a:r>
            <a:endParaRPr lang="en-US" sz="1050" dirty="0"/>
          </a:p>
        </p:txBody>
      </p:sp>
      <p:sp>
        <p:nvSpPr>
          <p:cNvPr id="7" name="Shape 4"/>
          <p:cNvSpPr/>
          <p:nvPr/>
        </p:nvSpPr>
        <p:spPr>
          <a:xfrm>
            <a:off x="6720840" y="1078992"/>
            <a:ext cx="1920240" cy="384048"/>
          </a:xfrm>
          <a:prstGeom prst="roundRect">
            <a:avLst>
              <a:gd name="adj" fmla="val 50000"/>
            </a:avLst>
          </a:prstGeom>
          <a:solidFill>
            <a:srgbClr val="E0A020"/>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6858000" y="1161288"/>
            <a:ext cx="219456" cy="219456"/>
          </a:xfrm>
          <a:prstGeom prst="rect">
            <a:avLst/>
          </a:prstGeom>
        </p:spPr>
      </p:pic>
      <p:sp>
        <p:nvSpPr>
          <p:cNvPr id="9" name="Text 5"/>
          <p:cNvSpPr/>
          <p:nvPr/>
        </p:nvSpPr>
        <p:spPr>
          <a:xfrm>
            <a:off x="7132320" y="1078992"/>
            <a:ext cx="1463040" cy="384048"/>
          </a:xfrm>
          <a:prstGeom prst="rect">
            <a:avLst/>
          </a:prstGeom>
          <a:noFill/>
          <a:ln/>
        </p:spPr>
        <p:txBody>
          <a:bodyPr wrap="square" lIns="0" tIns="0" rIns="0" bIns="0" rtlCol="0" anchor="ctr"/>
          <a:lstStyle/>
          <a:p>
            <a:pPr marL="0" indent="0">
              <a:buNone/>
            </a:pPr>
            <a:r>
              <a:rPr lang="en-US" sz="1100" b="1" dirty="0">
                <a:solidFill>
                  <a:srgbClr val="16181D"/>
                </a:solidFill>
                <a:latin typeface="Calibri" pitchFamily="34" charset="0"/>
                <a:ea typeface="Calibri" pitchFamily="34" charset="-122"/>
                <a:cs typeface="Calibri" pitchFamily="34" charset="-120"/>
              </a:rPr>
              <a:t>55 min</a:t>
            </a:r>
            <a:endParaRPr lang="en-US" sz="1100" dirty="0"/>
          </a:p>
        </p:txBody>
      </p:sp>
      <p:sp>
        <p:nvSpPr>
          <p:cNvPr id="10" name="Text 6"/>
          <p:cNvSpPr/>
          <p:nvPr/>
        </p:nvSpPr>
        <p:spPr>
          <a:xfrm>
            <a:off x="502920" y="1664208"/>
            <a:ext cx="8138160" cy="502920"/>
          </a:xfrm>
          <a:prstGeom prst="rect">
            <a:avLst/>
          </a:prstGeom>
          <a:noFill/>
          <a:ln/>
        </p:spPr>
        <p:txBody>
          <a:bodyPr wrap="square" lIns="0" tIns="0" rIns="0" bIns="0" rtlCol="0" anchor="ctr"/>
          <a:lstStyle/>
          <a:p>
            <a:pPr marL="0" indent="0">
              <a:lnSpc>
                <a:spcPct val="100000"/>
              </a:lnSpc>
              <a:buNone/>
            </a:pPr>
            <a:r>
              <a:rPr lang="en-US" sz="1450" b="1" dirty="0">
                <a:solidFill>
                  <a:srgbClr val="E0A020"/>
                </a:solidFill>
                <a:latin typeface="Calibri" pitchFamily="34" charset="0"/>
                <a:ea typeface="Calibri" pitchFamily="34" charset="-122"/>
                <a:cs typeface="Calibri" pitchFamily="34" charset="-120"/>
              </a:rPr>
              <a:t>Your task:  </a:t>
            </a:r>
            <a:r>
              <a:rPr lang="en-US" sz="1450" i="1" dirty="0">
                <a:solidFill>
                  <a:srgbClr val="E9EAEC"/>
                </a:solidFill>
                <a:latin typeface="Calibri" pitchFamily="34" charset="0"/>
                <a:ea typeface="Calibri" pitchFamily="34" charset="-122"/>
                <a:cs typeface="Calibri" pitchFamily="34" charset="-120"/>
              </a:rPr>
              <a:t>Take the plain page you built this morning and make it look like a newsroom made it.</a:t>
            </a:r>
            <a:endParaRPr lang="en-US" sz="1450" dirty="0"/>
          </a:p>
        </p:txBody>
      </p:sp>
      <p:sp>
        <p:nvSpPr>
          <p:cNvPr id="11" name="Shape 7"/>
          <p:cNvSpPr/>
          <p:nvPr/>
        </p:nvSpPr>
        <p:spPr>
          <a:xfrm>
            <a:off x="502920" y="2286000"/>
            <a:ext cx="8138160" cy="1965960"/>
          </a:xfrm>
          <a:prstGeom prst="roundRect">
            <a:avLst>
              <a:gd name="adj" fmla="val 3721"/>
            </a:avLst>
          </a:prstGeom>
          <a:solidFill>
            <a:srgbClr val="23262F"/>
          </a:solidFill>
          <a:ln/>
        </p:spPr>
        <p:txBody>
          <a:bodyPr/>
          <a:lstStyle/>
          <a:p>
            <a:endParaRPr lang="en-US"/>
          </a:p>
        </p:txBody>
      </p:sp>
      <p:sp>
        <p:nvSpPr>
          <p:cNvPr id="12" name="Text 8"/>
          <p:cNvSpPr/>
          <p:nvPr/>
        </p:nvSpPr>
        <p:spPr>
          <a:xfrm>
            <a:off x="777240" y="2432304"/>
            <a:ext cx="2743200" cy="256032"/>
          </a:xfrm>
          <a:prstGeom prst="rect">
            <a:avLst/>
          </a:prstGeom>
          <a:noFill/>
          <a:ln/>
        </p:spPr>
        <p:txBody>
          <a:bodyPr wrap="square" lIns="0" tIns="0" rIns="0" bIns="0" rtlCol="0" anchor="ctr"/>
          <a:lstStyle/>
          <a:p>
            <a:pPr marL="0" indent="0">
              <a:buNone/>
            </a:pPr>
            <a:r>
              <a:rPr lang="en-US" sz="1100" b="1" kern="0" spc="200" dirty="0">
                <a:solidFill>
                  <a:srgbClr val="E0A020"/>
                </a:solidFill>
                <a:latin typeface="Calibri" pitchFamily="34" charset="0"/>
                <a:ea typeface="Calibri" pitchFamily="34" charset="-122"/>
                <a:cs typeface="Calibri" pitchFamily="34" charset="-120"/>
              </a:rPr>
              <a:t>STEPS</a:t>
            </a:r>
            <a:endParaRPr lang="en-US" sz="1100" dirty="0"/>
          </a:p>
        </p:txBody>
      </p:sp>
      <p:sp>
        <p:nvSpPr>
          <p:cNvPr id="13" name="Text 9"/>
          <p:cNvSpPr/>
          <p:nvPr/>
        </p:nvSpPr>
        <p:spPr>
          <a:xfrm>
            <a:off x="777240" y="27614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1</a:t>
            </a:r>
            <a:endParaRPr lang="en-US" sz="1300" dirty="0"/>
          </a:p>
        </p:txBody>
      </p:sp>
      <p:sp>
        <p:nvSpPr>
          <p:cNvPr id="14" name="Text 10"/>
          <p:cNvSpPr/>
          <p:nvPr/>
        </p:nvSpPr>
        <p:spPr>
          <a:xfrm>
            <a:off x="1088136" y="27340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Create style.css and link it in practice.html.</a:t>
            </a:r>
            <a:endParaRPr lang="en-US" sz="1200" dirty="0"/>
          </a:p>
        </p:txBody>
      </p:sp>
      <p:sp>
        <p:nvSpPr>
          <p:cNvPr id="15" name="Text 11"/>
          <p:cNvSpPr/>
          <p:nvPr/>
        </p:nvSpPr>
        <p:spPr>
          <a:xfrm>
            <a:off x="777240" y="32186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2</a:t>
            </a:r>
            <a:endParaRPr lang="en-US" sz="1300" dirty="0"/>
          </a:p>
        </p:txBody>
      </p:sp>
      <p:sp>
        <p:nvSpPr>
          <p:cNvPr id="16" name="Text 12"/>
          <p:cNvSpPr/>
          <p:nvPr/>
        </p:nvSpPr>
        <p:spPr>
          <a:xfrm>
            <a:off x="1088136" y="31912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Style body: a background-color and a readable font.</a:t>
            </a:r>
            <a:endParaRPr lang="en-US" sz="1200" dirty="0"/>
          </a:p>
        </p:txBody>
      </p:sp>
      <p:sp>
        <p:nvSpPr>
          <p:cNvPr id="17" name="Text 13"/>
          <p:cNvSpPr/>
          <p:nvPr/>
        </p:nvSpPr>
        <p:spPr>
          <a:xfrm>
            <a:off x="777240" y="36758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3</a:t>
            </a:r>
            <a:endParaRPr lang="en-US" sz="1300" dirty="0"/>
          </a:p>
        </p:txBody>
      </p:sp>
      <p:sp>
        <p:nvSpPr>
          <p:cNvPr id="18" name="Text 14"/>
          <p:cNvSpPr/>
          <p:nvPr/>
        </p:nvSpPr>
        <p:spPr>
          <a:xfrm>
            <a:off x="1088136" y="36484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Style h1: a color, and text-align: center.</a:t>
            </a:r>
            <a:endParaRPr lang="en-US" sz="1200" dirty="0"/>
          </a:p>
        </p:txBody>
      </p:sp>
      <p:sp>
        <p:nvSpPr>
          <p:cNvPr id="19" name="Text 15"/>
          <p:cNvSpPr/>
          <p:nvPr/>
        </p:nvSpPr>
        <p:spPr>
          <a:xfrm>
            <a:off x="4754880" y="27614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4</a:t>
            </a:r>
            <a:endParaRPr lang="en-US" sz="1300" dirty="0"/>
          </a:p>
        </p:txBody>
      </p:sp>
      <p:sp>
        <p:nvSpPr>
          <p:cNvPr id="20" name="Text 16"/>
          <p:cNvSpPr/>
          <p:nvPr/>
        </p:nvSpPr>
        <p:spPr>
          <a:xfrm>
            <a:off x="5065776" y="27340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Style p: color and comfortable font-size.</a:t>
            </a:r>
            <a:endParaRPr lang="en-US" sz="1200" dirty="0"/>
          </a:p>
        </p:txBody>
      </p:sp>
      <p:sp>
        <p:nvSpPr>
          <p:cNvPr id="21" name="Text 17"/>
          <p:cNvSpPr/>
          <p:nvPr/>
        </p:nvSpPr>
        <p:spPr>
          <a:xfrm>
            <a:off x="4754880" y="32186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5</a:t>
            </a:r>
            <a:endParaRPr lang="en-US" sz="1300" dirty="0"/>
          </a:p>
        </p:txBody>
      </p:sp>
      <p:sp>
        <p:nvSpPr>
          <p:cNvPr id="22" name="Text 18"/>
          <p:cNvSpPr/>
          <p:nvPr/>
        </p:nvSpPr>
        <p:spPr>
          <a:xfrm>
            <a:off x="5065776" y="31912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Give your img a border and some margin.</a:t>
            </a:r>
            <a:endParaRPr lang="en-US" sz="1200" dirty="0"/>
          </a:p>
        </p:txBody>
      </p:sp>
      <p:sp>
        <p:nvSpPr>
          <p:cNvPr id="23" name="Text 19"/>
          <p:cNvSpPr/>
          <p:nvPr/>
        </p:nvSpPr>
        <p:spPr>
          <a:xfrm>
            <a:off x="4754880" y="36758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6</a:t>
            </a:r>
            <a:endParaRPr lang="en-US" sz="1300" dirty="0"/>
          </a:p>
        </p:txBody>
      </p:sp>
      <p:sp>
        <p:nvSpPr>
          <p:cNvPr id="24" name="Text 20"/>
          <p:cNvSpPr/>
          <p:nvPr/>
        </p:nvSpPr>
        <p:spPr>
          <a:xfrm>
            <a:off x="5065776" y="36484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Predict each change before you refresh to confirm.</a:t>
            </a:r>
            <a:endParaRPr lang="en-US" sz="1200" dirty="0"/>
          </a:p>
        </p:txBody>
      </p:sp>
      <p:sp>
        <p:nvSpPr>
          <p:cNvPr id="25" name="Shape 21"/>
          <p:cNvSpPr/>
          <p:nvPr/>
        </p:nvSpPr>
        <p:spPr>
          <a:xfrm>
            <a:off x="502920" y="4370832"/>
            <a:ext cx="8138160" cy="548640"/>
          </a:xfrm>
          <a:prstGeom prst="roundRect">
            <a:avLst>
              <a:gd name="adj" fmla="val 11667"/>
            </a:avLst>
          </a:prstGeom>
          <a:solidFill>
            <a:srgbClr val="FBF2DC"/>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722376" y="4507992"/>
            <a:ext cx="256032" cy="256032"/>
          </a:xfrm>
          <a:prstGeom prst="rect">
            <a:avLst/>
          </a:prstGeom>
        </p:spPr>
      </p:pic>
      <p:sp>
        <p:nvSpPr>
          <p:cNvPr id="27" name="Text 22"/>
          <p:cNvSpPr/>
          <p:nvPr/>
        </p:nvSpPr>
        <p:spPr>
          <a:xfrm>
            <a:off x="1069848" y="4370832"/>
            <a:ext cx="7406640" cy="548640"/>
          </a:xfrm>
          <a:prstGeom prst="rect">
            <a:avLst/>
          </a:prstGeom>
          <a:noFill/>
          <a:ln/>
        </p:spPr>
        <p:txBody>
          <a:bodyPr wrap="square" lIns="0" tIns="0" rIns="0" bIns="0" rtlCol="0" anchor="ctr"/>
          <a:lstStyle/>
          <a:p>
            <a:pPr marL="0" indent="0">
              <a:buNone/>
            </a:pPr>
            <a:r>
              <a:rPr lang="en-US" sz="1250" b="1" dirty="0">
                <a:solidFill>
                  <a:srgbClr val="AC7708"/>
                </a:solidFill>
                <a:latin typeface="Calibri" pitchFamily="34" charset="0"/>
                <a:ea typeface="Calibri" pitchFamily="34" charset="-122"/>
                <a:cs typeface="Calibri" pitchFamily="34" charset="-120"/>
              </a:rPr>
              <a:t>Stretch goal:  </a:t>
            </a:r>
            <a:r>
              <a:rPr lang="en-US" sz="1250" dirty="0">
                <a:solidFill>
                  <a:srgbClr val="353A45"/>
                </a:solidFill>
                <a:latin typeface="Calibri" pitchFamily="34" charset="0"/>
                <a:ea typeface="Calibri" pitchFamily="34" charset="-122"/>
                <a:cs typeface="Calibri" pitchFamily="34" charset="-120"/>
              </a:rPr>
              <a:t>Rebuild the classic quote card: a photo with a border, a big centered headline, and an attribution line beneath — like the Ida B. Wells example.</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92608"/>
            <a:ext cx="5486400" cy="274320"/>
          </a:xfrm>
          <a:prstGeom prst="rect">
            <a:avLst/>
          </a:prstGeom>
          <a:noFill/>
          <a:ln/>
        </p:spPr>
        <p:txBody>
          <a:bodyPr wrap="square" lIns="0" tIns="0" rIns="0" bIns="0" rtlCol="0" anchor="ctr"/>
          <a:lstStyle/>
          <a:p>
            <a:pPr marL="0" indent="0">
              <a:buNone/>
            </a:pPr>
            <a:r>
              <a:rPr lang="en-US" sz="1100" b="1" kern="0" spc="300" dirty="0">
                <a:solidFill>
                  <a:srgbClr val="B07A78"/>
                </a:solidFill>
                <a:latin typeface="Calibri" pitchFamily="34" charset="0"/>
                <a:ea typeface="Calibri" pitchFamily="34" charset="-122"/>
                <a:cs typeface="Calibri" pitchFamily="34" charset="-120"/>
              </a:rPr>
              <a:t> · CSS Styling</a:t>
            </a:r>
            <a:endParaRPr lang="en-US" sz="1100" dirty="0"/>
          </a:p>
        </p:txBody>
      </p:sp>
      <p:sp>
        <p:nvSpPr>
          <p:cNvPr id="3" name="Text 1"/>
          <p:cNvSpPr/>
          <p:nvPr/>
        </p:nvSpPr>
        <p:spPr>
          <a:xfrm>
            <a:off x="457200" y="566928"/>
            <a:ext cx="8229600" cy="685800"/>
          </a:xfrm>
          <a:prstGeom prst="rect">
            <a:avLst/>
          </a:prstGeom>
          <a:noFill/>
          <a:ln/>
        </p:spPr>
        <p:txBody>
          <a:bodyPr wrap="square" lIns="0" tIns="0" rIns="0" bIns="0" rtlCol="0" anchor="ctr"/>
          <a:lstStyle/>
          <a:p>
            <a:pPr marL="0" indent="0">
              <a:buNone/>
            </a:pPr>
            <a:r>
              <a:rPr lang="en-US" sz="3000" b="1" dirty="0">
                <a:solidFill>
                  <a:srgbClr val="2C3A47"/>
                </a:solidFill>
                <a:latin typeface="Cambria" pitchFamily="34" charset="0"/>
                <a:ea typeface="Cambria" pitchFamily="34" charset="-122"/>
                <a:cs typeface="Cambria" pitchFamily="34" charset="-120"/>
              </a:rPr>
              <a:t>Same HTML. Two completely different pages.</a:t>
            </a:r>
            <a:endParaRPr lang="en-US" sz="3000" dirty="0"/>
          </a:p>
        </p:txBody>
      </p:sp>
      <p:sp>
        <p:nvSpPr>
          <p:cNvPr id="4" name="Shape 2"/>
          <p:cNvSpPr/>
          <p:nvPr/>
        </p:nvSpPr>
        <p:spPr>
          <a:xfrm>
            <a:off x="457200" y="1417320"/>
            <a:ext cx="3794760" cy="2880360"/>
          </a:xfrm>
          <a:prstGeom prst="roundRect">
            <a:avLst>
              <a:gd name="adj" fmla="val 1905"/>
            </a:avLst>
          </a:prstGeom>
          <a:solidFill>
            <a:srgbClr val="FFFFFF"/>
          </a:solidFill>
          <a:ln w="19050">
            <a:solidFill>
              <a:srgbClr val="D7DCE1"/>
            </a:solidFill>
            <a:prstDash val="solid"/>
          </a:ln>
          <a:effectLst>
            <a:outerShdw blurRad="101600" dist="38100" dir="2700000" algn="bl" rotWithShape="0">
              <a:srgbClr val="000000">
                <a:alpha val="18000"/>
              </a:srgbClr>
            </a:outerShdw>
          </a:effectLst>
        </p:spPr>
        <p:txBody>
          <a:bodyPr/>
          <a:lstStyle/>
          <a:p>
            <a:endParaRPr lang="en-US"/>
          </a:p>
        </p:txBody>
      </p:sp>
      <p:sp>
        <p:nvSpPr>
          <p:cNvPr id="5" name="Shape 3"/>
          <p:cNvSpPr/>
          <p:nvPr/>
        </p:nvSpPr>
        <p:spPr>
          <a:xfrm>
            <a:off x="457200" y="1417320"/>
            <a:ext cx="3794760" cy="292608"/>
          </a:xfrm>
          <a:prstGeom prst="rect">
            <a:avLst/>
          </a:prstGeom>
          <a:solidFill>
            <a:srgbClr val="EEF0F2"/>
          </a:solidFill>
          <a:ln/>
        </p:spPr>
        <p:txBody>
          <a:bodyPr/>
          <a:lstStyle/>
          <a:p>
            <a:endParaRPr lang="en-US"/>
          </a:p>
        </p:txBody>
      </p:sp>
      <p:sp>
        <p:nvSpPr>
          <p:cNvPr id="6" name="Shape 4"/>
          <p:cNvSpPr/>
          <p:nvPr/>
        </p:nvSpPr>
        <p:spPr>
          <a:xfrm>
            <a:off x="594360" y="1508760"/>
            <a:ext cx="109728" cy="109728"/>
          </a:xfrm>
          <a:prstGeom prst="ellipse">
            <a:avLst/>
          </a:prstGeom>
          <a:solidFill>
            <a:srgbClr val="BF616A"/>
          </a:solidFill>
          <a:ln/>
        </p:spPr>
        <p:txBody>
          <a:bodyPr/>
          <a:lstStyle/>
          <a:p>
            <a:endParaRPr lang="en-US"/>
          </a:p>
        </p:txBody>
      </p:sp>
      <p:sp>
        <p:nvSpPr>
          <p:cNvPr id="7" name="Shape 5"/>
          <p:cNvSpPr/>
          <p:nvPr/>
        </p:nvSpPr>
        <p:spPr>
          <a:xfrm>
            <a:off x="795528" y="1508760"/>
            <a:ext cx="109728" cy="109728"/>
          </a:xfrm>
          <a:prstGeom prst="ellipse">
            <a:avLst/>
          </a:prstGeom>
          <a:solidFill>
            <a:srgbClr val="D9932C"/>
          </a:solidFill>
          <a:ln/>
        </p:spPr>
        <p:txBody>
          <a:bodyPr/>
          <a:lstStyle/>
          <a:p>
            <a:endParaRPr lang="en-US"/>
          </a:p>
        </p:txBody>
      </p:sp>
      <p:sp>
        <p:nvSpPr>
          <p:cNvPr id="8" name="Shape 6"/>
          <p:cNvSpPr/>
          <p:nvPr/>
        </p:nvSpPr>
        <p:spPr>
          <a:xfrm>
            <a:off x="996696" y="1508760"/>
            <a:ext cx="109728" cy="109728"/>
          </a:xfrm>
          <a:prstGeom prst="ellipse">
            <a:avLst/>
          </a:prstGeom>
          <a:solidFill>
            <a:srgbClr val="6E8B5E"/>
          </a:solidFill>
          <a:ln/>
        </p:spPr>
        <p:txBody>
          <a:bodyPr/>
          <a:lstStyle/>
          <a:p>
            <a:endParaRPr lang="en-US"/>
          </a:p>
        </p:txBody>
      </p:sp>
      <p:sp>
        <p:nvSpPr>
          <p:cNvPr id="9" name="Text 7"/>
          <p:cNvSpPr/>
          <p:nvPr/>
        </p:nvSpPr>
        <p:spPr>
          <a:xfrm>
            <a:off x="457200" y="1033272"/>
            <a:ext cx="3794760" cy="320040"/>
          </a:xfrm>
          <a:prstGeom prst="rect">
            <a:avLst/>
          </a:prstGeom>
          <a:noFill/>
          <a:ln/>
        </p:spPr>
        <p:txBody>
          <a:bodyPr wrap="square" lIns="0" tIns="0" rIns="0" bIns="0" rtlCol="0" anchor="ctr"/>
          <a:lstStyle/>
          <a:p>
            <a:pPr marL="0" indent="0" algn="ctr">
              <a:buNone/>
            </a:pPr>
            <a:r>
              <a:rPr lang="en-US" sz="1300" b="1" dirty="0">
                <a:solidFill>
                  <a:srgbClr val="9AA5AF"/>
                </a:solidFill>
                <a:latin typeface="Calibri" pitchFamily="34" charset="0"/>
                <a:ea typeface="Calibri" pitchFamily="34" charset="-122"/>
                <a:cs typeface="Calibri" pitchFamily="34" charset="-120"/>
              </a:rPr>
              <a:t>BEFORE · NO CSS</a:t>
            </a:r>
            <a:endParaRPr lang="en-US" sz="1300" dirty="0"/>
          </a:p>
        </p:txBody>
      </p:sp>
      <p:sp>
        <p:nvSpPr>
          <p:cNvPr id="10" name="Shape 8"/>
          <p:cNvSpPr/>
          <p:nvPr/>
        </p:nvSpPr>
        <p:spPr>
          <a:xfrm>
            <a:off x="685800" y="1920240"/>
            <a:ext cx="1371600" cy="868680"/>
          </a:xfrm>
          <a:prstGeom prst="rect">
            <a:avLst/>
          </a:prstGeom>
          <a:solidFill>
            <a:srgbClr val="D9DDE1"/>
          </a:solidFill>
          <a:ln w="12700">
            <a:solidFill>
              <a:srgbClr val="B7BEC5"/>
            </a:solidFill>
            <a:prstDash val="solid"/>
          </a:ln>
        </p:spPr>
        <p:txBody>
          <a:bodyPr/>
          <a:lstStyle/>
          <a:p>
            <a:endParaRPr lang="en-US"/>
          </a:p>
        </p:txBody>
      </p:sp>
      <p:sp>
        <p:nvSpPr>
          <p:cNvPr id="11" name="Text 9"/>
          <p:cNvSpPr/>
          <p:nvPr/>
        </p:nvSpPr>
        <p:spPr>
          <a:xfrm>
            <a:off x="2194560" y="1965960"/>
            <a:ext cx="1874520" cy="320040"/>
          </a:xfrm>
          <a:prstGeom prst="rect">
            <a:avLst/>
          </a:prstGeom>
          <a:noFill/>
          <a:ln/>
        </p:spPr>
        <p:txBody>
          <a:bodyPr wrap="square" lIns="0" tIns="0" rIns="0" bIns="0" rtlCol="0" anchor="ctr"/>
          <a:lstStyle/>
          <a:p>
            <a:pPr marL="0" indent="0" algn="l">
              <a:buNone/>
            </a:pPr>
            <a:r>
              <a:rPr lang="en-US" sz="900" dirty="0">
                <a:solidFill>
                  <a:srgbClr val="555555"/>
                </a:solidFill>
                <a:latin typeface="Times New Roman" pitchFamily="34" charset="0"/>
                <a:ea typeface="Times New Roman" pitchFamily="34" charset="-122"/>
                <a:cs typeface="Times New Roman" pitchFamily="34" charset="-120"/>
              </a:rPr>
              <a:t>Ida B. Wells</a:t>
            </a:r>
            <a:endParaRPr lang="en-US" sz="900" dirty="0"/>
          </a:p>
        </p:txBody>
      </p:sp>
      <p:sp>
        <p:nvSpPr>
          <p:cNvPr id="12" name="Text 10"/>
          <p:cNvSpPr/>
          <p:nvPr/>
        </p:nvSpPr>
        <p:spPr>
          <a:xfrm>
            <a:off x="685800" y="2926080"/>
            <a:ext cx="3337560" cy="731520"/>
          </a:xfrm>
          <a:prstGeom prst="rect">
            <a:avLst/>
          </a:prstGeom>
          <a:noFill/>
          <a:ln/>
        </p:spPr>
        <p:txBody>
          <a:bodyPr wrap="square" lIns="0" tIns="0" rIns="0" bIns="0" rtlCol="0" anchor="ctr"/>
          <a:lstStyle/>
          <a:p>
            <a:pPr marL="0" indent="0" algn="l">
              <a:lnSpc>
                <a:spcPts val="1800"/>
              </a:lnSpc>
              <a:buNone/>
            </a:pPr>
            <a:r>
              <a:rPr lang="en-US" sz="1500" b="1" dirty="0">
                <a:solidFill>
                  <a:srgbClr val="1A1A1A"/>
                </a:solidFill>
                <a:latin typeface="Times New Roman" pitchFamily="34" charset="0"/>
                <a:ea typeface="Times New Roman" pitchFamily="34" charset="-122"/>
                <a:cs typeface="Times New Roman" pitchFamily="34" charset="-120"/>
              </a:rPr>
              <a:t>“The way to right wrongs is to turn the light of truth upon them.”</a:t>
            </a:r>
            <a:endParaRPr lang="en-US" sz="1500" dirty="0"/>
          </a:p>
        </p:txBody>
      </p:sp>
      <p:sp>
        <p:nvSpPr>
          <p:cNvPr id="13" name="Text 11"/>
          <p:cNvSpPr/>
          <p:nvPr/>
        </p:nvSpPr>
        <p:spPr>
          <a:xfrm>
            <a:off x="685800" y="3703320"/>
            <a:ext cx="3337560" cy="274320"/>
          </a:xfrm>
          <a:prstGeom prst="rect">
            <a:avLst/>
          </a:prstGeom>
          <a:noFill/>
          <a:ln/>
        </p:spPr>
        <p:txBody>
          <a:bodyPr wrap="square" lIns="0" tIns="0" rIns="0" bIns="0" rtlCol="0" anchor="ctr"/>
          <a:lstStyle/>
          <a:p>
            <a:pPr marL="0" indent="0" algn="l">
              <a:buNone/>
            </a:pPr>
            <a:r>
              <a:rPr lang="en-US" sz="1100" dirty="0">
                <a:solidFill>
                  <a:srgbClr val="1A1A1A"/>
                </a:solidFill>
                <a:latin typeface="Times New Roman" pitchFamily="34" charset="0"/>
                <a:ea typeface="Times New Roman" pitchFamily="34" charset="-122"/>
                <a:cs typeface="Times New Roman" pitchFamily="34" charset="-120"/>
              </a:rPr>
              <a:t>- Ida B. Wells</a:t>
            </a:r>
            <a:endParaRPr lang="en-US" sz="1100" dirty="0"/>
          </a:p>
        </p:txBody>
      </p:sp>
      <p:sp>
        <p:nvSpPr>
          <p:cNvPr id="14" name="Text 12"/>
          <p:cNvSpPr/>
          <p:nvPr/>
        </p:nvSpPr>
        <p:spPr>
          <a:xfrm>
            <a:off x="457200" y="4407408"/>
            <a:ext cx="3794760" cy="548640"/>
          </a:xfrm>
          <a:prstGeom prst="rect">
            <a:avLst/>
          </a:prstGeom>
          <a:noFill/>
          <a:ln/>
        </p:spPr>
        <p:txBody>
          <a:bodyPr wrap="square" lIns="0" tIns="0" rIns="0" bIns="0" rtlCol="0" anchor="ctr"/>
          <a:lstStyle/>
          <a:p>
            <a:pPr marL="0" indent="0" algn="ctr">
              <a:lnSpc>
                <a:spcPts val="1400"/>
              </a:lnSpc>
              <a:buNone/>
            </a:pPr>
            <a:r>
              <a:rPr lang="en-US" sz="1050" i="1" dirty="0">
                <a:solidFill>
                  <a:srgbClr val="6E7B8A"/>
                </a:solidFill>
                <a:latin typeface="Calibri" pitchFamily="34" charset="0"/>
                <a:ea typeface="Calibri" pitchFamily="34" charset="-122"/>
                <a:cs typeface="Calibri" pitchFamily="34" charset="-120"/>
              </a:rPr>
              <a:t>Default browser styles. Left-aligned. No hierarchy, no color, no breathing room.</a:t>
            </a:r>
            <a:endParaRPr lang="en-US" sz="1050" dirty="0"/>
          </a:p>
        </p:txBody>
      </p:sp>
      <p:sp>
        <p:nvSpPr>
          <p:cNvPr id="15" name="Text 13"/>
          <p:cNvSpPr/>
          <p:nvPr/>
        </p:nvSpPr>
        <p:spPr>
          <a:xfrm>
            <a:off x="4343400" y="2537460"/>
            <a:ext cx="457200" cy="640080"/>
          </a:xfrm>
          <a:prstGeom prst="rect">
            <a:avLst/>
          </a:prstGeom>
          <a:noFill/>
          <a:ln/>
        </p:spPr>
        <p:txBody>
          <a:bodyPr wrap="square" lIns="0" tIns="0" rIns="0" bIns="0" rtlCol="0" anchor="ctr"/>
          <a:lstStyle/>
          <a:p>
            <a:pPr marL="0" indent="0" algn="ctr">
              <a:buNone/>
            </a:pPr>
            <a:r>
              <a:rPr lang="en-US" sz="3000" b="1" dirty="0">
                <a:solidFill>
                  <a:srgbClr val="B07A78"/>
                </a:solidFill>
                <a:latin typeface="Calibri" pitchFamily="34" charset="0"/>
                <a:ea typeface="Calibri" pitchFamily="34" charset="-122"/>
                <a:cs typeface="Calibri" pitchFamily="34" charset="-120"/>
              </a:rPr>
              <a:t>→</a:t>
            </a:r>
            <a:endParaRPr lang="en-US" sz="3000" dirty="0"/>
          </a:p>
        </p:txBody>
      </p:sp>
      <p:sp>
        <p:nvSpPr>
          <p:cNvPr id="16" name="Shape 14"/>
          <p:cNvSpPr/>
          <p:nvPr/>
        </p:nvSpPr>
        <p:spPr>
          <a:xfrm>
            <a:off x="4892040" y="1417320"/>
            <a:ext cx="3794760" cy="2880360"/>
          </a:xfrm>
          <a:prstGeom prst="roundRect">
            <a:avLst>
              <a:gd name="adj" fmla="val 1905"/>
            </a:avLst>
          </a:prstGeom>
          <a:solidFill>
            <a:srgbClr val="FFFFFF"/>
          </a:solidFill>
          <a:ln w="19050">
            <a:solidFill>
              <a:srgbClr val="D7DCE1"/>
            </a:solidFill>
            <a:prstDash val="solid"/>
          </a:ln>
          <a:effectLst>
            <a:outerShdw blurRad="101600" dist="38100" dir="2700000" algn="bl" rotWithShape="0">
              <a:srgbClr val="000000">
                <a:alpha val="18000"/>
              </a:srgbClr>
            </a:outerShdw>
          </a:effectLst>
        </p:spPr>
        <p:txBody>
          <a:bodyPr/>
          <a:lstStyle/>
          <a:p>
            <a:endParaRPr lang="en-US"/>
          </a:p>
        </p:txBody>
      </p:sp>
      <p:sp>
        <p:nvSpPr>
          <p:cNvPr id="17" name="Shape 15"/>
          <p:cNvSpPr/>
          <p:nvPr/>
        </p:nvSpPr>
        <p:spPr>
          <a:xfrm>
            <a:off x="4892040" y="1417320"/>
            <a:ext cx="3794760" cy="292608"/>
          </a:xfrm>
          <a:prstGeom prst="rect">
            <a:avLst/>
          </a:prstGeom>
          <a:solidFill>
            <a:srgbClr val="EEF0F2"/>
          </a:solidFill>
          <a:ln/>
        </p:spPr>
        <p:txBody>
          <a:bodyPr/>
          <a:lstStyle/>
          <a:p>
            <a:endParaRPr lang="en-US"/>
          </a:p>
        </p:txBody>
      </p:sp>
      <p:sp>
        <p:nvSpPr>
          <p:cNvPr id="18" name="Shape 16"/>
          <p:cNvSpPr/>
          <p:nvPr/>
        </p:nvSpPr>
        <p:spPr>
          <a:xfrm>
            <a:off x="5029200" y="1508760"/>
            <a:ext cx="109728" cy="109728"/>
          </a:xfrm>
          <a:prstGeom prst="ellipse">
            <a:avLst/>
          </a:prstGeom>
          <a:solidFill>
            <a:srgbClr val="BF616A"/>
          </a:solidFill>
          <a:ln/>
        </p:spPr>
        <p:txBody>
          <a:bodyPr/>
          <a:lstStyle/>
          <a:p>
            <a:endParaRPr lang="en-US"/>
          </a:p>
        </p:txBody>
      </p:sp>
      <p:sp>
        <p:nvSpPr>
          <p:cNvPr id="19" name="Shape 17"/>
          <p:cNvSpPr/>
          <p:nvPr/>
        </p:nvSpPr>
        <p:spPr>
          <a:xfrm>
            <a:off x="5230368" y="1508760"/>
            <a:ext cx="109728" cy="109728"/>
          </a:xfrm>
          <a:prstGeom prst="ellipse">
            <a:avLst/>
          </a:prstGeom>
          <a:solidFill>
            <a:srgbClr val="D9932C"/>
          </a:solidFill>
          <a:ln/>
        </p:spPr>
        <p:txBody>
          <a:bodyPr/>
          <a:lstStyle/>
          <a:p>
            <a:endParaRPr lang="en-US"/>
          </a:p>
        </p:txBody>
      </p:sp>
      <p:sp>
        <p:nvSpPr>
          <p:cNvPr id="20" name="Shape 18"/>
          <p:cNvSpPr/>
          <p:nvPr/>
        </p:nvSpPr>
        <p:spPr>
          <a:xfrm>
            <a:off x="5431536" y="1508760"/>
            <a:ext cx="109728" cy="109728"/>
          </a:xfrm>
          <a:prstGeom prst="ellipse">
            <a:avLst/>
          </a:prstGeom>
          <a:solidFill>
            <a:srgbClr val="6E8B5E"/>
          </a:solidFill>
          <a:ln/>
        </p:spPr>
        <p:txBody>
          <a:bodyPr/>
          <a:lstStyle/>
          <a:p>
            <a:endParaRPr lang="en-US"/>
          </a:p>
        </p:txBody>
      </p:sp>
      <p:sp>
        <p:nvSpPr>
          <p:cNvPr id="21" name="Text 19"/>
          <p:cNvSpPr/>
          <p:nvPr/>
        </p:nvSpPr>
        <p:spPr>
          <a:xfrm>
            <a:off x="4892040" y="1033272"/>
            <a:ext cx="3794760" cy="320040"/>
          </a:xfrm>
          <a:prstGeom prst="rect">
            <a:avLst/>
          </a:prstGeom>
          <a:noFill/>
          <a:ln/>
        </p:spPr>
        <p:txBody>
          <a:bodyPr wrap="square" lIns="0" tIns="0" rIns="0" bIns="0" rtlCol="0" anchor="ctr"/>
          <a:lstStyle/>
          <a:p>
            <a:pPr marL="0" indent="0" algn="ctr">
              <a:buNone/>
            </a:pPr>
            <a:r>
              <a:rPr lang="en-US" sz="1300" b="1" dirty="0">
                <a:solidFill>
                  <a:srgbClr val="B07A78"/>
                </a:solidFill>
                <a:latin typeface="Calibri" pitchFamily="34" charset="0"/>
                <a:ea typeface="Calibri" pitchFamily="34" charset="-122"/>
                <a:cs typeface="Calibri" pitchFamily="34" charset="-120"/>
              </a:rPr>
              <a:t>AFTER · OPTIMIZED CSS</a:t>
            </a:r>
            <a:endParaRPr lang="en-US" sz="1300" dirty="0"/>
          </a:p>
        </p:txBody>
      </p:sp>
      <p:sp>
        <p:nvSpPr>
          <p:cNvPr id="22" name="Shape 20"/>
          <p:cNvSpPr/>
          <p:nvPr/>
        </p:nvSpPr>
        <p:spPr>
          <a:xfrm>
            <a:off x="4892040" y="1709928"/>
            <a:ext cx="3794760" cy="2587752"/>
          </a:xfrm>
          <a:prstGeom prst="rect">
            <a:avLst/>
          </a:prstGeom>
          <a:solidFill>
            <a:srgbClr val="3C3620"/>
          </a:solidFill>
          <a:ln/>
        </p:spPr>
        <p:txBody>
          <a:bodyPr/>
          <a:lstStyle/>
          <a:p>
            <a:endParaRPr lang="en-US"/>
          </a:p>
        </p:txBody>
      </p:sp>
      <p:sp>
        <p:nvSpPr>
          <p:cNvPr id="23" name="Shape 21"/>
          <p:cNvSpPr/>
          <p:nvPr/>
        </p:nvSpPr>
        <p:spPr>
          <a:xfrm>
            <a:off x="6080760" y="1984248"/>
            <a:ext cx="1417320" cy="868680"/>
          </a:xfrm>
          <a:prstGeom prst="rect">
            <a:avLst/>
          </a:prstGeom>
          <a:solidFill>
            <a:srgbClr val="6B6448"/>
          </a:solidFill>
          <a:ln w="25400">
            <a:solidFill>
              <a:srgbClr val="DDDDDD"/>
            </a:solidFill>
            <a:prstDash val="solid"/>
          </a:ln>
        </p:spPr>
        <p:txBody>
          <a:bodyPr/>
          <a:lstStyle/>
          <a:p>
            <a:endParaRPr lang="en-US"/>
          </a:p>
        </p:txBody>
      </p:sp>
      <p:sp>
        <p:nvSpPr>
          <p:cNvPr id="24" name="Text 22"/>
          <p:cNvSpPr/>
          <p:nvPr/>
        </p:nvSpPr>
        <p:spPr>
          <a:xfrm>
            <a:off x="5074920" y="2999232"/>
            <a:ext cx="3429000" cy="777240"/>
          </a:xfrm>
          <a:prstGeom prst="rect">
            <a:avLst/>
          </a:prstGeom>
          <a:noFill/>
          <a:ln/>
        </p:spPr>
        <p:txBody>
          <a:bodyPr wrap="square" lIns="0" tIns="0" rIns="0" bIns="0" rtlCol="0" anchor="ctr"/>
          <a:lstStyle/>
          <a:p>
            <a:pPr marL="0" indent="0" algn="ctr">
              <a:lnSpc>
                <a:spcPts val="1600"/>
              </a:lnSpc>
              <a:buNone/>
            </a:pPr>
            <a:r>
              <a:rPr lang="en-US" sz="1350" b="1" dirty="0">
                <a:solidFill>
                  <a:srgbClr val="FFFFFF"/>
                </a:solidFill>
                <a:latin typeface="Cambria" pitchFamily="34" charset="0"/>
                <a:ea typeface="Cambria" pitchFamily="34" charset="-122"/>
                <a:cs typeface="Cambria" pitchFamily="34" charset="-120"/>
              </a:rPr>
              <a:t>“The way to right wrongs is to turn the light of truth upon them.”</a:t>
            </a:r>
            <a:endParaRPr lang="en-US" sz="1350" dirty="0"/>
          </a:p>
        </p:txBody>
      </p:sp>
      <p:sp>
        <p:nvSpPr>
          <p:cNvPr id="25" name="Text 23"/>
          <p:cNvSpPr/>
          <p:nvPr/>
        </p:nvSpPr>
        <p:spPr>
          <a:xfrm>
            <a:off x="5074920" y="3840480"/>
            <a:ext cx="342900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 Ida B. Wells</a:t>
            </a:r>
            <a:endParaRPr lang="en-US" sz="1100" dirty="0"/>
          </a:p>
        </p:txBody>
      </p:sp>
      <p:sp>
        <p:nvSpPr>
          <p:cNvPr id="26" name="Text 24"/>
          <p:cNvSpPr/>
          <p:nvPr/>
        </p:nvSpPr>
        <p:spPr>
          <a:xfrm>
            <a:off x="4800600" y="4302252"/>
            <a:ext cx="3794760" cy="548640"/>
          </a:xfrm>
          <a:prstGeom prst="rect">
            <a:avLst/>
          </a:prstGeom>
          <a:noFill/>
          <a:ln/>
        </p:spPr>
        <p:txBody>
          <a:bodyPr wrap="square" lIns="0" tIns="0" rIns="0" bIns="0" rtlCol="0" anchor="ctr"/>
          <a:lstStyle/>
          <a:p>
            <a:pPr marL="0" indent="0" algn="ctr">
              <a:lnSpc>
                <a:spcPts val="1400"/>
              </a:lnSpc>
              <a:buNone/>
            </a:pPr>
            <a:r>
              <a:rPr lang="en-US" sz="1050" i="1" dirty="0">
                <a:solidFill>
                  <a:srgbClr val="6E7B8A"/>
                </a:solidFill>
                <a:latin typeface="Calibri" pitchFamily="34" charset="0"/>
                <a:ea typeface="Calibri" pitchFamily="34" charset="-122"/>
                <a:cs typeface="Calibri" pitchFamily="34" charset="-120"/>
              </a:rPr>
              <a:t>One file, style.css: centered, framed, color, shadow, hierarchy.</a:t>
            </a:r>
            <a:endParaRPr lang="en-US" sz="1050" dirty="0"/>
          </a:p>
        </p:txBody>
      </p:sp>
      <p:sp>
        <p:nvSpPr>
          <p:cNvPr id="27" name="Shape 25"/>
          <p:cNvSpPr/>
          <p:nvPr/>
        </p:nvSpPr>
        <p:spPr>
          <a:xfrm>
            <a:off x="457200" y="4709160"/>
            <a:ext cx="8229600" cy="384048"/>
          </a:xfrm>
          <a:prstGeom prst="roundRect">
            <a:avLst>
              <a:gd name="adj" fmla="val 19048"/>
            </a:avLst>
          </a:prstGeom>
          <a:solidFill>
            <a:srgbClr val="F6EFEF"/>
          </a:solidFill>
          <a:ln/>
        </p:spPr>
        <p:txBody>
          <a:bodyPr/>
          <a:lstStyle/>
          <a:p>
            <a:endParaRPr lang="en-US"/>
          </a:p>
        </p:txBody>
      </p:sp>
      <p:sp>
        <p:nvSpPr>
          <p:cNvPr id="28" name="Text 26"/>
          <p:cNvSpPr/>
          <p:nvPr/>
        </p:nvSpPr>
        <p:spPr>
          <a:xfrm>
            <a:off x="640080" y="4709160"/>
            <a:ext cx="7863840" cy="384048"/>
          </a:xfrm>
          <a:prstGeom prst="rect">
            <a:avLst/>
          </a:prstGeom>
          <a:noFill/>
          <a:ln/>
        </p:spPr>
        <p:txBody>
          <a:bodyPr wrap="square" lIns="0" tIns="0" rIns="0" bIns="0" rtlCol="0" anchor="ctr"/>
          <a:lstStyle/>
          <a:p>
            <a:pPr marL="0" indent="0">
              <a:buNone/>
            </a:pPr>
            <a:r>
              <a:rPr lang="en-US" sz="1150" b="1" dirty="0">
                <a:solidFill>
                  <a:srgbClr val="B07A78"/>
                </a:solidFill>
                <a:latin typeface="Calibri" pitchFamily="34" charset="0"/>
                <a:ea typeface="Calibri" pitchFamily="34" charset="-122"/>
                <a:cs typeface="Calibri" pitchFamily="34" charset="-120"/>
              </a:rPr>
              <a:t>Not one word of HTML changed. </a:t>
            </a:r>
            <a:r>
              <a:rPr lang="en-US" sz="1150" dirty="0">
                <a:solidFill>
                  <a:srgbClr val="2B2B2B"/>
                </a:solidFill>
                <a:latin typeface="Calibri" pitchFamily="34" charset="0"/>
                <a:ea typeface="Calibri" pitchFamily="34" charset="-122"/>
                <a:cs typeface="Calibri" pitchFamily="34" charset="-120"/>
              </a:rPr>
              <a:t>Every visual difference above came from a single stylesheet — that’s the leverage of optimizing your CSS.</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1874520"/>
            <a:ext cx="4572000" cy="320040"/>
          </a:xfrm>
          <a:prstGeom prst="rect">
            <a:avLst/>
          </a:prstGeom>
          <a:noFill/>
          <a:ln/>
        </p:spPr>
        <p:txBody>
          <a:bodyPr wrap="square" lIns="0" tIns="0" rIns="0" bIns="0" rtlCol="0" anchor="ctr"/>
          <a:lstStyle/>
          <a:p>
            <a:pPr marL="0" indent="0">
              <a:buNone/>
            </a:pPr>
            <a:r>
              <a:rPr lang="en-US" sz="1400" b="1" kern="0" spc="500" dirty="0">
                <a:solidFill>
                  <a:srgbClr val="E0A020"/>
                </a:solidFill>
                <a:latin typeface="Calibri" pitchFamily="34" charset="0"/>
                <a:ea typeface="Calibri" pitchFamily="34" charset="-122"/>
                <a:cs typeface="Calibri" pitchFamily="34" charset="-120"/>
              </a:rPr>
              <a:t>PART 5</a:t>
            </a:r>
            <a:endParaRPr lang="en-US" sz="1400" dirty="0"/>
          </a:p>
        </p:txBody>
      </p:sp>
      <p:sp>
        <p:nvSpPr>
          <p:cNvPr id="3" name="Text 1"/>
          <p:cNvSpPr/>
          <p:nvPr/>
        </p:nvSpPr>
        <p:spPr>
          <a:xfrm>
            <a:off x="502920" y="2240280"/>
            <a:ext cx="6949440" cy="1188720"/>
          </a:xfrm>
          <a:prstGeom prst="rect">
            <a:avLst/>
          </a:prstGeom>
          <a:noFill/>
          <a:ln/>
        </p:spPr>
        <p:txBody>
          <a:bodyPr wrap="square" lIns="0" tIns="0" rIns="0" bIns="0" rtlCol="0" anchor="ctr"/>
          <a:lstStyle/>
          <a:p>
            <a:pPr marL="0" indent="0">
              <a:lnSpc>
                <a:spcPct val="100000"/>
              </a:lnSpc>
              <a:buNone/>
            </a:pPr>
            <a:r>
              <a:rPr lang="en-US" sz="3800" b="1" dirty="0">
                <a:solidFill>
                  <a:srgbClr val="FFFFFF"/>
                </a:solidFill>
                <a:latin typeface="Bookman Old Style" pitchFamily="34" charset="0"/>
                <a:ea typeface="Bookman Old Style" pitchFamily="34" charset="-122"/>
                <a:cs typeface="Bookman Old Style" pitchFamily="34" charset="-120"/>
              </a:rPr>
              <a:t>Make it count for the newsroom</a:t>
            </a:r>
            <a:endParaRPr lang="en-US" sz="3800" dirty="0"/>
          </a:p>
        </p:txBody>
      </p:sp>
      <p:sp>
        <p:nvSpPr>
          <p:cNvPr id="4" name="Text 2"/>
          <p:cNvSpPr/>
          <p:nvPr/>
        </p:nvSpPr>
        <p:spPr>
          <a:xfrm>
            <a:off x="502920" y="3456432"/>
            <a:ext cx="6766560" cy="457200"/>
          </a:xfrm>
          <a:prstGeom prst="rect">
            <a:avLst/>
          </a:prstGeom>
          <a:noFill/>
          <a:ln/>
        </p:spPr>
        <p:txBody>
          <a:bodyPr wrap="square" lIns="0" tIns="0" rIns="0" bIns="0" rtlCol="0" anchor="ctr"/>
          <a:lstStyle/>
          <a:p>
            <a:pPr marL="0" indent="0">
              <a:buNone/>
            </a:pPr>
            <a:r>
              <a:rPr lang="en-US" sz="1500" i="1" dirty="0">
                <a:solidFill>
                  <a:srgbClr val="AAB0BB"/>
                </a:solidFill>
                <a:latin typeface="Calibri" pitchFamily="34" charset="0"/>
                <a:ea typeface="Calibri" pitchFamily="34" charset="-122"/>
                <a:cs typeface="Calibri" pitchFamily="34" charset="-120"/>
              </a:rPr>
              <a:t>Three small builds that punch above their weight on a story.</a:t>
            </a:r>
            <a:endParaRPr lang="en-US" sz="1500" dirty="0"/>
          </a:p>
        </p:txBody>
      </p:sp>
      <p:sp>
        <p:nvSpPr>
          <p:cNvPr id="5" name="Shape 3"/>
          <p:cNvSpPr/>
          <p:nvPr/>
        </p:nvSpPr>
        <p:spPr>
          <a:xfrm>
            <a:off x="7360920" y="1965960"/>
            <a:ext cx="1234440" cy="123444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726680" y="2331720"/>
            <a:ext cx="502920" cy="50292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SMALL PAGES, REAL IMPACT</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Three ways reporters put this to work</a:t>
            </a:r>
            <a:endParaRPr lang="en-US" sz="3300" dirty="0"/>
          </a:p>
        </p:txBody>
      </p:sp>
      <p:sp>
        <p:nvSpPr>
          <p:cNvPr id="4" name="Shape 2"/>
          <p:cNvSpPr/>
          <p:nvPr/>
        </p:nvSpPr>
        <p:spPr>
          <a:xfrm>
            <a:off x="502920" y="1737360"/>
            <a:ext cx="2587752" cy="2743200"/>
          </a:xfrm>
          <a:prstGeom prst="roundRect">
            <a:avLst>
              <a:gd name="adj" fmla="val 3534"/>
            </a:avLst>
          </a:prstGeom>
          <a:solidFill>
            <a:srgbClr val="F4F4F2"/>
          </a:solidFill>
          <a:ln/>
        </p:spPr>
        <p:txBody>
          <a:bodyPr/>
          <a:lstStyle/>
          <a:p>
            <a:endParaRPr lang="en-US"/>
          </a:p>
        </p:txBody>
      </p:sp>
      <p:sp>
        <p:nvSpPr>
          <p:cNvPr id="5" name="Shape 3"/>
          <p:cNvSpPr/>
          <p:nvPr/>
        </p:nvSpPr>
        <p:spPr>
          <a:xfrm>
            <a:off x="777240" y="2011680"/>
            <a:ext cx="603504" cy="60350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934151" y="2168591"/>
            <a:ext cx="289682" cy="289682"/>
          </a:xfrm>
          <a:prstGeom prst="rect">
            <a:avLst/>
          </a:prstGeom>
        </p:spPr>
      </p:pic>
      <p:sp>
        <p:nvSpPr>
          <p:cNvPr id="7" name="Text 4"/>
          <p:cNvSpPr/>
          <p:nvPr/>
        </p:nvSpPr>
        <p:spPr>
          <a:xfrm>
            <a:off x="777240" y="2816352"/>
            <a:ext cx="2075688" cy="640080"/>
          </a:xfrm>
          <a:prstGeom prst="rect">
            <a:avLst/>
          </a:prstGeom>
          <a:noFill/>
          <a:ln/>
        </p:spPr>
        <p:txBody>
          <a:bodyPr wrap="square" lIns="0" tIns="0" rIns="0" bIns="0" rtlCol="0" anchor="ctr"/>
          <a:lstStyle/>
          <a:p>
            <a:pPr marL="0" indent="0">
              <a:lnSpc>
                <a:spcPct val="98000"/>
              </a:lnSpc>
              <a:buNone/>
            </a:pPr>
            <a:r>
              <a:rPr lang="en-US" sz="1600" b="1" dirty="0">
                <a:solidFill>
                  <a:srgbClr val="16181D"/>
                </a:solidFill>
                <a:latin typeface="Bookman Old Style" pitchFamily="34" charset="0"/>
                <a:ea typeface="Bookman Old Style" pitchFamily="34" charset="-122"/>
                <a:cs typeface="Bookman Old Style" pitchFamily="34" charset="-120"/>
              </a:rPr>
              <a:t>The story card</a:t>
            </a:r>
            <a:endParaRPr lang="en-US" sz="1600" dirty="0"/>
          </a:p>
        </p:txBody>
      </p:sp>
      <p:sp>
        <p:nvSpPr>
          <p:cNvPr id="8" name="Text 5"/>
          <p:cNvSpPr/>
          <p:nvPr/>
        </p:nvSpPr>
        <p:spPr>
          <a:xfrm>
            <a:off x="777240" y="3401568"/>
            <a:ext cx="2075688" cy="1005840"/>
          </a:xfrm>
          <a:prstGeom prst="rect">
            <a:avLst/>
          </a:prstGeom>
          <a:noFill/>
          <a:ln/>
        </p:spPr>
        <p:txBody>
          <a:bodyPr wrap="square" lIns="0" tIns="0" rIns="0" bIns="0" rtlCol="0" anchor="ctr"/>
          <a:lstStyle/>
          <a:p>
            <a:pPr marL="0" indent="0">
              <a:lnSpc>
                <a:spcPct val="104000"/>
              </a:lnSpc>
              <a:buNone/>
            </a:pPr>
            <a:r>
              <a:rPr lang="en-US" sz="1150" dirty="0">
                <a:solidFill>
                  <a:srgbClr val="353A45"/>
                </a:solidFill>
                <a:latin typeface="Calibri" pitchFamily="34" charset="0"/>
                <a:ea typeface="Calibri" pitchFamily="34" charset="-122"/>
                <a:cs typeface="Calibri" pitchFamily="34" charset="-120"/>
              </a:rPr>
              <a:t>A single styled page for a quote, a finding, or a key document — clean enough to share on social and stand on its own.</a:t>
            </a:r>
            <a:endParaRPr lang="en-US" sz="1150" dirty="0"/>
          </a:p>
        </p:txBody>
      </p:sp>
      <p:sp>
        <p:nvSpPr>
          <p:cNvPr id="9" name="Shape 6"/>
          <p:cNvSpPr/>
          <p:nvPr/>
        </p:nvSpPr>
        <p:spPr>
          <a:xfrm>
            <a:off x="3273552" y="1737360"/>
            <a:ext cx="2587752" cy="2743200"/>
          </a:xfrm>
          <a:prstGeom prst="roundRect">
            <a:avLst>
              <a:gd name="adj" fmla="val 3534"/>
            </a:avLst>
          </a:prstGeom>
          <a:solidFill>
            <a:srgbClr val="16181D"/>
          </a:solidFill>
          <a:ln/>
          <a:effectLst>
            <a:outerShdw blurRad="88900" dist="38100" dir="5400000" algn="bl" rotWithShape="0">
              <a:srgbClr val="000000">
                <a:alpha val="10000"/>
              </a:srgbClr>
            </a:outerShdw>
          </a:effectLst>
        </p:spPr>
        <p:txBody>
          <a:bodyPr/>
          <a:lstStyle/>
          <a:p>
            <a:endParaRPr lang="en-US"/>
          </a:p>
        </p:txBody>
      </p:sp>
      <p:sp>
        <p:nvSpPr>
          <p:cNvPr id="10" name="Shape 7"/>
          <p:cNvSpPr/>
          <p:nvPr/>
        </p:nvSpPr>
        <p:spPr>
          <a:xfrm>
            <a:off x="3547872" y="2011680"/>
            <a:ext cx="603504" cy="603504"/>
          </a:xfrm>
          <a:prstGeom prst="ellipse">
            <a:avLst/>
          </a:prstGeom>
          <a:solidFill>
            <a:srgbClr val="23262F"/>
          </a:solidFill>
          <a:ln/>
          <a:effectLst>
            <a:outerShdw blurRad="88900" dist="38100" dir="5400000" algn="bl" rotWithShape="0">
              <a:srgbClr val="000000">
                <a:alpha val="1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3704783" y="2168591"/>
            <a:ext cx="289682" cy="289682"/>
          </a:xfrm>
          <a:prstGeom prst="rect">
            <a:avLst/>
          </a:prstGeom>
        </p:spPr>
      </p:pic>
      <p:sp>
        <p:nvSpPr>
          <p:cNvPr id="12" name="Text 8"/>
          <p:cNvSpPr/>
          <p:nvPr/>
        </p:nvSpPr>
        <p:spPr>
          <a:xfrm>
            <a:off x="3547872" y="2816352"/>
            <a:ext cx="2075688" cy="640080"/>
          </a:xfrm>
          <a:prstGeom prst="rect">
            <a:avLst/>
          </a:prstGeom>
          <a:noFill/>
          <a:ln/>
        </p:spPr>
        <p:txBody>
          <a:bodyPr wrap="square" lIns="0" tIns="0" rIns="0" bIns="0" rtlCol="0" anchor="ctr"/>
          <a:lstStyle/>
          <a:p>
            <a:pPr marL="0" indent="0">
              <a:lnSpc>
                <a:spcPct val="98000"/>
              </a:lnSpc>
              <a:buNone/>
            </a:pPr>
            <a:r>
              <a:rPr lang="en-US" sz="1600" b="1" dirty="0">
                <a:solidFill>
                  <a:srgbClr val="FFFFFF"/>
                </a:solidFill>
                <a:latin typeface="Bookman Old Style" pitchFamily="34" charset="0"/>
                <a:ea typeface="Bookman Old Style" pitchFamily="34" charset="-122"/>
                <a:cs typeface="Bookman Old Style" pitchFamily="34" charset="-120"/>
              </a:rPr>
              <a:t>The simple data callout</a:t>
            </a:r>
            <a:endParaRPr lang="en-US" sz="1600" dirty="0"/>
          </a:p>
        </p:txBody>
      </p:sp>
      <p:sp>
        <p:nvSpPr>
          <p:cNvPr id="13" name="Text 9"/>
          <p:cNvSpPr/>
          <p:nvPr/>
        </p:nvSpPr>
        <p:spPr>
          <a:xfrm>
            <a:off x="3547872" y="3401568"/>
            <a:ext cx="2075688" cy="1005840"/>
          </a:xfrm>
          <a:prstGeom prst="rect">
            <a:avLst/>
          </a:prstGeom>
          <a:noFill/>
          <a:ln/>
        </p:spPr>
        <p:txBody>
          <a:bodyPr wrap="square" lIns="0" tIns="0" rIns="0" bIns="0" rtlCol="0" anchor="ctr"/>
          <a:lstStyle/>
          <a:p>
            <a:pPr marL="0" indent="0">
              <a:lnSpc>
                <a:spcPct val="104000"/>
              </a:lnSpc>
              <a:buNone/>
            </a:pPr>
            <a:r>
              <a:rPr lang="en-US" sz="1150" dirty="0">
                <a:solidFill>
                  <a:srgbClr val="E9EAEC"/>
                </a:solidFill>
                <a:latin typeface="Calibri" pitchFamily="34" charset="0"/>
                <a:ea typeface="Calibri" pitchFamily="34" charset="-122"/>
                <a:cs typeface="Calibri" pitchFamily="34" charset="-120"/>
              </a:rPr>
              <a:t>Take a short list — closures, violations, donations — and lay it out as a clear, readable page instead of burying it in prose.</a:t>
            </a:r>
            <a:endParaRPr lang="en-US" sz="1150" dirty="0"/>
          </a:p>
        </p:txBody>
      </p:sp>
      <p:sp>
        <p:nvSpPr>
          <p:cNvPr id="14" name="Shape 10"/>
          <p:cNvSpPr/>
          <p:nvPr/>
        </p:nvSpPr>
        <p:spPr>
          <a:xfrm>
            <a:off x="6044184" y="1737360"/>
            <a:ext cx="2587752" cy="2743200"/>
          </a:xfrm>
          <a:prstGeom prst="roundRect">
            <a:avLst>
              <a:gd name="adj" fmla="val 3534"/>
            </a:avLst>
          </a:prstGeom>
          <a:solidFill>
            <a:srgbClr val="F4F4F2"/>
          </a:solidFill>
          <a:ln/>
        </p:spPr>
        <p:txBody>
          <a:bodyPr/>
          <a:lstStyle/>
          <a:p>
            <a:endParaRPr lang="en-US"/>
          </a:p>
        </p:txBody>
      </p:sp>
      <p:sp>
        <p:nvSpPr>
          <p:cNvPr id="15" name="Shape 11"/>
          <p:cNvSpPr/>
          <p:nvPr/>
        </p:nvSpPr>
        <p:spPr>
          <a:xfrm>
            <a:off x="6318504" y="2011680"/>
            <a:ext cx="603504" cy="603504"/>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6475415" y="2168591"/>
            <a:ext cx="289682" cy="289682"/>
          </a:xfrm>
          <a:prstGeom prst="rect">
            <a:avLst/>
          </a:prstGeom>
        </p:spPr>
      </p:pic>
      <p:sp>
        <p:nvSpPr>
          <p:cNvPr id="17" name="Text 12"/>
          <p:cNvSpPr/>
          <p:nvPr/>
        </p:nvSpPr>
        <p:spPr>
          <a:xfrm>
            <a:off x="6318504" y="2816352"/>
            <a:ext cx="2075688" cy="640080"/>
          </a:xfrm>
          <a:prstGeom prst="rect">
            <a:avLst/>
          </a:prstGeom>
          <a:noFill/>
          <a:ln/>
        </p:spPr>
        <p:txBody>
          <a:bodyPr wrap="square" lIns="0" tIns="0" rIns="0" bIns="0" rtlCol="0" anchor="ctr"/>
          <a:lstStyle/>
          <a:p>
            <a:pPr marL="0" indent="0">
              <a:lnSpc>
                <a:spcPct val="98000"/>
              </a:lnSpc>
              <a:buNone/>
            </a:pPr>
            <a:r>
              <a:rPr lang="en-US" sz="1600" b="1" dirty="0">
                <a:solidFill>
                  <a:srgbClr val="16181D"/>
                </a:solidFill>
                <a:latin typeface="Bookman Old Style" pitchFamily="34" charset="0"/>
                <a:ea typeface="Bookman Old Style" pitchFamily="34" charset="-122"/>
                <a:cs typeface="Bookman Old Style" pitchFamily="34" charset="-120"/>
              </a:rPr>
              <a:t>The “reach me” page</a:t>
            </a:r>
            <a:endParaRPr lang="en-US" sz="1600" dirty="0"/>
          </a:p>
        </p:txBody>
      </p:sp>
      <p:sp>
        <p:nvSpPr>
          <p:cNvPr id="18" name="Text 13"/>
          <p:cNvSpPr/>
          <p:nvPr/>
        </p:nvSpPr>
        <p:spPr>
          <a:xfrm>
            <a:off x="6318504" y="3401568"/>
            <a:ext cx="2075688" cy="1005840"/>
          </a:xfrm>
          <a:prstGeom prst="rect">
            <a:avLst/>
          </a:prstGeom>
          <a:noFill/>
          <a:ln/>
        </p:spPr>
        <p:txBody>
          <a:bodyPr wrap="square" lIns="0" tIns="0" rIns="0" bIns="0" rtlCol="0" anchor="ctr"/>
          <a:lstStyle/>
          <a:p>
            <a:pPr marL="0" indent="0">
              <a:lnSpc>
                <a:spcPct val="104000"/>
              </a:lnSpc>
              <a:buNone/>
            </a:pPr>
            <a:r>
              <a:rPr lang="en-US" sz="1150" dirty="0">
                <a:solidFill>
                  <a:srgbClr val="353A45"/>
                </a:solidFill>
                <a:latin typeface="Calibri" pitchFamily="34" charset="0"/>
                <a:ea typeface="Calibri" pitchFamily="34" charset="-122"/>
                <a:cs typeface="Calibri" pitchFamily="34" charset="-120"/>
              </a:rPr>
              <a:t>A tidy page that says who you are, what you're investigating, and how a source can safely get in touch.</a:t>
            </a:r>
            <a:endParaRPr lang="en-US" sz="1150" dirty="0"/>
          </a:p>
        </p:txBody>
      </p:sp>
      <p:sp>
        <p:nvSpPr>
          <p:cNvPr id="19" name="Text 14"/>
          <p:cNvSpPr/>
          <p:nvPr/>
        </p:nvSpPr>
        <p:spPr>
          <a:xfrm>
            <a:off x="502920" y="4645152"/>
            <a:ext cx="8138160" cy="365760"/>
          </a:xfrm>
          <a:prstGeom prst="rect">
            <a:avLst/>
          </a:prstGeom>
          <a:noFill/>
          <a:ln/>
        </p:spPr>
        <p:txBody>
          <a:bodyPr wrap="square" lIns="0" tIns="0" rIns="0" bIns="0"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All three are just HTML + CSS — exactly what you learned today. Pick one to build in the final workshop.</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92608"/>
          </a:xfrm>
          <a:prstGeom prst="rect">
            <a:avLst/>
          </a:prstGeom>
          <a:noFill/>
          <a:ln/>
        </p:spPr>
        <p:txBody>
          <a:bodyPr wrap="square" lIns="0" tIns="0" rIns="0" bIns="0" rtlCol="0" anchor="ctr"/>
          <a:lstStyle/>
          <a:p>
            <a:pPr marL="0" indent="0">
              <a:buNone/>
            </a:pPr>
            <a:r>
              <a:rPr lang="en-US" sz="1300" b="1" kern="0" spc="400" dirty="0">
                <a:solidFill>
                  <a:srgbClr val="E0A020"/>
                </a:solidFill>
                <a:latin typeface="Calibri" pitchFamily="34" charset="0"/>
                <a:ea typeface="Calibri" pitchFamily="34" charset="-122"/>
                <a:cs typeface="Calibri" pitchFamily="34" charset="-120"/>
              </a:rPr>
              <a:t>WORKSHOP 3   ·   Build &amp; share  ·  55 min</a:t>
            </a:r>
            <a:endParaRPr lang="en-US" sz="1300" dirty="0"/>
          </a:p>
        </p:txBody>
      </p:sp>
      <p:sp>
        <p:nvSpPr>
          <p:cNvPr id="3" name="Text 1"/>
          <p:cNvSpPr/>
          <p:nvPr/>
        </p:nvSpPr>
        <p:spPr>
          <a:xfrm>
            <a:off x="502920" y="786384"/>
            <a:ext cx="6126480" cy="777240"/>
          </a:xfrm>
          <a:prstGeom prst="rect">
            <a:avLst/>
          </a:prstGeom>
          <a:noFill/>
          <a:ln/>
        </p:spPr>
        <p:txBody>
          <a:bodyPr wrap="square" lIns="0" tIns="0" rIns="0" bIns="0" rtlCol="0" anchor="ctr"/>
          <a:lstStyle/>
          <a:p>
            <a:pPr marL="0" indent="0">
              <a:lnSpc>
                <a:spcPct val="98000"/>
              </a:lnSpc>
              <a:buNone/>
            </a:pPr>
            <a:r>
              <a:rPr lang="en-US" sz="3000" b="1" dirty="0">
                <a:solidFill>
                  <a:srgbClr val="FFFFFF"/>
                </a:solidFill>
                <a:latin typeface="Bookman Old Style" pitchFamily="34" charset="0"/>
                <a:ea typeface="Bookman Old Style" pitchFamily="34" charset="-122"/>
                <a:cs typeface="Bookman Old Style" pitchFamily="34" charset="-120"/>
              </a:rPr>
              <a:t>Newsroom mini-build</a:t>
            </a:r>
            <a:endParaRPr lang="en-US" sz="3000" dirty="0"/>
          </a:p>
        </p:txBody>
      </p:sp>
      <p:sp>
        <p:nvSpPr>
          <p:cNvPr id="4" name="Shape 2"/>
          <p:cNvSpPr/>
          <p:nvPr/>
        </p:nvSpPr>
        <p:spPr>
          <a:xfrm>
            <a:off x="6720840" y="548640"/>
            <a:ext cx="1920240" cy="457200"/>
          </a:xfrm>
          <a:prstGeom prst="roundRect">
            <a:avLst>
              <a:gd name="adj" fmla="val 50000"/>
            </a:avLst>
          </a:prstGeom>
          <a:solidFill>
            <a:srgbClr val="23262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6858000" y="658368"/>
            <a:ext cx="237744" cy="237744"/>
          </a:xfrm>
          <a:prstGeom prst="rect">
            <a:avLst/>
          </a:prstGeom>
        </p:spPr>
      </p:pic>
      <p:sp>
        <p:nvSpPr>
          <p:cNvPr id="6" name="Text 3"/>
          <p:cNvSpPr/>
          <p:nvPr/>
        </p:nvSpPr>
        <p:spPr>
          <a:xfrm>
            <a:off x="7150608" y="548640"/>
            <a:ext cx="14173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With your neighbor</a:t>
            </a:r>
            <a:endParaRPr lang="en-US" sz="1050" dirty="0"/>
          </a:p>
        </p:txBody>
      </p:sp>
      <p:sp>
        <p:nvSpPr>
          <p:cNvPr id="7" name="Shape 4"/>
          <p:cNvSpPr/>
          <p:nvPr/>
        </p:nvSpPr>
        <p:spPr>
          <a:xfrm>
            <a:off x="6720840" y="1078992"/>
            <a:ext cx="1920240" cy="384048"/>
          </a:xfrm>
          <a:prstGeom prst="roundRect">
            <a:avLst>
              <a:gd name="adj" fmla="val 50000"/>
            </a:avLst>
          </a:prstGeom>
          <a:solidFill>
            <a:srgbClr val="E0A020"/>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6858000" y="1161288"/>
            <a:ext cx="219456" cy="219456"/>
          </a:xfrm>
          <a:prstGeom prst="rect">
            <a:avLst/>
          </a:prstGeom>
        </p:spPr>
      </p:pic>
      <p:sp>
        <p:nvSpPr>
          <p:cNvPr id="9" name="Text 5"/>
          <p:cNvSpPr/>
          <p:nvPr/>
        </p:nvSpPr>
        <p:spPr>
          <a:xfrm>
            <a:off x="7132320" y="1078992"/>
            <a:ext cx="1463040" cy="384048"/>
          </a:xfrm>
          <a:prstGeom prst="rect">
            <a:avLst/>
          </a:prstGeom>
          <a:noFill/>
          <a:ln/>
        </p:spPr>
        <p:txBody>
          <a:bodyPr wrap="square" lIns="0" tIns="0" rIns="0" bIns="0" rtlCol="0" anchor="ctr"/>
          <a:lstStyle/>
          <a:p>
            <a:pPr marL="0" indent="0">
              <a:buNone/>
            </a:pPr>
            <a:r>
              <a:rPr lang="en-US" sz="1100" b="1" dirty="0">
                <a:solidFill>
                  <a:srgbClr val="16181D"/>
                </a:solidFill>
                <a:latin typeface="Calibri" pitchFamily="34" charset="0"/>
                <a:ea typeface="Calibri" pitchFamily="34" charset="-122"/>
                <a:cs typeface="Calibri" pitchFamily="34" charset="-120"/>
              </a:rPr>
              <a:t>55 min</a:t>
            </a:r>
            <a:endParaRPr lang="en-US" sz="1100" dirty="0"/>
          </a:p>
        </p:txBody>
      </p:sp>
      <p:sp>
        <p:nvSpPr>
          <p:cNvPr id="10" name="Text 6"/>
          <p:cNvSpPr/>
          <p:nvPr/>
        </p:nvSpPr>
        <p:spPr>
          <a:xfrm>
            <a:off x="502920" y="1664208"/>
            <a:ext cx="8138160" cy="502920"/>
          </a:xfrm>
          <a:prstGeom prst="rect">
            <a:avLst/>
          </a:prstGeom>
          <a:noFill/>
          <a:ln/>
        </p:spPr>
        <p:txBody>
          <a:bodyPr wrap="square" lIns="0" tIns="0" rIns="0" bIns="0" rtlCol="0" anchor="ctr"/>
          <a:lstStyle/>
          <a:p>
            <a:pPr marL="0" indent="0">
              <a:lnSpc>
                <a:spcPct val="100000"/>
              </a:lnSpc>
              <a:buNone/>
            </a:pPr>
            <a:r>
              <a:rPr lang="en-US" sz="1450" b="1" dirty="0">
                <a:solidFill>
                  <a:srgbClr val="E0A020"/>
                </a:solidFill>
                <a:latin typeface="Calibri" pitchFamily="34" charset="0"/>
                <a:ea typeface="Calibri" pitchFamily="34" charset="-122"/>
                <a:cs typeface="Calibri" pitchFamily="34" charset="-120"/>
              </a:rPr>
              <a:t>Your task:  </a:t>
            </a:r>
            <a:r>
              <a:rPr lang="en-US" sz="1450" i="1" dirty="0">
                <a:solidFill>
                  <a:srgbClr val="E9EAEC"/>
                </a:solidFill>
                <a:latin typeface="Calibri" pitchFamily="34" charset="0"/>
                <a:ea typeface="Calibri" pitchFamily="34" charset="-122"/>
                <a:cs typeface="Calibri" pitchFamily="34" charset="-120"/>
              </a:rPr>
              <a:t>Pick one of the three pages and build a real, styled version with your partner — then show it off.</a:t>
            </a:r>
            <a:endParaRPr lang="en-US" sz="1450" dirty="0"/>
          </a:p>
        </p:txBody>
      </p:sp>
      <p:sp>
        <p:nvSpPr>
          <p:cNvPr id="11" name="Shape 7"/>
          <p:cNvSpPr/>
          <p:nvPr/>
        </p:nvSpPr>
        <p:spPr>
          <a:xfrm>
            <a:off x="502920" y="2286000"/>
            <a:ext cx="8138160" cy="1965960"/>
          </a:xfrm>
          <a:prstGeom prst="roundRect">
            <a:avLst>
              <a:gd name="adj" fmla="val 3721"/>
            </a:avLst>
          </a:prstGeom>
          <a:solidFill>
            <a:srgbClr val="23262F"/>
          </a:solidFill>
          <a:ln/>
        </p:spPr>
        <p:txBody>
          <a:bodyPr/>
          <a:lstStyle/>
          <a:p>
            <a:endParaRPr lang="en-US"/>
          </a:p>
        </p:txBody>
      </p:sp>
      <p:sp>
        <p:nvSpPr>
          <p:cNvPr id="12" name="Text 8"/>
          <p:cNvSpPr/>
          <p:nvPr/>
        </p:nvSpPr>
        <p:spPr>
          <a:xfrm>
            <a:off x="777240" y="2432304"/>
            <a:ext cx="2743200" cy="256032"/>
          </a:xfrm>
          <a:prstGeom prst="rect">
            <a:avLst/>
          </a:prstGeom>
          <a:noFill/>
          <a:ln/>
        </p:spPr>
        <p:txBody>
          <a:bodyPr wrap="square" lIns="0" tIns="0" rIns="0" bIns="0" rtlCol="0" anchor="ctr"/>
          <a:lstStyle/>
          <a:p>
            <a:pPr marL="0" indent="0">
              <a:buNone/>
            </a:pPr>
            <a:r>
              <a:rPr lang="en-US" sz="1100" b="1" kern="0" spc="200" dirty="0">
                <a:solidFill>
                  <a:srgbClr val="E0A020"/>
                </a:solidFill>
                <a:latin typeface="Calibri" pitchFamily="34" charset="0"/>
                <a:ea typeface="Calibri" pitchFamily="34" charset="-122"/>
                <a:cs typeface="Calibri" pitchFamily="34" charset="-120"/>
              </a:rPr>
              <a:t>STEPS</a:t>
            </a:r>
            <a:endParaRPr lang="en-US" sz="1100" dirty="0"/>
          </a:p>
        </p:txBody>
      </p:sp>
      <p:sp>
        <p:nvSpPr>
          <p:cNvPr id="13" name="Text 9"/>
          <p:cNvSpPr/>
          <p:nvPr/>
        </p:nvSpPr>
        <p:spPr>
          <a:xfrm>
            <a:off x="777240" y="27614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1</a:t>
            </a:r>
            <a:endParaRPr lang="en-US" sz="1300" dirty="0"/>
          </a:p>
        </p:txBody>
      </p:sp>
      <p:sp>
        <p:nvSpPr>
          <p:cNvPr id="14" name="Text 10"/>
          <p:cNvSpPr/>
          <p:nvPr/>
        </p:nvSpPr>
        <p:spPr>
          <a:xfrm>
            <a:off x="1088136" y="27340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Choose: story card, data callout, or “reach me” page.</a:t>
            </a:r>
            <a:endParaRPr lang="en-US" sz="1200" dirty="0"/>
          </a:p>
        </p:txBody>
      </p:sp>
      <p:sp>
        <p:nvSpPr>
          <p:cNvPr id="15" name="Text 11"/>
          <p:cNvSpPr/>
          <p:nvPr/>
        </p:nvSpPr>
        <p:spPr>
          <a:xfrm>
            <a:off x="777240" y="32186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2</a:t>
            </a:r>
            <a:endParaRPr lang="en-US" sz="1300" dirty="0"/>
          </a:p>
        </p:txBody>
      </p:sp>
      <p:sp>
        <p:nvSpPr>
          <p:cNvPr id="16" name="Text 12"/>
          <p:cNvSpPr/>
          <p:nvPr/>
        </p:nvSpPr>
        <p:spPr>
          <a:xfrm>
            <a:off x="1088136" y="31912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Start a fresh file; sketch the structure in HTML first.</a:t>
            </a:r>
            <a:endParaRPr lang="en-US" sz="1200" dirty="0"/>
          </a:p>
        </p:txBody>
      </p:sp>
      <p:sp>
        <p:nvSpPr>
          <p:cNvPr id="17" name="Text 13"/>
          <p:cNvSpPr/>
          <p:nvPr/>
        </p:nvSpPr>
        <p:spPr>
          <a:xfrm>
            <a:off x="777240" y="36758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3</a:t>
            </a:r>
            <a:endParaRPr lang="en-US" sz="1300" dirty="0"/>
          </a:p>
        </p:txBody>
      </p:sp>
      <p:sp>
        <p:nvSpPr>
          <p:cNvPr id="18" name="Text 14"/>
          <p:cNvSpPr/>
          <p:nvPr/>
        </p:nvSpPr>
        <p:spPr>
          <a:xfrm>
            <a:off x="1088136" y="36484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Style it with CSS until it looks intentional.</a:t>
            </a:r>
            <a:endParaRPr lang="en-US" sz="1200" dirty="0"/>
          </a:p>
        </p:txBody>
      </p:sp>
      <p:sp>
        <p:nvSpPr>
          <p:cNvPr id="19" name="Text 15"/>
          <p:cNvSpPr/>
          <p:nvPr/>
        </p:nvSpPr>
        <p:spPr>
          <a:xfrm>
            <a:off x="4754880" y="27614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4</a:t>
            </a:r>
            <a:endParaRPr lang="en-US" sz="1300" dirty="0"/>
          </a:p>
        </p:txBody>
      </p:sp>
      <p:sp>
        <p:nvSpPr>
          <p:cNvPr id="20" name="Text 16"/>
          <p:cNvSpPr/>
          <p:nvPr/>
        </p:nvSpPr>
        <p:spPr>
          <a:xfrm>
            <a:off x="5065776" y="27340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Use a real (public) detail from your own beat if you can.</a:t>
            </a:r>
            <a:endParaRPr lang="en-US" sz="1200" dirty="0"/>
          </a:p>
        </p:txBody>
      </p:sp>
      <p:sp>
        <p:nvSpPr>
          <p:cNvPr id="21" name="Text 17"/>
          <p:cNvSpPr/>
          <p:nvPr/>
        </p:nvSpPr>
        <p:spPr>
          <a:xfrm>
            <a:off x="4754880" y="32186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5</a:t>
            </a:r>
            <a:endParaRPr lang="en-US" sz="1300" dirty="0"/>
          </a:p>
        </p:txBody>
      </p:sp>
      <p:sp>
        <p:nvSpPr>
          <p:cNvPr id="22" name="Text 18"/>
          <p:cNvSpPr/>
          <p:nvPr/>
        </p:nvSpPr>
        <p:spPr>
          <a:xfrm>
            <a:off x="5065776" y="31912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Pair up with another team and discuss.</a:t>
            </a:r>
            <a:endParaRPr lang="en-US" sz="1200" dirty="0"/>
          </a:p>
        </p:txBody>
      </p:sp>
      <p:sp>
        <p:nvSpPr>
          <p:cNvPr id="23" name="Text 19"/>
          <p:cNvSpPr/>
          <p:nvPr/>
        </p:nvSpPr>
        <p:spPr>
          <a:xfrm>
            <a:off x="4754880" y="3675888"/>
            <a:ext cx="274320" cy="274320"/>
          </a:xfrm>
          <a:prstGeom prst="rect">
            <a:avLst/>
          </a:prstGeom>
          <a:noFill/>
          <a:ln/>
        </p:spPr>
        <p:txBody>
          <a:bodyPr wrap="square" lIns="0" tIns="0" rIns="0" bIns="0" rtlCol="0" anchor="ctr"/>
          <a:lstStyle/>
          <a:p>
            <a:pPr marL="0" indent="0">
              <a:buNone/>
            </a:pPr>
            <a:r>
              <a:rPr lang="en-US" sz="1300" b="1" dirty="0">
                <a:solidFill>
                  <a:srgbClr val="E0A020"/>
                </a:solidFill>
                <a:latin typeface="Bookman Old Style" pitchFamily="34" charset="0"/>
                <a:ea typeface="Bookman Old Style" pitchFamily="34" charset="-122"/>
                <a:cs typeface="Bookman Old Style" pitchFamily="34" charset="-120"/>
              </a:rPr>
              <a:t>6</a:t>
            </a:r>
            <a:endParaRPr lang="en-US" sz="1300" dirty="0"/>
          </a:p>
        </p:txBody>
      </p:sp>
      <p:sp>
        <p:nvSpPr>
          <p:cNvPr id="24" name="Text 20"/>
          <p:cNvSpPr/>
          <p:nvPr/>
        </p:nvSpPr>
        <p:spPr>
          <a:xfrm>
            <a:off x="5065776" y="3648456"/>
            <a:ext cx="3429000" cy="457200"/>
          </a:xfrm>
          <a:prstGeom prst="rect">
            <a:avLst/>
          </a:prstGeom>
          <a:noFill/>
          <a:ln/>
        </p:spPr>
        <p:txBody>
          <a:bodyPr wrap="square" lIns="0" tIns="0" rIns="0" bIns="0" rtlCol="0" anchor="t"/>
          <a:lstStyle/>
          <a:p>
            <a:pPr marL="0" indent="0">
              <a:lnSpc>
                <a:spcPct val="96000"/>
              </a:lnSpc>
              <a:buNone/>
            </a:pPr>
            <a:r>
              <a:rPr lang="en-US" sz="1200" dirty="0">
                <a:solidFill>
                  <a:srgbClr val="E9EAEC"/>
                </a:solidFill>
                <a:latin typeface="Calibri" pitchFamily="34" charset="0"/>
                <a:ea typeface="Calibri" pitchFamily="34" charset="-122"/>
                <a:cs typeface="Calibri" pitchFamily="34" charset="-120"/>
              </a:rPr>
              <a:t>Give each other one thing that works, one to improve.</a:t>
            </a:r>
            <a:endParaRPr lang="en-US" sz="1200" dirty="0"/>
          </a:p>
        </p:txBody>
      </p:sp>
      <p:sp>
        <p:nvSpPr>
          <p:cNvPr id="25" name="Shape 21"/>
          <p:cNvSpPr/>
          <p:nvPr/>
        </p:nvSpPr>
        <p:spPr>
          <a:xfrm>
            <a:off x="502920" y="4370832"/>
            <a:ext cx="8138160" cy="548640"/>
          </a:xfrm>
          <a:prstGeom prst="roundRect">
            <a:avLst>
              <a:gd name="adj" fmla="val 11667"/>
            </a:avLst>
          </a:prstGeom>
          <a:solidFill>
            <a:srgbClr val="FBF2DC"/>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722376" y="4507992"/>
            <a:ext cx="256032" cy="256032"/>
          </a:xfrm>
          <a:prstGeom prst="rect">
            <a:avLst/>
          </a:prstGeom>
        </p:spPr>
      </p:pic>
      <p:sp>
        <p:nvSpPr>
          <p:cNvPr id="27" name="Text 22"/>
          <p:cNvSpPr/>
          <p:nvPr/>
        </p:nvSpPr>
        <p:spPr>
          <a:xfrm>
            <a:off x="1069848" y="4370832"/>
            <a:ext cx="7406640" cy="548640"/>
          </a:xfrm>
          <a:prstGeom prst="rect">
            <a:avLst/>
          </a:prstGeom>
          <a:noFill/>
          <a:ln/>
        </p:spPr>
        <p:txBody>
          <a:bodyPr wrap="square" lIns="0" tIns="0" rIns="0" bIns="0" rtlCol="0" anchor="ctr"/>
          <a:lstStyle/>
          <a:p>
            <a:pPr marL="0" indent="0">
              <a:buNone/>
            </a:pPr>
            <a:r>
              <a:rPr lang="en-US" sz="1250" b="1" dirty="0">
                <a:solidFill>
                  <a:srgbClr val="AC7708"/>
                </a:solidFill>
                <a:latin typeface="Calibri" pitchFamily="34" charset="0"/>
                <a:ea typeface="Calibri" pitchFamily="34" charset="-122"/>
                <a:cs typeface="Calibri" pitchFamily="34" charset="-120"/>
              </a:rPr>
              <a:t>Stretch goal:  </a:t>
            </a:r>
            <a:r>
              <a:rPr lang="en-US" sz="1250" dirty="0">
                <a:solidFill>
                  <a:srgbClr val="353A45"/>
                </a:solidFill>
                <a:latin typeface="Calibri" pitchFamily="34" charset="0"/>
                <a:ea typeface="Calibri" pitchFamily="34" charset="-122"/>
                <a:cs typeface="Calibri" pitchFamily="34" charset="-120"/>
              </a:rPr>
              <a:t>Add a second styled section (a sub-headline, a list, or a caption) so the page has real structure, not just one block.</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marL="0" indent="0">
              <a:buNone/>
            </a:pPr>
            <a:r>
              <a:rPr lang="en-US" sz="1250" b="1" kern="0" spc="300" dirty="0">
                <a:solidFill>
                  <a:srgbClr val="AC7708"/>
                </a:solidFill>
                <a:latin typeface="Calibri" pitchFamily="34" charset="0"/>
                <a:ea typeface="Calibri" pitchFamily="34" charset="-122"/>
                <a:cs typeface="Calibri" pitchFamily="34" charset="-120"/>
              </a:rPr>
              <a:t>LOOK HOW FAR YOU CAME</a:t>
            </a:r>
            <a:endParaRPr lang="en-US" sz="1250" dirty="0"/>
          </a:p>
        </p:txBody>
      </p:sp>
      <p:sp>
        <p:nvSpPr>
          <p:cNvPr id="3" name="Text 1"/>
          <p:cNvSpPr/>
          <p:nvPr/>
        </p:nvSpPr>
        <p:spPr>
          <a:xfrm>
            <a:off x="502920" y="658368"/>
            <a:ext cx="8138160" cy="822960"/>
          </a:xfrm>
          <a:prstGeom prst="rect">
            <a:avLst/>
          </a:prstGeom>
          <a:noFill/>
          <a:ln/>
        </p:spPr>
        <p:txBody>
          <a:bodyPr wrap="square" lIns="0" tIns="0" rIns="0" bIns="0" rtlCol="0" anchor="ctr"/>
          <a:lstStyle/>
          <a:p>
            <a:pPr marL="0" indent="0">
              <a:lnSpc>
                <a:spcPct val="98000"/>
              </a:lnSpc>
              <a:buNone/>
            </a:pPr>
            <a:r>
              <a:rPr lang="en-US" sz="3300" b="1" dirty="0">
                <a:solidFill>
                  <a:srgbClr val="16181D"/>
                </a:solidFill>
                <a:latin typeface="Bookman Old Style" pitchFamily="34" charset="0"/>
                <a:ea typeface="Bookman Old Style" pitchFamily="34" charset="-122"/>
                <a:cs typeface="Bookman Old Style" pitchFamily="34" charset="-120"/>
              </a:rPr>
              <a:t>What you can do now</a:t>
            </a:r>
            <a:endParaRPr lang="en-US" sz="3300" dirty="0"/>
          </a:p>
        </p:txBody>
      </p:sp>
      <p:sp>
        <p:nvSpPr>
          <p:cNvPr id="4" name="Shape 2"/>
          <p:cNvSpPr/>
          <p:nvPr/>
        </p:nvSpPr>
        <p:spPr>
          <a:xfrm>
            <a:off x="548640" y="1783080"/>
            <a:ext cx="457200" cy="45720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667512" y="1901952"/>
            <a:ext cx="219456" cy="219456"/>
          </a:xfrm>
          <a:prstGeom prst="rect">
            <a:avLst/>
          </a:prstGeom>
        </p:spPr>
      </p:pic>
      <p:sp>
        <p:nvSpPr>
          <p:cNvPr id="6" name="Text 3"/>
          <p:cNvSpPr/>
          <p:nvPr/>
        </p:nvSpPr>
        <p:spPr>
          <a:xfrm>
            <a:off x="1124712" y="1737360"/>
            <a:ext cx="3977640" cy="548640"/>
          </a:xfrm>
          <a:prstGeom prst="rect">
            <a:avLst/>
          </a:prstGeom>
          <a:noFill/>
          <a:ln/>
        </p:spPr>
        <p:txBody>
          <a:bodyPr wrap="square" lIns="0" tIns="0" rIns="0" bIns="0" rtlCol="0" anchor="ctr"/>
          <a:lstStyle/>
          <a:p>
            <a:pPr marL="0" indent="0">
              <a:lnSpc>
                <a:spcPct val="100000"/>
              </a:lnSpc>
              <a:buNone/>
            </a:pPr>
            <a:r>
              <a:rPr lang="en-US" sz="1300" b="1" dirty="0">
                <a:solidFill>
                  <a:srgbClr val="16181D"/>
                </a:solidFill>
                <a:latin typeface="Calibri" pitchFamily="34" charset="0"/>
                <a:ea typeface="Calibri" pitchFamily="34" charset="-122"/>
                <a:cs typeface="Calibri" pitchFamily="34" charset="-120"/>
              </a:rPr>
              <a:t>Read the web  </a:t>
            </a:r>
            <a:r>
              <a:rPr lang="en-US" sz="1300" dirty="0">
                <a:solidFill>
                  <a:srgbClr val="353A45"/>
                </a:solidFill>
                <a:latin typeface="Calibri" pitchFamily="34" charset="0"/>
                <a:ea typeface="Calibri" pitchFamily="34" charset="-122"/>
                <a:cs typeface="Calibri" pitchFamily="34" charset="-120"/>
              </a:rPr>
              <a:t>Open any page and see the HTML underneath.</a:t>
            </a:r>
            <a:endParaRPr lang="en-US" sz="1300" dirty="0"/>
          </a:p>
        </p:txBody>
      </p:sp>
      <p:sp>
        <p:nvSpPr>
          <p:cNvPr id="7" name="Shape 4"/>
          <p:cNvSpPr/>
          <p:nvPr/>
        </p:nvSpPr>
        <p:spPr>
          <a:xfrm>
            <a:off x="548640" y="2441448"/>
            <a:ext cx="457200" cy="45720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8" name="Image 1" descr="preencoded.png"/>
          <p:cNvPicPr>
            <a:picLocks noChangeAspect="1"/>
          </p:cNvPicPr>
          <p:nvPr/>
        </p:nvPicPr>
        <p:blipFill>
          <a:blip r:embed="rId4"/>
          <a:stretch>
            <a:fillRect/>
          </a:stretch>
        </p:blipFill>
        <p:spPr>
          <a:xfrm>
            <a:off x="667512" y="2560320"/>
            <a:ext cx="219456" cy="219456"/>
          </a:xfrm>
          <a:prstGeom prst="rect">
            <a:avLst/>
          </a:prstGeom>
        </p:spPr>
      </p:pic>
      <p:sp>
        <p:nvSpPr>
          <p:cNvPr id="9" name="Text 5"/>
          <p:cNvSpPr/>
          <p:nvPr/>
        </p:nvSpPr>
        <p:spPr>
          <a:xfrm>
            <a:off x="1124712" y="2395728"/>
            <a:ext cx="3977640" cy="548640"/>
          </a:xfrm>
          <a:prstGeom prst="rect">
            <a:avLst/>
          </a:prstGeom>
          <a:noFill/>
          <a:ln/>
        </p:spPr>
        <p:txBody>
          <a:bodyPr wrap="square" lIns="0" tIns="0" rIns="0" bIns="0" rtlCol="0" anchor="ctr"/>
          <a:lstStyle/>
          <a:p>
            <a:pPr marL="0" indent="0">
              <a:lnSpc>
                <a:spcPct val="100000"/>
              </a:lnSpc>
              <a:buNone/>
            </a:pPr>
            <a:r>
              <a:rPr lang="en-US" sz="1300" b="1" dirty="0">
                <a:solidFill>
                  <a:srgbClr val="16181D"/>
                </a:solidFill>
                <a:latin typeface="Calibri" pitchFamily="34" charset="0"/>
                <a:ea typeface="Calibri" pitchFamily="34" charset="-122"/>
                <a:cs typeface="Calibri" pitchFamily="34" charset="-120"/>
              </a:rPr>
              <a:t>Structure with HTML  </a:t>
            </a:r>
            <a:r>
              <a:rPr lang="en-US" sz="1300" dirty="0">
                <a:solidFill>
                  <a:srgbClr val="353A45"/>
                </a:solidFill>
                <a:latin typeface="Calibri" pitchFamily="34" charset="0"/>
                <a:ea typeface="Calibri" pitchFamily="34" charset="-122"/>
                <a:cs typeface="Calibri" pitchFamily="34" charset="-120"/>
              </a:rPr>
              <a:t>Lay out a page with headlines, text, images, links.</a:t>
            </a:r>
            <a:endParaRPr lang="en-US" sz="1300" dirty="0"/>
          </a:p>
        </p:txBody>
      </p:sp>
      <p:sp>
        <p:nvSpPr>
          <p:cNvPr id="10" name="Shape 6"/>
          <p:cNvSpPr/>
          <p:nvPr/>
        </p:nvSpPr>
        <p:spPr>
          <a:xfrm>
            <a:off x="548640" y="3099816"/>
            <a:ext cx="457200" cy="45720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11" name="Image 2" descr="preencoded.png"/>
          <p:cNvPicPr>
            <a:picLocks noChangeAspect="1"/>
          </p:cNvPicPr>
          <p:nvPr/>
        </p:nvPicPr>
        <p:blipFill>
          <a:blip r:embed="rId5"/>
          <a:stretch>
            <a:fillRect/>
          </a:stretch>
        </p:blipFill>
        <p:spPr>
          <a:xfrm>
            <a:off x="667512" y="3218688"/>
            <a:ext cx="219456" cy="219456"/>
          </a:xfrm>
          <a:prstGeom prst="rect">
            <a:avLst/>
          </a:prstGeom>
        </p:spPr>
      </p:pic>
      <p:sp>
        <p:nvSpPr>
          <p:cNvPr id="12" name="Text 7"/>
          <p:cNvSpPr/>
          <p:nvPr/>
        </p:nvSpPr>
        <p:spPr>
          <a:xfrm>
            <a:off x="1124712" y="3054096"/>
            <a:ext cx="3977640" cy="548640"/>
          </a:xfrm>
          <a:prstGeom prst="rect">
            <a:avLst/>
          </a:prstGeom>
          <a:noFill/>
          <a:ln/>
        </p:spPr>
        <p:txBody>
          <a:bodyPr wrap="square" lIns="0" tIns="0" rIns="0" bIns="0" rtlCol="0" anchor="ctr"/>
          <a:lstStyle/>
          <a:p>
            <a:pPr marL="0" indent="0">
              <a:lnSpc>
                <a:spcPct val="100000"/>
              </a:lnSpc>
              <a:buNone/>
            </a:pPr>
            <a:r>
              <a:rPr lang="en-US" sz="1300" b="1" dirty="0">
                <a:solidFill>
                  <a:srgbClr val="16181D"/>
                </a:solidFill>
                <a:latin typeface="Calibri" pitchFamily="34" charset="0"/>
                <a:ea typeface="Calibri" pitchFamily="34" charset="-122"/>
                <a:cs typeface="Calibri" pitchFamily="34" charset="-120"/>
              </a:rPr>
              <a:t>Style with CSS  </a:t>
            </a:r>
            <a:r>
              <a:rPr lang="en-US" sz="1300" dirty="0">
                <a:solidFill>
                  <a:srgbClr val="353A45"/>
                </a:solidFill>
                <a:latin typeface="Calibri" pitchFamily="34" charset="0"/>
                <a:ea typeface="Calibri" pitchFamily="34" charset="-122"/>
                <a:cs typeface="Calibri" pitchFamily="34" charset="-120"/>
              </a:rPr>
              <a:t>Control color, type, spacing, and layout.</a:t>
            </a:r>
            <a:endParaRPr lang="en-US" sz="1300" dirty="0"/>
          </a:p>
        </p:txBody>
      </p:sp>
      <p:sp>
        <p:nvSpPr>
          <p:cNvPr id="13" name="Shape 8"/>
          <p:cNvSpPr/>
          <p:nvPr/>
        </p:nvSpPr>
        <p:spPr>
          <a:xfrm>
            <a:off x="5074920" y="1691640"/>
            <a:ext cx="3566160" cy="2880360"/>
          </a:xfrm>
          <a:prstGeom prst="roundRect">
            <a:avLst>
              <a:gd name="adj" fmla="val 3175"/>
            </a:avLst>
          </a:prstGeom>
          <a:solidFill>
            <a:srgbClr val="16181D"/>
          </a:solidFill>
          <a:ln/>
          <a:effectLst>
            <a:outerShdw blurRad="88900" dist="38100" dir="5400000" algn="bl" rotWithShape="0">
              <a:srgbClr val="000000">
                <a:alpha val="10000"/>
              </a:srgbClr>
            </a:outerShdw>
          </a:effectLst>
        </p:spPr>
        <p:txBody>
          <a:bodyPr/>
          <a:lstStyle/>
          <a:p>
            <a:endParaRPr lang="en-US"/>
          </a:p>
        </p:txBody>
      </p:sp>
      <p:sp>
        <p:nvSpPr>
          <p:cNvPr id="14" name="Shape 9"/>
          <p:cNvSpPr/>
          <p:nvPr/>
        </p:nvSpPr>
        <p:spPr>
          <a:xfrm>
            <a:off x="5330952" y="1929384"/>
            <a:ext cx="548640" cy="548640"/>
          </a:xfrm>
          <a:prstGeom prst="ellipse">
            <a:avLst/>
          </a:prstGeom>
          <a:solidFill>
            <a:srgbClr val="23262F"/>
          </a:solidFill>
          <a:ln/>
          <a:effectLst>
            <a:outerShdw blurRad="88900" dist="38100" dir="5400000" algn="bl" rotWithShape="0">
              <a:srgbClr val="000000">
                <a:alpha val="10000"/>
              </a:srgbClr>
            </a:outerShdw>
          </a:effectLst>
        </p:spPr>
        <p:txBody>
          <a:bodyPr/>
          <a:lstStyle/>
          <a:p>
            <a:endParaRPr lang="en-US"/>
          </a:p>
        </p:txBody>
      </p:sp>
      <p:pic>
        <p:nvPicPr>
          <p:cNvPr id="15" name="Image 3" descr="preencoded.png"/>
          <p:cNvPicPr>
            <a:picLocks noChangeAspect="1"/>
          </p:cNvPicPr>
          <p:nvPr/>
        </p:nvPicPr>
        <p:blipFill>
          <a:blip r:embed="rId6"/>
          <a:stretch>
            <a:fillRect/>
          </a:stretch>
        </p:blipFill>
        <p:spPr>
          <a:xfrm>
            <a:off x="5473598" y="2072030"/>
            <a:ext cx="263347" cy="263347"/>
          </a:xfrm>
          <a:prstGeom prst="rect">
            <a:avLst/>
          </a:prstGeom>
        </p:spPr>
      </p:pic>
      <p:sp>
        <p:nvSpPr>
          <p:cNvPr id="16" name="Text 10"/>
          <p:cNvSpPr/>
          <p:nvPr/>
        </p:nvSpPr>
        <p:spPr>
          <a:xfrm>
            <a:off x="5989320" y="1965960"/>
            <a:ext cx="2560320" cy="274320"/>
          </a:xfrm>
          <a:prstGeom prst="rect">
            <a:avLst/>
          </a:prstGeom>
          <a:noFill/>
          <a:ln/>
        </p:spPr>
        <p:txBody>
          <a:bodyPr wrap="square" lIns="0" tIns="0" rIns="0" bIns="0" rtlCol="0" anchor="ctr"/>
          <a:lstStyle/>
          <a:p>
            <a:pPr marL="0" indent="0">
              <a:buNone/>
            </a:pPr>
            <a:r>
              <a:rPr lang="en-US" sz="1200" b="1" kern="0" spc="200" dirty="0">
                <a:solidFill>
                  <a:srgbClr val="E0A020"/>
                </a:solidFill>
                <a:latin typeface="Calibri" pitchFamily="34" charset="0"/>
                <a:ea typeface="Calibri" pitchFamily="34" charset="-122"/>
                <a:cs typeface="Calibri" pitchFamily="34" charset="-120"/>
              </a:rPr>
              <a:t>TOMORROW · DAY 5</a:t>
            </a:r>
            <a:endParaRPr lang="en-US" sz="1200" dirty="0"/>
          </a:p>
        </p:txBody>
      </p:sp>
      <p:sp>
        <p:nvSpPr>
          <p:cNvPr id="17" name="Text 11"/>
          <p:cNvSpPr/>
          <p:nvPr/>
        </p:nvSpPr>
        <p:spPr>
          <a:xfrm>
            <a:off x="5349240" y="2606040"/>
            <a:ext cx="3017520" cy="457200"/>
          </a:xfrm>
          <a:prstGeom prst="rect">
            <a:avLst/>
          </a:prstGeom>
          <a:noFill/>
          <a:ln/>
        </p:spPr>
        <p:txBody>
          <a:bodyPr wrap="square" lIns="0" tIns="0" rIns="0" bIns="0" rtlCol="0" anchor="ctr"/>
          <a:lstStyle/>
          <a:p>
            <a:pPr marL="0" indent="0">
              <a:buNone/>
            </a:pPr>
            <a:r>
              <a:rPr lang="en-US" sz="1800" b="1" dirty="0">
                <a:solidFill>
                  <a:srgbClr val="FFFFFF"/>
                </a:solidFill>
                <a:latin typeface="Bookman Old Style" pitchFamily="34" charset="0"/>
                <a:ea typeface="Bookman Old Style" pitchFamily="34" charset="-122"/>
                <a:cs typeface="Bookman Old Style" pitchFamily="34" charset="-120"/>
              </a:rPr>
              <a:t>Build faster with Claude</a:t>
            </a:r>
            <a:endParaRPr lang="en-US" sz="1800" dirty="0"/>
          </a:p>
        </p:txBody>
      </p:sp>
      <p:sp>
        <p:nvSpPr>
          <p:cNvPr id="18" name="Text 12"/>
          <p:cNvSpPr/>
          <p:nvPr/>
        </p:nvSpPr>
        <p:spPr>
          <a:xfrm>
            <a:off x="5385816" y="3108960"/>
            <a:ext cx="2999232" cy="12801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E9EAEC"/>
                </a:solidFill>
                <a:latin typeface="Calibri" pitchFamily="34" charset="0"/>
                <a:ea typeface="Calibri" pitchFamily="34" charset="-122"/>
                <a:cs typeface="Calibri" pitchFamily="34" charset="-120"/>
              </a:rPr>
              <a:t>Direct Claude to summarize pages for you.</a:t>
            </a:r>
            <a:endParaRPr lang="en-US" sz="1250" dirty="0"/>
          </a:p>
          <a:p>
            <a:pPr marL="342900" indent="-342900">
              <a:spcAft>
                <a:spcPts val="800"/>
              </a:spcAft>
              <a:buSzPct val="100000"/>
              <a:buChar char="•"/>
            </a:pPr>
            <a:r>
              <a:rPr lang="en-US" sz="1250" dirty="0">
                <a:solidFill>
                  <a:srgbClr val="E9EAEC"/>
                </a:solidFill>
                <a:latin typeface="Calibri" pitchFamily="34" charset="0"/>
                <a:ea typeface="Calibri" pitchFamily="34" charset="-122"/>
                <a:cs typeface="Calibri" pitchFamily="34" charset="-120"/>
              </a:rPr>
              <a:t>Read every line — today made you able to.</a:t>
            </a:r>
            <a:endParaRPr lang="en-US" sz="1250" dirty="0"/>
          </a:p>
          <a:p>
            <a:pPr marL="342900" indent="-342900">
              <a:spcAft>
                <a:spcPts val="800"/>
              </a:spcAft>
              <a:buSzPct val="100000"/>
              <a:buChar char="•"/>
            </a:pPr>
            <a:r>
              <a:rPr lang="en-US" sz="1250" dirty="0">
                <a:solidFill>
                  <a:srgbClr val="E9EAEC"/>
                </a:solidFill>
                <a:latin typeface="Calibri" pitchFamily="34" charset="0"/>
                <a:ea typeface="Calibri" pitchFamily="34" charset="-122"/>
                <a:cs typeface="Calibri" pitchFamily="34" charset="-120"/>
              </a:rPr>
              <a:t>Publish to a real, live URL.</a:t>
            </a:r>
            <a:endParaRPr lang="en-US" sz="1250" dirty="0"/>
          </a:p>
        </p:txBody>
      </p:sp>
      <p:sp>
        <p:nvSpPr>
          <p:cNvPr id="19" name="Text 13"/>
          <p:cNvSpPr/>
          <p:nvPr/>
        </p:nvSpPr>
        <p:spPr>
          <a:xfrm>
            <a:off x="502920" y="4709160"/>
            <a:ext cx="813816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Calibri" pitchFamily="34" charset="0"/>
                <a:ea typeface="Calibri" pitchFamily="34" charset="-122"/>
                <a:cs typeface="Calibri" pitchFamily="34" charset="-120"/>
              </a:rPr>
              <a:t>Everything tomorrow rests on today. You can only direct — and trust — code you're able to read.</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1417320"/>
            <a:ext cx="640080" cy="640080"/>
          </a:xfrm>
          <a:prstGeom prst="ellipse">
            <a:avLst/>
          </a:prstGeom>
          <a:solidFill>
            <a:srgbClr val="E0A020"/>
          </a:solidFill>
          <a:ln/>
          <a:effectLst>
            <a:outerShdw blurRad="88900" dist="38100" dir="5400000" algn="bl" rotWithShape="0">
              <a:srgbClr val="000000">
                <a:alpha val="10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669341" y="1583741"/>
            <a:ext cx="307238" cy="307238"/>
          </a:xfrm>
          <a:prstGeom prst="rect">
            <a:avLst/>
          </a:prstGeom>
        </p:spPr>
      </p:pic>
      <p:sp>
        <p:nvSpPr>
          <p:cNvPr id="4" name="Text 1"/>
          <p:cNvSpPr/>
          <p:nvPr/>
        </p:nvSpPr>
        <p:spPr>
          <a:xfrm>
            <a:off x="502920" y="2194560"/>
            <a:ext cx="8046720" cy="1371600"/>
          </a:xfrm>
          <a:prstGeom prst="rect">
            <a:avLst/>
          </a:prstGeom>
          <a:noFill/>
          <a:ln/>
        </p:spPr>
        <p:txBody>
          <a:bodyPr wrap="square" lIns="0" tIns="0" rIns="0" bIns="0" rtlCol="0" anchor="ctr"/>
          <a:lstStyle/>
          <a:p>
            <a:pPr marL="0" indent="0">
              <a:lnSpc>
                <a:spcPct val="100000"/>
              </a:lnSpc>
              <a:buNone/>
            </a:pPr>
            <a:r>
              <a:rPr lang="en-US" sz="3400" b="1" dirty="0">
                <a:solidFill>
                  <a:srgbClr val="FFFFFF"/>
                </a:solidFill>
                <a:latin typeface="Bookman Old Style" pitchFamily="34" charset="0"/>
                <a:ea typeface="Bookman Old Style" pitchFamily="34" charset="-122"/>
                <a:cs typeface="Bookman Old Style" pitchFamily="34" charset="-120"/>
              </a:rPr>
              <a:t>You can read and build</a:t>
            </a:r>
            <a:endParaRPr lang="en-US" sz="3400" dirty="0"/>
          </a:p>
          <a:p>
            <a:pPr marL="0" indent="0">
              <a:lnSpc>
                <a:spcPct val="100000"/>
              </a:lnSpc>
              <a:buNone/>
            </a:pPr>
            <a:r>
              <a:rPr lang="en-US" sz="3400" b="1" dirty="0">
                <a:solidFill>
                  <a:srgbClr val="FFFFFF"/>
                </a:solidFill>
                <a:latin typeface="Bookman Old Style" pitchFamily="34" charset="0"/>
                <a:ea typeface="Bookman Old Style" pitchFamily="34" charset="-122"/>
                <a:cs typeface="Bookman Old Style" pitchFamily="34" charset="-120"/>
              </a:rPr>
              <a:t>for the web.</a:t>
            </a:r>
            <a:endParaRPr lang="en-US" sz="3400" dirty="0"/>
          </a:p>
        </p:txBody>
      </p:sp>
      <p:sp>
        <p:nvSpPr>
          <p:cNvPr id="5" name="Text 2"/>
          <p:cNvSpPr/>
          <p:nvPr/>
        </p:nvSpPr>
        <p:spPr>
          <a:xfrm>
            <a:off x="502920" y="3566160"/>
            <a:ext cx="7863840" cy="457200"/>
          </a:xfrm>
          <a:prstGeom prst="rect">
            <a:avLst/>
          </a:prstGeom>
          <a:noFill/>
          <a:ln/>
        </p:spPr>
        <p:txBody>
          <a:bodyPr wrap="square" lIns="0" tIns="0" rIns="0" bIns="0" rtlCol="0" anchor="ctr"/>
          <a:lstStyle/>
          <a:p>
            <a:pPr marL="0" indent="0">
              <a:buNone/>
            </a:pPr>
            <a:r>
              <a:rPr lang="en-US" sz="1700" i="1" dirty="0">
                <a:solidFill>
                  <a:srgbClr val="E0A020"/>
                </a:solidFill>
                <a:latin typeface="Calibri" pitchFamily="34" charset="0"/>
                <a:ea typeface="Calibri" pitchFamily="34" charset="-122"/>
                <a:cs typeface="Calibri" pitchFamily="34" charset="-120"/>
              </a:rPr>
              <a:t>Structure it with HTML.  Style it with CSS.  Ship the file.</a:t>
            </a:r>
            <a:endParaRPr lang="en-US" sz="1700" dirty="0"/>
          </a:p>
        </p:txBody>
      </p:sp>
      <p:sp>
        <p:nvSpPr>
          <p:cNvPr id="6" name="Text 3"/>
          <p:cNvSpPr/>
          <p:nvPr/>
        </p:nvSpPr>
        <p:spPr>
          <a:xfrm>
            <a:off x="502920" y="4297680"/>
            <a:ext cx="7863840" cy="365760"/>
          </a:xfrm>
          <a:prstGeom prst="rect">
            <a:avLst/>
          </a:prstGeom>
          <a:noFill/>
          <a:ln/>
        </p:spPr>
        <p:txBody>
          <a:bodyPr wrap="square" lIns="0" tIns="0" rIns="0" bIns="0" rtlCol="0" anchor="ctr"/>
          <a:lstStyle/>
          <a:p>
            <a:pPr marL="0" indent="0">
              <a:buNone/>
            </a:pPr>
            <a:r>
              <a:rPr lang="en-US" sz="1350" dirty="0">
                <a:solidFill>
                  <a:srgbClr val="AAB0BB"/>
                </a:solidFill>
                <a:latin typeface="Calibri" pitchFamily="34" charset="0"/>
                <a:ea typeface="Calibri" pitchFamily="34" charset="-122"/>
                <a:cs typeface="Calibri" pitchFamily="34" charset="-120"/>
              </a:rPr>
              <a:t>Questions now — and bring your practice page tomorrow for Day 5.</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1358</TotalTime>
  <Words>5440</Words>
  <Application>Microsoft Macintosh PowerPoint</Application>
  <PresentationFormat>On-screen Show (16:9)</PresentationFormat>
  <Paragraphs>393</Paragraphs>
  <Slides>32</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Bookman Old Style</vt:lpstr>
      <vt:lpstr>Calibri</vt:lpstr>
      <vt:lpstr>Cambria</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 — Foundations: The Web, HTML &amp; CSS for the Newsroom</dc:title>
  <dc:subject>PptxGenJS Presentation</dc:subject>
  <dc:creator>Course Instructor</dc:creator>
  <cp:lastModifiedBy>Richard Hackett</cp:lastModifiedBy>
  <cp:revision>4</cp:revision>
  <dcterms:created xsi:type="dcterms:W3CDTF">2026-07-07T20:57:02Z</dcterms:created>
  <dcterms:modified xsi:type="dcterms:W3CDTF">2026-07-08T20:04:15Z</dcterms:modified>
</cp:coreProperties>
</file>